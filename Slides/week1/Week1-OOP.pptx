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62"/>
  </p:notesMasterIdLst>
  <p:sldIdLst>
    <p:sldId id="292" r:id="rId2"/>
    <p:sldId id="293" r:id="rId3"/>
    <p:sldId id="294" r:id="rId4"/>
    <p:sldId id="375" r:id="rId5"/>
    <p:sldId id="377" r:id="rId6"/>
    <p:sldId id="295" r:id="rId7"/>
    <p:sldId id="296" r:id="rId8"/>
    <p:sldId id="381" r:id="rId9"/>
    <p:sldId id="297" r:id="rId10"/>
    <p:sldId id="378" r:id="rId11"/>
    <p:sldId id="376" r:id="rId12"/>
    <p:sldId id="298" r:id="rId13"/>
    <p:sldId id="299" r:id="rId14"/>
    <p:sldId id="300" r:id="rId15"/>
    <p:sldId id="301" r:id="rId16"/>
    <p:sldId id="311" r:id="rId17"/>
    <p:sldId id="312" r:id="rId18"/>
    <p:sldId id="313" r:id="rId19"/>
    <p:sldId id="315" r:id="rId20"/>
    <p:sldId id="314" r:id="rId21"/>
    <p:sldId id="316" r:id="rId22"/>
    <p:sldId id="320" r:id="rId23"/>
    <p:sldId id="331" r:id="rId24"/>
    <p:sldId id="332" r:id="rId25"/>
    <p:sldId id="321" r:id="rId26"/>
    <p:sldId id="322" r:id="rId27"/>
    <p:sldId id="338" r:id="rId28"/>
    <p:sldId id="337" r:id="rId29"/>
    <p:sldId id="333" r:id="rId30"/>
    <p:sldId id="336" r:id="rId31"/>
    <p:sldId id="323" r:id="rId32"/>
    <p:sldId id="339" r:id="rId33"/>
    <p:sldId id="324" r:id="rId34"/>
    <p:sldId id="340" r:id="rId35"/>
    <p:sldId id="328" r:id="rId36"/>
    <p:sldId id="342" r:id="rId37"/>
    <p:sldId id="356" r:id="rId38"/>
    <p:sldId id="329" r:id="rId39"/>
    <p:sldId id="345" r:id="rId40"/>
    <p:sldId id="343" r:id="rId41"/>
    <p:sldId id="344" r:id="rId42"/>
    <p:sldId id="348" r:id="rId43"/>
    <p:sldId id="353" r:id="rId44"/>
    <p:sldId id="354" r:id="rId45"/>
    <p:sldId id="334" r:id="rId46"/>
    <p:sldId id="346" r:id="rId47"/>
    <p:sldId id="364" r:id="rId48"/>
    <p:sldId id="365" r:id="rId49"/>
    <p:sldId id="349" r:id="rId50"/>
    <p:sldId id="352" r:id="rId51"/>
    <p:sldId id="335" r:id="rId52"/>
    <p:sldId id="350" r:id="rId53"/>
    <p:sldId id="355" r:id="rId54"/>
    <p:sldId id="357" r:id="rId55"/>
    <p:sldId id="358" r:id="rId56"/>
    <p:sldId id="326" r:id="rId57"/>
    <p:sldId id="359" r:id="rId58"/>
    <p:sldId id="360" r:id="rId59"/>
    <p:sldId id="366" r:id="rId60"/>
    <p:sldId id="368" r:id="rId61"/>
  </p:sldIdLst>
  <p:sldSz cx="9144000" cy="5143500" type="screen16x9"/>
  <p:notesSz cx="6858000" cy="9144000"/>
  <p:embeddedFontLst>
    <p:embeddedFont>
      <p:font typeface="Consolas" panose="020B0609020204030204" pitchFamily="49" charset="0"/>
      <p:regular r:id="rId63"/>
      <p:bold r:id="rId64"/>
      <p:italic r:id="rId65"/>
      <p:boldItalic r:id="rId66"/>
    </p:embeddedFont>
    <p:embeddedFont>
      <p:font typeface="Roboto" panose="02000000000000000000"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0890"/>
  </p:normalViewPr>
  <p:slideViewPr>
    <p:cSldViewPr snapToGrid="0">
      <p:cViewPr varScale="1">
        <p:scale>
          <a:sx n="149" d="100"/>
          <a:sy n="149" d="100"/>
        </p:scale>
        <p:origin x="116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This should be the end for lecture 1</a:t>
            </a:r>
          </a:p>
          <a:p>
            <a:pPr>
              <a:buNone/>
            </a:pPr>
            <a:endParaRPr lang="en-US" dirty="0"/>
          </a:p>
          <a:p>
            <a:pPr>
              <a:buNone/>
            </a:pPr>
            <a:r>
              <a:rPr lang="en-US" dirty="0"/>
              <a:t>Section transition — take 30 seconds here. Remind students we just built the Dog class. Now ask: what if we wanted a </a:t>
            </a:r>
            <a:r>
              <a:rPr lang="en-US" dirty="0" err="1"/>
              <a:t>GoldenRetriever</a:t>
            </a:r>
            <a:r>
              <a:rPr lang="en-US" dirty="0"/>
              <a:t> that does everything a Dog does plus more? That question is exactly what inheritance solves.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Bridge from the Dog class we just wrote. Emphasize that real systems have thousands of classes, and without inheritance and packages the code becomes unmaintainable. Don't rush this slide — the motivation matters more than the mechanics.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Draw the hierarchy on the board as you go. Walk up the chain: a </a:t>
            </a:r>
            <a:r>
              <a:rPr lang="en-US" dirty="0" err="1"/>
              <a:t>GoldenRetriever's</a:t>
            </a:r>
            <a:r>
              <a:rPr lang="en-US" dirty="0"/>
              <a:t> total fields are name and age (from Animal), breed (from Dog), and </a:t>
            </a:r>
            <a:r>
              <a:rPr lang="en-US" dirty="0" err="1"/>
              <a:t>isFriendly</a:t>
            </a:r>
            <a:r>
              <a:rPr lang="en-US" dirty="0"/>
              <a:t> (its own). Stress that constructors are </a:t>
            </a:r>
            <a:r>
              <a:rPr lang="en-US" dirty="0" err="1"/>
              <a:t>NOTinherited</a:t>
            </a:r>
            <a:r>
              <a:rPr lang="en-US" dirty="0"/>
              <a:t> — you call super() to reuse the parent's constructor.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Without super </a:t>
            </a:r>
            <a:r>
              <a:rPr lang="en-US" sz="1100" b="0" dirty="0">
                <a:solidFill>
                  <a:srgbClr val="334155"/>
                </a:solidFill>
                <a:latin typeface="Roboto"/>
              </a:rPr>
              <a:t>every subclass would have to rewrite every constructor from scratch</a:t>
            </a:r>
            <a:endParaRPr lang="en-US" dirty="0"/>
          </a:p>
        </p:txBody>
      </p:sp>
    </p:spTree>
    <p:extLst>
      <p:ext uri="{BB962C8B-B14F-4D97-AF65-F5344CB8AC3E}">
        <p14:creationId xmlns:p14="http://schemas.microsoft.com/office/powerpoint/2010/main" val="524096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Walk students through each panel left to right. Animal is the base — plain fields, plain constructor. Dog extends it: the first line of Dog's constructor is super(name, age) which calls Animal's constructor to set those private fields. GoldenRetriever does the same — super() calls Dog's constructor, which in turn calls Animal's. The bottom callout is the payoff: ask students how many fields a GoldenRetriever has. They might guess two. The answer is four — the whole chain contributes. This is the moment inheritance becomes concrete rather than abstract.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Point out that even our Dog class implicitly extends Object, even though we never wrote 'extends'. That's why every object already has toString(), equals(), and hashCode(). Remind them Java allows only single inheritance — exactly one direct parent per class.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Live-code this one if you can. Print a Dog before overriding toString() to show the Dog@3764951d garbage output, then add the @Override version and print again. The contrast makes the point far better than any slide.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This is the hardest concept in the section — give it time. Walk through dynamic dispatch slowly: the variable type is checked at compile time, but the actual object's method runs at runtime. Tie it back to inheritance, the tree, and overriding — polymorphism is the payoff.</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This slide exists solely to show students where speak() comes from before the polymorphism slide uses it. Without this, the next slide's code calls a method that appeared from nowhere. Walk through each panel quickly — 90 seconds max. The key observation is that all three classes have speak(), but they each do something different. Ask: what do you think happens when we store a Dog inside an Animal variable and call speak()? Let them guess before flipping to the next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Section transition. Ask students: we just wrote the Dog class — where does that file live? What if we had 50 classes? How do we find anything? That organizational problem is exactly what packages solve.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Use the file explorer analogy — packages are like folders on your computer. You can have two files both named 'resume.pdf' as long as they are in different folders. Same idea. Ask: can you think of a real Java package you have already used? Lead them to </a:t>
            </a:r>
            <a:r>
              <a:rPr lang="en-US" dirty="0" err="1"/>
              <a:t>java.util</a:t>
            </a:r>
            <a:r>
              <a:rPr lang="en-US" dirty="0"/>
              <a:t> or </a:t>
            </a:r>
            <a:r>
              <a:rPr lang="en-US" dirty="0" err="1"/>
              <a:t>java.lang</a:t>
            </a:r>
            <a:r>
              <a:rPr lang="en-US" dirty="0"/>
              <a:t>.</a:t>
            </a:r>
          </a:p>
          <a:p>
            <a:pPr>
              <a:buNone/>
            </a:pPr>
            <a:r>
              <a:rPr lang="en-US" dirty="0"/>
              <a:t>Packages are how we import and use code elsewhere in our code base. We saw this whenever we import java libraries or using python pip to import math or whatnot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Live-code this. Create an animals/ folder, drop Dog.java in it with the package declaration, then write Main.java in a separate folder and import it. Show the compile-time error when the import is missing — then fix it. The wildcard vs specific import debate is worth 30 seconds: in industry, explicit imports are almost always preferred because they document exactly what your class depends 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Section transition. Ask students: has anyone ever seen their program crash with a red error message? That is an unhandled exception. This section teaches you how to see them coming — and what to do when they arrive.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All programs and data are held in memory</a:t>
            </a:r>
          </a:p>
          <a:p>
            <a:pPr lvl="1">
              <a:lnSpc>
                <a:spcPct val="114999"/>
              </a:lnSpc>
            </a:pPr>
            <a:r>
              <a:rPr lang="en-US"/>
              <a:t>At the most basic level memory consists of contiguous sequences of addressable </a:t>
            </a:r>
            <a:r>
              <a:rPr lang="en-US" i="1"/>
              <a:t>words</a:t>
            </a:r>
          </a:p>
          <a:p>
            <a:pPr lvl="2">
              <a:lnSpc>
                <a:spcPct val="114999"/>
              </a:lnSpc>
            </a:pPr>
            <a:r>
              <a:rPr lang="en-US" b="1"/>
              <a:t>Contiguous: </a:t>
            </a:r>
            <a:r>
              <a:rPr lang="en-US"/>
              <a:t>to share a common border</a:t>
            </a:r>
            <a:r>
              <a:rPr lang="en-US" b="1"/>
              <a:t> </a:t>
            </a:r>
          </a:p>
          <a:p>
            <a:pPr>
              <a:lnSpc>
                <a:spcPct val="114999"/>
              </a:lnSpc>
            </a:pPr>
            <a:r>
              <a:rPr lang="en-US"/>
              <a:t>When we assign a variable, it corresponds to a specific region of memory</a:t>
            </a:r>
          </a:p>
          <a:p>
            <a:pPr lvl="1">
              <a:lnSpc>
                <a:spcPct val="114999"/>
              </a:lnSpc>
            </a:pPr>
            <a:r>
              <a:rPr lang="en-US"/>
              <a:t>When we reference this variable after assignment, the compiler ensures we use the same memory location</a:t>
            </a:r>
          </a:p>
          <a:p>
            <a:pPr>
              <a:lnSpc>
                <a:spcPct val="114999"/>
              </a:lnSpc>
            </a:pPr>
            <a:r>
              <a:rPr lang="en-US"/>
              <a:t>When we access variables, we can do so in two ways:</a:t>
            </a:r>
          </a:p>
          <a:p>
            <a:pPr lvl="1">
              <a:lnSpc>
                <a:spcPct val="114999"/>
              </a:lnSpc>
            </a:pPr>
            <a:r>
              <a:rPr lang="en-US"/>
              <a:t>Direct Access</a:t>
            </a:r>
          </a:p>
          <a:p>
            <a:pPr lvl="2">
              <a:lnSpc>
                <a:spcPct val="114999"/>
              </a:lnSpc>
            </a:pPr>
            <a:r>
              <a:rPr lang="en-US"/>
              <a:t>Access the variable by name or position in memory</a:t>
            </a:r>
          </a:p>
          <a:p>
            <a:pPr lvl="2">
              <a:lnSpc>
                <a:spcPct val="114999"/>
              </a:lnSpc>
            </a:pPr>
            <a:r>
              <a:rPr lang="en-US"/>
              <a:t>Example: accessing a local variable in a function</a:t>
            </a:r>
          </a:p>
          <a:p>
            <a:pPr lvl="1">
              <a:lnSpc>
                <a:spcPct val="114999"/>
              </a:lnSpc>
            </a:pPr>
            <a:r>
              <a:rPr lang="en-US"/>
              <a:t>Indirect Access</a:t>
            </a:r>
          </a:p>
          <a:p>
            <a:pPr lvl="2">
              <a:lnSpc>
                <a:spcPct val="114999"/>
              </a:lnSpc>
            </a:pPr>
            <a:r>
              <a:rPr lang="en-US"/>
              <a:t>Access the variable through a reference, pointer</a:t>
            </a:r>
          </a:p>
          <a:p>
            <a:pPr lvl="2">
              <a:lnSpc>
                <a:spcPct val="114999"/>
              </a:lnSpc>
            </a:pPr>
            <a:r>
              <a:rPr lang="en-US"/>
              <a:t>Example: accessing a value via a pointer or object reference</a:t>
            </a:r>
          </a:p>
          <a:p>
            <a:endParaRPr lang="en-US"/>
          </a:p>
        </p:txBody>
      </p:sp>
    </p:spTree>
    <p:extLst>
      <p:ext uri="{BB962C8B-B14F-4D97-AF65-F5344CB8AC3E}">
        <p14:creationId xmlns:p14="http://schemas.microsoft.com/office/powerpoint/2010/main" val="138563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a:latin typeface="Calibri"/>
              <a:ea typeface="Calibri"/>
              <a:cs typeface="Calibri"/>
            </a:endParaRPr>
          </a:p>
        </p:txBody>
      </p:sp>
    </p:spTree>
    <p:extLst>
      <p:ext uri="{BB962C8B-B14F-4D97-AF65-F5344CB8AC3E}">
        <p14:creationId xmlns:p14="http://schemas.microsoft.com/office/powerpoint/2010/main" val="1923716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87851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a:t>Prompt students on what </a:t>
            </a:r>
          </a:p>
          <a:p>
            <a:pPr marL="158750" indent="0">
              <a:buNone/>
            </a:pPr>
            <a:endParaRPr lang="en-US"/>
          </a:p>
          <a:p>
            <a:pPr marL="158750" indent="0">
              <a:buNone/>
            </a:pPr>
            <a:r>
              <a:rPr lang="en-US" err="1"/>
              <a:t>This.xxx</a:t>
            </a:r>
            <a:r>
              <a:rPr lang="en-US"/>
              <a:t> means in our constructor, now go into visualizations</a:t>
            </a:r>
          </a:p>
        </p:txBody>
      </p:sp>
    </p:spTree>
    <p:extLst>
      <p:ext uri="{BB962C8B-B14F-4D97-AF65-F5344CB8AC3E}">
        <p14:creationId xmlns:p14="http://schemas.microsoft.com/office/powerpoint/2010/main" val="3035583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a:t>This is the single most common object-comparison bug beginners hit, so slow down here. Start with the code card. We make two Dog objects, a and b, with the exact same data — "Rex" the Labrador — but with two separate new calls, so they live at two different addresses in memory. Then c = a creates an alias: c is just a second name for the very same object a points to. Now walk the three comparisons. a == b is false: == compares references (the memory addresses), and a and b are different objects even though their contents match. a == c is true: c holds the same reference as a, so they are literally the same object. Then the surprise: a.equals(b) is also false. Students expect equals() to compare content, but the default equals() inherited from Object does exactly what == does — it checks identity. That is the whole point of the left and right cards: == is reference equality, and .equals() is value equality only once you override it. Land the green payoff: if we override equals() in the Dog class to compare name and breed, then a.equals(b) finally becomes true, because now two dogs with the same data count as equal. Preview that this is exactly why String.equals() works the way they expect — the String class already overrode equals() for them.</a:t>
            </a:r>
          </a:p>
        </p:txBody>
      </p:sp>
    </p:spTree>
    <p:extLst>
      <p:ext uri="{BB962C8B-B14F-4D97-AF65-F5344CB8AC3E}">
        <p14:creationId xmlns:p14="http://schemas.microsoft.com/office/powerpoint/2010/main" val="4190636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An algorithm typically comes into the picture during the </a:t>
            </a:r>
            <a:r>
              <a:rPr lang="en-US" b="1" dirty="0"/>
              <a:t>design</a:t>
            </a:r>
            <a:r>
              <a:rPr lang="en-US" b="0" dirty="0"/>
              <a:t> phase</a:t>
            </a:r>
          </a:p>
          <a:p>
            <a:pPr lvl="1"/>
            <a:r>
              <a:rPr lang="en-US" b="0" dirty="0"/>
              <a:t>Analize the environment we plan to operate in, find the best solution, planning</a:t>
            </a:r>
          </a:p>
          <a:p>
            <a:pPr lvl="1"/>
            <a:r>
              <a:rPr lang="en-US" b="0" dirty="0"/>
              <a:t>A blueprint</a:t>
            </a:r>
          </a:p>
          <a:p>
            <a:pPr lvl="0"/>
            <a:r>
              <a:rPr lang="en-US" b="0" dirty="0"/>
              <a:t>A program arises in the </a:t>
            </a:r>
            <a:r>
              <a:rPr lang="en-US" b="1" dirty="0"/>
              <a:t>implementation</a:t>
            </a:r>
            <a:r>
              <a:rPr lang="en-US" b="0" dirty="0"/>
              <a:t> phase, in which we are typically writing the code to facilitate the algorithm we developed</a:t>
            </a:r>
          </a:p>
        </p:txBody>
      </p:sp>
    </p:spTree>
    <p:extLst>
      <p:ext uri="{BB962C8B-B14F-4D97-AF65-F5344CB8AC3E}">
        <p14:creationId xmlns:p14="http://schemas.microsoft.com/office/powerpoint/2010/main" val="1350509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Effectiveness</a:t>
            </a:r>
            <a:endParaRPr lang="en-US" b="0" dirty="0"/>
          </a:p>
          <a:p>
            <a:pPr lvl="1"/>
            <a:r>
              <a:rPr lang="en-US" b="0" dirty="0"/>
              <a:t>Limited time</a:t>
            </a:r>
          </a:p>
          <a:p>
            <a:pPr lvl="1"/>
            <a:r>
              <a:rPr lang="en-US" b="0" dirty="0"/>
              <a:t>Limited memory</a:t>
            </a:r>
          </a:p>
          <a:p>
            <a:pPr lvl="0"/>
            <a:r>
              <a:rPr lang="en-US" b="0" dirty="0"/>
              <a:t>Example algorithm</a:t>
            </a:r>
          </a:p>
          <a:p>
            <a:pPr lvl="1"/>
            <a:r>
              <a:rPr lang="en-US" b="0" dirty="0"/>
              <a:t>Making scrambled eggs</a:t>
            </a:r>
          </a:p>
          <a:p>
            <a:pPr lvl="2"/>
            <a:r>
              <a:rPr lang="en-US" b="0" dirty="0"/>
              <a:t>What’s our input</a:t>
            </a:r>
          </a:p>
          <a:p>
            <a:pPr lvl="2"/>
            <a:r>
              <a:rPr lang="en-US" b="0" dirty="0"/>
              <a:t>What’s our output</a:t>
            </a:r>
          </a:p>
          <a:p>
            <a:pPr lvl="2"/>
            <a:r>
              <a:rPr lang="en-US" b="0" dirty="0"/>
              <a:t>We have to follow the instructions: putting the egg in the pan</a:t>
            </a:r>
          </a:p>
          <a:p>
            <a:pPr lvl="2"/>
            <a:r>
              <a:rPr lang="en-US" b="0" dirty="0" err="1"/>
              <a:t>Whats</a:t>
            </a:r>
            <a:r>
              <a:rPr lang="en-US" b="0" dirty="0"/>
              <a:t> our ending condition</a:t>
            </a:r>
          </a:p>
          <a:p>
            <a:pPr lvl="2"/>
            <a:r>
              <a:rPr lang="en-US" b="0" dirty="0" err="1"/>
              <a:t>Whats</a:t>
            </a:r>
            <a:r>
              <a:rPr lang="en-US" b="0" dirty="0"/>
              <a:t> our </a:t>
            </a:r>
            <a:r>
              <a:rPr lang="en-US" b="0" dirty="0" err="1"/>
              <a:t>effectivenes</a:t>
            </a:r>
            <a:endParaRPr lang="en-US" b="0" dirty="0"/>
          </a:p>
        </p:txBody>
      </p:sp>
    </p:spTree>
    <p:extLst>
      <p:ext uri="{BB962C8B-B14F-4D97-AF65-F5344CB8AC3E}">
        <p14:creationId xmlns:p14="http://schemas.microsoft.com/office/powerpoint/2010/main" val="231489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1</a:t>
            </a:r>
          </a:p>
          <a:p>
            <a:pPr marL="158750" indent="0">
              <a:buNone/>
            </a:pPr>
            <a:r>
              <a:rPr lang="en-US" dirty="0"/>
              <a:t>Higher</a:t>
            </a:r>
          </a:p>
          <a:p>
            <a:pPr marL="158750" indent="0">
              <a:buNone/>
            </a:pPr>
            <a:r>
              <a:rPr lang="en-US" dirty="0"/>
              <a:t>2</a:t>
            </a:r>
          </a:p>
          <a:p>
            <a:pPr marL="158750" indent="0">
              <a:buNone/>
            </a:pPr>
            <a:r>
              <a:rPr lang="en-US" dirty="0"/>
              <a:t>Higher</a:t>
            </a:r>
          </a:p>
          <a:p>
            <a:pPr marL="158750" indent="0">
              <a:buNone/>
            </a:pPr>
            <a:r>
              <a:rPr lang="en-US" dirty="0"/>
              <a:t>3</a:t>
            </a:r>
          </a:p>
          <a:p>
            <a:pPr marL="158750" indent="0">
              <a:buNone/>
            </a:pPr>
            <a:r>
              <a:rPr lang="en-US" dirty="0"/>
              <a:t>Higher</a:t>
            </a:r>
          </a:p>
          <a:p>
            <a:pPr marL="158750" indent="0">
              <a:buNone/>
            </a:pPr>
            <a:endParaRPr lang="en-US" dirty="0"/>
          </a:p>
          <a:p>
            <a:pPr marL="158750" indent="0">
              <a:buNone/>
            </a:pPr>
            <a:r>
              <a:rPr lang="en-US" dirty="0"/>
              <a:t>Sequential search</a:t>
            </a:r>
          </a:p>
          <a:p>
            <a:pPr marL="158750" indent="0">
              <a:buNone/>
            </a:pPr>
            <a:endParaRPr lang="en-US" dirty="0"/>
          </a:p>
          <a:p>
            <a:pPr marL="158750" indent="0">
              <a:buNone/>
            </a:pPr>
            <a:r>
              <a:rPr lang="en-US" dirty="0"/>
              <a:t>When we talk algorithms and what makes an algorithm good, we are typically concerned about efficiency</a:t>
            </a:r>
          </a:p>
        </p:txBody>
      </p:sp>
    </p:spTree>
    <p:extLst>
      <p:ext uri="{BB962C8B-B14F-4D97-AF65-F5344CB8AC3E}">
        <p14:creationId xmlns:p14="http://schemas.microsoft.com/office/powerpoint/2010/main" val="3623111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br>
              <a:rPr lang="en-US" dirty="0"/>
            </a:br>
            <a:endParaRPr lang="en-US" dirty="0"/>
          </a:p>
        </p:txBody>
      </p:sp>
    </p:spTree>
    <p:extLst>
      <p:ext uri="{BB962C8B-B14F-4D97-AF65-F5344CB8AC3E}">
        <p14:creationId xmlns:p14="http://schemas.microsoft.com/office/powerpoint/2010/main" val="1334253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Pacemaker</a:t>
            </a:r>
          </a:p>
          <a:p>
            <a:r>
              <a:rPr lang="en-US" dirty="0"/>
              <a:t>Environments with limited compute</a:t>
            </a:r>
            <a:br>
              <a:rPr lang="en-US" dirty="0"/>
            </a:br>
            <a:endParaRPr lang="en-US" dirty="0"/>
          </a:p>
          <a:p>
            <a:r>
              <a:rPr lang="en-US" dirty="0"/>
              <a:t>The Nasa Space shuttle used the Apollo Guidance Computer </a:t>
            </a:r>
          </a:p>
          <a:p>
            <a:pPr lvl="1"/>
            <a:r>
              <a:rPr lang="en-US" dirty="0"/>
              <a:t>Ran using 2,048 words of erasable memory, equivalent to about 4 kilobytes of ram</a:t>
            </a:r>
          </a:p>
          <a:p>
            <a:pPr lvl="1"/>
            <a:r>
              <a:rPr lang="en-US" dirty="0"/>
              <a:t>The majority of it’s software was actually made using core rope memory, where wires were physically woven through and around small magnetic cores</a:t>
            </a:r>
          </a:p>
          <a:p>
            <a:pPr lvl="2"/>
            <a:r>
              <a:rPr lang="en-US" dirty="0"/>
              <a:t>The pattern represented zero’s and ones</a:t>
            </a:r>
          </a:p>
          <a:p>
            <a:pPr lvl="2"/>
            <a:r>
              <a:rPr lang="en-US" dirty="0"/>
              <a:t>This whole process included an extra 72KB of data</a:t>
            </a:r>
          </a:p>
          <a:p>
            <a:endParaRPr lang="en-US" dirty="0"/>
          </a:p>
        </p:txBody>
      </p:sp>
    </p:spTree>
    <p:extLst>
      <p:ext uri="{BB962C8B-B14F-4D97-AF65-F5344CB8AC3E}">
        <p14:creationId xmlns:p14="http://schemas.microsoft.com/office/powerpoint/2010/main" val="1118577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dirty="0"/>
          </a:p>
          <a:p>
            <a:pPr lvl="0"/>
            <a:endParaRPr lang="en-US" dirty="0"/>
          </a:p>
          <a:p>
            <a:pPr lvl="0"/>
            <a:r>
              <a:rPr lang="en-US" dirty="0"/>
              <a:t>Run the same program 1000 times, find the average time it takes to run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0" dirty="0"/>
              <a:t>The program with the shorter execution time is clearly the best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b="0"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0" dirty="0"/>
              <a:t>This can happen due to</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CPU speed</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Available RAM</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Storage Speed</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Peripheral interactions</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The list goes on</a:t>
            </a:r>
          </a:p>
        </p:txBody>
      </p:sp>
    </p:spTree>
    <p:extLst>
      <p:ext uri="{BB962C8B-B14F-4D97-AF65-F5344CB8AC3E}">
        <p14:creationId xmlns:p14="http://schemas.microsoft.com/office/powerpoint/2010/main" val="1663726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Walk through java code to create a random number, increment by 1, terminate when we guess correct</a:t>
            </a:r>
          </a:p>
          <a:p>
            <a:endParaRPr lang="en-US" dirty="0"/>
          </a:p>
          <a:p>
            <a:r>
              <a:rPr lang="en-US" dirty="0"/>
              <a:t>Walk through the code with students, identify characteristics of an algorithm </a:t>
            </a:r>
          </a:p>
          <a:p>
            <a:pPr lvl="1"/>
            <a:r>
              <a:rPr lang="en-US" dirty="0"/>
              <a:t>Input</a:t>
            </a:r>
          </a:p>
          <a:p>
            <a:pPr lvl="2"/>
            <a:r>
              <a:rPr lang="en-US" dirty="0"/>
              <a:t>The random number</a:t>
            </a:r>
          </a:p>
          <a:p>
            <a:pPr lvl="1"/>
            <a:r>
              <a:rPr lang="en-US" dirty="0"/>
              <a:t>Output</a:t>
            </a:r>
          </a:p>
          <a:p>
            <a:pPr lvl="2"/>
            <a:r>
              <a:rPr lang="en-US" dirty="0"/>
              <a:t>Higher, lower, correct or not correct</a:t>
            </a:r>
          </a:p>
          <a:p>
            <a:pPr lvl="1"/>
            <a:r>
              <a:rPr lang="en-US" dirty="0"/>
              <a:t>No ambiguity </a:t>
            </a:r>
          </a:p>
          <a:p>
            <a:pPr lvl="1"/>
            <a:r>
              <a:rPr lang="en-US" dirty="0"/>
              <a:t>Finite</a:t>
            </a:r>
          </a:p>
          <a:p>
            <a:pPr lvl="1"/>
            <a:r>
              <a:rPr lang="en-US" dirty="0"/>
              <a:t>Effectiveness</a:t>
            </a:r>
          </a:p>
          <a:p>
            <a:pPr lvl="1"/>
            <a:endParaRPr lang="en-US" dirty="0"/>
          </a:p>
          <a:p>
            <a:pPr lvl="2"/>
            <a:r>
              <a:rPr lang="en-US" dirty="0"/>
              <a:t>What determines how long our program runs for in this case?</a:t>
            </a:r>
          </a:p>
          <a:p>
            <a:pPr lvl="1"/>
            <a:endParaRPr lang="en-US" dirty="0"/>
          </a:p>
          <a:p>
            <a:pPr lvl="0"/>
            <a:r>
              <a:rPr lang="en-US" b="1" dirty="0"/>
              <a:t>Transition</a:t>
            </a:r>
            <a:r>
              <a:rPr lang="en-US" b="0" dirty="0"/>
              <a:t>: let’s work on this idea of effectiveness in programs</a:t>
            </a:r>
            <a:endParaRPr lang="en-US" b="1" dirty="0"/>
          </a:p>
          <a:p>
            <a:pPr lvl="1"/>
            <a:endParaRPr lang="en-US" dirty="0"/>
          </a:p>
        </p:txBody>
      </p:sp>
    </p:spTree>
    <p:extLst>
      <p:ext uri="{BB962C8B-B14F-4D97-AF65-F5344CB8AC3E}">
        <p14:creationId xmlns:p14="http://schemas.microsoft.com/office/powerpoint/2010/main" val="3894166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the same way our infrastructure operates</a:t>
            </a:r>
          </a:p>
          <a:p>
            <a:pPr lvl="1"/>
            <a:r>
              <a:rPr lang="en-US" dirty="0"/>
              <a:t>Pick a fault tolerance that is magnitudes greater than the expected load, then add more</a:t>
            </a:r>
          </a:p>
        </p:txBody>
      </p:sp>
    </p:spTree>
    <p:extLst>
      <p:ext uri="{BB962C8B-B14F-4D97-AF65-F5344CB8AC3E}">
        <p14:creationId xmlns:p14="http://schemas.microsoft.com/office/powerpoint/2010/main" val="1970615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Take a step back and talk about how our number guessing game worked, where I can guess a random value, not following sequential sort</a:t>
            </a:r>
          </a:p>
          <a:p>
            <a:pPr marL="158750" indent="0">
              <a:buNone/>
            </a:pPr>
            <a:endParaRPr lang="en-US" dirty="0"/>
          </a:p>
          <a:p>
            <a:pPr marL="158750" indent="0">
              <a:buNone/>
            </a:pPr>
            <a:r>
              <a:rPr lang="en-US" dirty="0"/>
              <a:t>Walk through each of these with students, don’t get to the idea of worst case being the best yet</a:t>
            </a:r>
          </a:p>
        </p:txBody>
      </p:sp>
    </p:spTree>
    <p:extLst>
      <p:ext uri="{BB962C8B-B14F-4D97-AF65-F5344CB8AC3E}">
        <p14:creationId xmlns:p14="http://schemas.microsoft.com/office/powerpoint/2010/main" val="135549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3398180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 Remember – Higher/lower based on our guess</a:t>
            </a:r>
          </a:p>
          <a:p>
            <a:pPr marL="457200" indent="-298450">
              <a:buFontTx/>
              <a:buChar char="-"/>
            </a:pPr>
            <a:r>
              <a:rPr lang="en-US" dirty="0"/>
              <a:t>Vastly large number </a:t>
            </a:r>
            <a:r>
              <a:rPr lang="en-US" i="1" dirty="0"/>
              <a:t>could</a:t>
            </a:r>
            <a:r>
              <a:rPr lang="en-US" i="0" dirty="0"/>
              <a:t> </a:t>
            </a:r>
            <a:r>
              <a:rPr lang="en-US" dirty="0"/>
              <a:t>requires vastly large number of steps in the </a:t>
            </a:r>
            <a:r>
              <a:rPr lang="en-US" b="1" dirty="0"/>
              <a:t>worst case</a:t>
            </a:r>
          </a:p>
          <a:p>
            <a:pPr marL="457200" indent="-298450">
              <a:buFontTx/>
              <a:buChar char="-"/>
            </a:pPr>
            <a:endParaRPr lang="en-US" b="1" dirty="0"/>
          </a:p>
          <a:p>
            <a:pPr marL="457200" indent="-298450">
              <a:buFontTx/>
              <a:buChar char="-"/>
            </a:pPr>
            <a:r>
              <a:rPr lang="en-US" b="0" dirty="0"/>
              <a:t>Only when we abstract inputs out can we really understand how they are likely to act under load</a:t>
            </a:r>
          </a:p>
        </p:txBody>
      </p:sp>
    </p:spTree>
    <p:extLst>
      <p:ext uri="{BB962C8B-B14F-4D97-AF65-F5344CB8AC3E}">
        <p14:creationId xmlns:p14="http://schemas.microsoft.com/office/powerpoint/2010/main" val="3164514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0154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DB23-120E-262F-98B4-23B46CAF3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FB9EE-FA36-2A30-7E6A-336BAE9021B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C76D37-6EDB-5F4A-6443-8BF6A5113006}"/>
              </a:ext>
            </a:extLst>
          </p:cNvPr>
          <p:cNvSpPr>
            <a:spLocks noGrp="1"/>
          </p:cNvSpPr>
          <p:nvPr>
            <p:ph type="body" idx="1"/>
          </p:nvPr>
        </p:nvSpPr>
        <p:spPr/>
        <p:txBody>
          <a:bodyPr/>
          <a:lstStyle/>
          <a:p>
            <a:pPr marL="158750" indent="0">
              <a:buNone/>
            </a:pPr>
            <a:r>
              <a:rPr lang="en-US" dirty="0"/>
              <a:t>- Remember – Higher/lower based on our guess</a:t>
            </a:r>
          </a:p>
          <a:p>
            <a:pPr marL="158750" indent="0">
              <a:buNone/>
            </a:pPr>
            <a:r>
              <a:rPr lang="en-US" dirty="0"/>
              <a:t>- Vastly large number </a:t>
            </a:r>
            <a:r>
              <a:rPr lang="en-US" i="1" dirty="0"/>
              <a:t>could</a:t>
            </a:r>
            <a:r>
              <a:rPr lang="en-US" i="0" dirty="0"/>
              <a:t> </a:t>
            </a:r>
            <a:r>
              <a:rPr lang="en-US" dirty="0"/>
              <a:t>requires vastly large number of steps in the </a:t>
            </a:r>
            <a:r>
              <a:rPr lang="en-US" b="1" dirty="0"/>
              <a:t>worst case</a:t>
            </a:r>
            <a:endParaRPr lang="en-US" dirty="0"/>
          </a:p>
        </p:txBody>
      </p:sp>
    </p:spTree>
    <p:extLst>
      <p:ext uri="{BB962C8B-B14F-4D97-AF65-F5344CB8AC3E}">
        <p14:creationId xmlns:p14="http://schemas.microsoft.com/office/powerpoint/2010/main" val="27715579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A5C2-DC77-13B6-01DD-337D9E5D0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B6850-7684-F283-AF67-420F6EC5FA9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85914BA-13D1-6CF7-8201-9E74DE00BF52}"/>
              </a:ext>
            </a:extLst>
          </p:cNvPr>
          <p:cNvSpPr>
            <a:spLocks noGrp="1"/>
          </p:cNvSpPr>
          <p:nvPr>
            <p:ph type="body" idx="1"/>
          </p:nvPr>
        </p:nvSpPr>
        <p:spPr/>
        <p:txBody>
          <a:bodyPr/>
          <a:lstStyle/>
          <a:p>
            <a:r>
              <a:rPr lang="en-US" dirty="0"/>
              <a:t>Primer before diving into bunch more examples</a:t>
            </a:r>
          </a:p>
          <a:p>
            <a:endParaRPr lang="en-US" dirty="0"/>
          </a:p>
          <a:p>
            <a:r>
              <a:rPr lang="en-US" dirty="0"/>
              <a:t>Remind: Ideally, we would like our algorithms to be as close to the top of this order of growth as possible. </a:t>
            </a:r>
            <a:br>
              <a:rPr lang="en-US" dirty="0"/>
            </a:br>
            <a:endParaRPr lang="en-US" dirty="0"/>
          </a:p>
          <a:p>
            <a:r>
              <a:rPr lang="en-US" dirty="0"/>
              <a:t>We have looked over a couple examples</a:t>
            </a:r>
          </a:p>
          <a:p>
            <a:pPr lvl="1"/>
            <a:r>
              <a:rPr lang="en-US" dirty="0"/>
              <a:t>Now let’s fill in the gaps</a:t>
            </a:r>
          </a:p>
        </p:txBody>
      </p:sp>
    </p:spTree>
    <p:extLst>
      <p:ext uri="{BB962C8B-B14F-4D97-AF65-F5344CB8AC3E}">
        <p14:creationId xmlns:p14="http://schemas.microsoft.com/office/powerpoint/2010/main" val="36650869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Walk students through why our sequential search is O(N)</a:t>
            </a:r>
          </a:p>
          <a:p>
            <a:pPr lvl="1"/>
            <a:r>
              <a:rPr lang="en-US" dirty="0"/>
              <a:t>The amount of work is some constant times the size of the problem</a:t>
            </a:r>
          </a:p>
          <a:p>
            <a:pPr lvl="2"/>
            <a:r>
              <a:rPr lang="en-US" dirty="0"/>
              <a:t>Algorithms that work through all the data to arrive at a conclusion</a:t>
            </a:r>
          </a:p>
          <a:p>
            <a:endParaRPr lang="en-US" dirty="0"/>
          </a:p>
          <a:p>
            <a:endParaRPr lang="en-US" dirty="0"/>
          </a:p>
          <a:p>
            <a:r>
              <a:rPr lang="en-US" dirty="0"/>
              <a:t>Snippet:</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Algorithms typically involve applying a linear algorithm </a:t>
            </a:r>
            <a:r>
              <a:rPr lang="en-US" i="1" dirty="0"/>
              <a:t>N </a:t>
            </a:r>
            <a:r>
              <a:rPr lang="en-US" dirty="0"/>
              <a:t>times</a:t>
            </a:r>
            <a:br>
              <a:rPr lang="en-US" dirty="0"/>
            </a:br>
            <a:br>
              <a:rPr lang="en-US" dirty="0"/>
            </a:br>
            <a:br>
              <a:rPr lang="en-US" dirty="0"/>
            </a:br>
            <a:endParaRPr lang="en-US" dirty="0"/>
          </a:p>
        </p:txBody>
      </p:sp>
    </p:spTree>
    <p:extLst>
      <p:ext uri="{BB962C8B-B14F-4D97-AF65-F5344CB8AC3E}">
        <p14:creationId xmlns:p14="http://schemas.microsoft.com/office/powerpoint/2010/main" val="31528003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Primer before diving into bunch more examples</a:t>
            </a:r>
          </a:p>
          <a:p>
            <a:endParaRPr lang="en-US" dirty="0"/>
          </a:p>
          <a:p>
            <a:r>
              <a:rPr lang="en-US" dirty="0"/>
              <a:t>Remind: Ideally, we would like our algorithms to be as close to the top of this order of growth as possible. </a:t>
            </a:r>
            <a:br>
              <a:rPr lang="en-US" dirty="0"/>
            </a:br>
            <a:endParaRPr lang="en-US" dirty="0"/>
          </a:p>
          <a:p>
            <a:r>
              <a:rPr lang="en-US" dirty="0"/>
              <a:t>We have looked over a couple examples</a:t>
            </a:r>
          </a:p>
          <a:p>
            <a:pPr lvl="1"/>
            <a:r>
              <a:rPr lang="en-US" dirty="0"/>
              <a:t>Now let’s fill in the gaps</a:t>
            </a:r>
          </a:p>
        </p:txBody>
      </p:sp>
    </p:spTree>
    <p:extLst>
      <p:ext uri="{BB962C8B-B14F-4D97-AF65-F5344CB8AC3E}">
        <p14:creationId xmlns:p14="http://schemas.microsoft.com/office/powerpoint/2010/main" val="2597020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slide</a:t>
            </a:r>
          </a:p>
        </p:txBody>
      </p:sp>
    </p:spTree>
    <p:extLst>
      <p:ext uri="{BB962C8B-B14F-4D97-AF65-F5344CB8AC3E}">
        <p14:creationId xmlns:p14="http://schemas.microsoft.com/office/powerpoint/2010/main" val="10847384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We change the way we guess</a:t>
            </a:r>
          </a:p>
          <a:p>
            <a:pPr marL="158750" indent="0">
              <a:buNone/>
            </a:pPr>
            <a:endParaRPr lang="en-US" dirty="0"/>
          </a:p>
          <a:p>
            <a:pPr marL="158750" indent="0">
              <a:buNone/>
            </a:pPr>
            <a:r>
              <a:rPr lang="en-US" dirty="0"/>
              <a:t>N=9</a:t>
            </a:r>
            <a:br>
              <a:rPr lang="en-US" dirty="0"/>
            </a:br>
            <a:br>
              <a:rPr lang="en-US" dirty="0"/>
            </a:br>
            <a:r>
              <a:rPr lang="en-US" dirty="0"/>
              <a:t>0,1,2,3,4,5,6,7,8,9</a:t>
            </a:r>
            <a:br>
              <a:rPr lang="en-US" dirty="0"/>
            </a:br>
            <a:br>
              <a:rPr lang="en-US" dirty="0"/>
            </a:br>
            <a:r>
              <a:rPr lang="en-US" dirty="0"/>
              <a:t>10/2 = 5</a:t>
            </a:r>
            <a:br>
              <a:rPr lang="en-US" dirty="0"/>
            </a:br>
            <a:br>
              <a:rPr lang="en-US" dirty="0"/>
            </a:br>
            <a:r>
              <a:rPr lang="en-US" dirty="0"/>
              <a:t>- higher, split and focus on right, repeat</a:t>
            </a:r>
          </a:p>
        </p:txBody>
      </p:sp>
    </p:spTree>
    <p:extLst>
      <p:ext uri="{BB962C8B-B14F-4D97-AF65-F5344CB8AC3E}">
        <p14:creationId xmlns:p14="http://schemas.microsoft.com/office/powerpoint/2010/main" val="24853071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Give students 5 minutes then walk through it on the board</a:t>
            </a:r>
          </a:p>
          <a:p>
            <a:endParaRPr lang="en-US" dirty="0"/>
          </a:p>
          <a:p>
            <a:endParaRPr lang="en-US" dirty="0"/>
          </a:p>
          <a:p>
            <a:endParaRPr lang="en-US" dirty="0"/>
          </a:p>
          <a:p>
            <a:r>
              <a:rPr lang="en-US" dirty="0"/>
              <a:t>We can see the solution halves the input each time, it’s no longer completely based on the input size itself, thus it’s logarithmic</a:t>
            </a:r>
          </a:p>
        </p:txBody>
      </p:sp>
    </p:spTree>
    <p:extLst>
      <p:ext uri="{BB962C8B-B14F-4D97-AF65-F5344CB8AC3E}">
        <p14:creationId xmlns:p14="http://schemas.microsoft.com/office/powerpoint/2010/main" val="21210739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8B319-3542-106A-82E2-113DEC6FD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7BDD1-7733-D625-2664-22970F5ADD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2204C30-A055-45B2-7C75-5954BFBA1962}"/>
              </a:ext>
            </a:extLst>
          </p:cNvPr>
          <p:cNvSpPr>
            <a:spLocks noGrp="1"/>
          </p:cNvSpPr>
          <p:nvPr>
            <p:ph type="body" idx="1"/>
          </p:nvPr>
        </p:nvSpPr>
        <p:spPr/>
        <p:txBody>
          <a:bodyPr/>
          <a:lstStyle/>
          <a:p>
            <a:r>
              <a:rPr lang="en-US" dirty="0"/>
              <a:t>Primer before diving into bunch more examples</a:t>
            </a:r>
          </a:p>
          <a:p>
            <a:endParaRPr lang="en-US" dirty="0"/>
          </a:p>
          <a:p>
            <a:r>
              <a:rPr lang="en-US" dirty="0"/>
              <a:t>Remind: Ideally, we would like our algorithms to be as close to the top of this order of growth as possible. </a:t>
            </a:r>
            <a:br>
              <a:rPr lang="en-US" dirty="0"/>
            </a:br>
            <a:endParaRPr lang="en-US" dirty="0"/>
          </a:p>
          <a:p>
            <a:r>
              <a:rPr lang="en-US" dirty="0"/>
              <a:t>We have looked over a couple examples</a:t>
            </a:r>
          </a:p>
          <a:p>
            <a:pPr lvl="1"/>
            <a:r>
              <a:rPr lang="en-US" dirty="0"/>
              <a:t>Now let’s fill in the gaps</a:t>
            </a:r>
          </a:p>
        </p:txBody>
      </p:sp>
    </p:spTree>
    <p:extLst>
      <p:ext uri="{BB962C8B-B14F-4D97-AF65-F5344CB8AC3E}">
        <p14:creationId xmlns:p14="http://schemas.microsoft.com/office/powerpoint/2010/main" val="17408199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Draw out a simple for loop with a bounded range </a:t>
            </a:r>
            <a:r>
              <a:rPr lang="en-US" dirty="0" err="1"/>
              <a:t>i</a:t>
            </a:r>
            <a:r>
              <a:rPr lang="en-US" dirty="0"/>
              <a:t>&lt;10</a:t>
            </a:r>
          </a:p>
          <a:p>
            <a:r>
              <a:rPr lang="en-US" dirty="0"/>
              <a:t>Recursion functions aim to solve problems by breaking them down into smaller subproblems, which inherently changes their time complexity.</a:t>
            </a:r>
          </a:p>
        </p:txBody>
      </p:sp>
    </p:spTree>
    <p:extLst>
      <p:ext uri="{BB962C8B-B14F-4D97-AF65-F5344CB8AC3E}">
        <p14:creationId xmlns:p14="http://schemas.microsoft.com/office/powerpoint/2010/main" val="21887012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Write the binary sort solution</a:t>
            </a:r>
          </a:p>
        </p:txBody>
      </p:sp>
    </p:spTree>
    <p:extLst>
      <p:ext uri="{BB962C8B-B14F-4D97-AF65-F5344CB8AC3E}">
        <p14:creationId xmlns:p14="http://schemas.microsoft.com/office/powerpoint/2010/main" val="39296504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691704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another example, we have talked about logarithmic examples with a base of 2</a:t>
            </a:r>
          </a:p>
          <a:p>
            <a:r>
              <a:rPr lang="en-US" dirty="0"/>
              <a:t>Logarithmic can include any method of cutting our operational steps down by a constant factor</a:t>
            </a:r>
          </a:p>
          <a:p>
            <a:endParaRPr lang="en-US" dirty="0"/>
          </a:p>
          <a:p>
            <a:endParaRPr lang="en-US" dirty="0"/>
          </a:p>
          <a:p>
            <a:endParaRPr lang="en-US" dirty="0"/>
          </a:p>
          <a:p>
            <a:endParaRPr lang="en-US" dirty="0"/>
          </a:p>
          <a:p>
            <a:endParaRPr lang="en-US" dirty="0"/>
          </a:p>
          <a:p>
            <a:endParaRPr lang="en-US" dirty="0"/>
          </a:p>
          <a:p>
            <a:r>
              <a:rPr lang="en-US" dirty="0"/>
              <a:t>Even through our input is N -&gt; 100, the program only runs 3 times</a:t>
            </a:r>
          </a:p>
          <a:p>
            <a:endParaRPr lang="en-US" dirty="0"/>
          </a:p>
          <a:p>
            <a:r>
              <a:rPr lang="en-US" dirty="0"/>
              <a:t>% to get the last number </a:t>
            </a:r>
            <a:br>
              <a:rPr lang="en-US" dirty="0"/>
            </a:br>
            <a:r>
              <a:rPr lang="en-US" dirty="0"/>
              <a:t>/ to drop it</a:t>
            </a:r>
          </a:p>
        </p:txBody>
      </p:sp>
    </p:spTree>
    <p:extLst>
      <p:ext uri="{BB962C8B-B14F-4D97-AF65-F5344CB8AC3E}">
        <p14:creationId xmlns:p14="http://schemas.microsoft.com/office/powerpoint/2010/main" val="1764021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32561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1. Find the smallest number</a:t>
            </a:r>
          </a:p>
          <a:p>
            <a:r>
              <a:rPr lang="en-US" dirty="0"/>
              <a:t>2. Swap it into the correct position</a:t>
            </a:r>
          </a:p>
          <a:p>
            <a:r>
              <a:rPr lang="en-US" dirty="0"/>
              <a:t>3. Repeat</a:t>
            </a:r>
            <a:br>
              <a:rPr lang="en-US" dirty="0"/>
            </a:br>
            <a:br>
              <a:rPr lang="en-US" dirty="0"/>
            </a:br>
            <a:br>
              <a:rPr lang="en-US" dirty="0"/>
            </a:br>
            <a:r>
              <a:rPr lang="en-US" dirty="0"/>
              <a:t>Draw out how we walk through the array and swap value</a:t>
            </a:r>
          </a:p>
          <a:p>
            <a:br>
              <a:rPr lang="en-US" dirty="0"/>
            </a:br>
            <a:r>
              <a:rPr lang="en-US" b="1" dirty="0"/>
              <a:t>only after writing the code</a:t>
            </a:r>
            <a:endParaRPr lang="en-US" b="0" dirty="0"/>
          </a:p>
          <a:p>
            <a:endParaRPr lang="en-US" b="0" dirty="0"/>
          </a:p>
          <a:p>
            <a:r>
              <a:rPr lang="en-US" b="0" dirty="0"/>
              <a:t>What is fundamental to this algorithm?</a:t>
            </a:r>
          </a:p>
          <a:p>
            <a:pPr lvl="1"/>
            <a:r>
              <a:rPr lang="en-US" b="0" dirty="0"/>
              <a:t>What is the algorithm that is executed the most, what powers the algorithm</a:t>
            </a:r>
          </a:p>
          <a:p>
            <a:pPr lvl="0"/>
            <a:r>
              <a:rPr lang="en-US" b="0" dirty="0"/>
              <a:t>Each time we go through the loop, we must look at the remaining elements</a:t>
            </a:r>
          </a:p>
          <a:p>
            <a:pPr lvl="1"/>
            <a:r>
              <a:rPr lang="en-US" b="0" dirty="0"/>
              <a:t>We have a </a:t>
            </a:r>
            <a:r>
              <a:rPr lang="en-US" b="1" dirty="0"/>
              <a:t>nested</a:t>
            </a:r>
            <a:r>
              <a:rPr lang="en-US" b="0" dirty="0"/>
              <a:t> loop</a:t>
            </a:r>
            <a:br>
              <a:rPr lang="en-US" b="0" dirty="0"/>
            </a:br>
            <a:endParaRPr lang="en-US" b="0" dirty="0"/>
          </a:p>
          <a:p>
            <a:pPr lvl="0"/>
            <a:r>
              <a:rPr lang="en-US" b="0" dirty="0"/>
              <a:t>Outer loop goes to N</a:t>
            </a:r>
          </a:p>
          <a:p>
            <a:pPr lvl="0"/>
            <a:r>
              <a:rPr lang="en-US" b="0" dirty="0"/>
              <a:t>Inner loop goes to N-1..N-2…N-3</a:t>
            </a:r>
            <a:br>
              <a:rPr lang="en-US" b="0" dirty="0"/>
            </a:br>
            <a:br>
              <a:rPr lang="en-US" b="0" dirty="0"/>
            </a:br>
            <a:br>
              <a:rPr lang="en-US" b="0" dirty="0"/>
            </a:br>
            <a:r>
              <a:rPr lang="en-US" b="0" dirty="0"/>
              <a:t>n * (n-1) – distribute – N2</a:t>
            </a:r>
            <a:br>
              <a:rPr lang="en-US" b="0" dirty="0"/>
            </a:br>
            <a:endParaRPr lang="en-US" b="0" dirty="0"/>
          </a:p>
        </p:txBody>
      </p:sp>
    </p:spTree>
    <p:extLst>
      <p:ext uri="{BB962C8B-B14F-4D97-AF65-F5344CB8AC3E}">
        <p14:creationId xmlns:p14="http://schemas.microsoft.com/office/powerpoint/2010/main" val="11544214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How would we go about solving this?</a:t>
            </a:r>
          </a:p>
          <a:p>
            <a:pPr lvl="1"/>
            <a:r>
              <a:rPr lang="en-US" dirty="0"/>
              <a:t>If we wanted to, we could write a massive tangled web of nested loops that basically goes one by one and says: hey, do I add N to this or not</a:t>
            </a:r>
          </a:p>
          <a:p>
            <a:r>
              <a:rPr lang="en-US" dirty="0"/>
              <a:t>Using recursion, the solution is far more elegant</a:t>
            </a:r>
          </a:p>
          <a:p>
            <a:r>
              <a:rPr lang="en-US" dirty="0"/>
              <a:t>When we think recursively, we say: let's assume I can solve a smaller sized problem</a:t>
            </a:r>
          </a:p>
          <a:p>
            <a:pPr lvl="1"/>
            <a:r>
              <a:rPr lang="en-US" dirty="0"/>
              <a:t>If I want to generate the power set from 1 to N, I can assume it's also possible to generate the power set from 1 to N-1, and so on</a:t>
            </a:r>
          </a:p>
          <a:p>
            <a:pPr lvl="1"/>
            <a:r>
              <a:rPr lang="en-US" dirty="0"/>
              <a:t>If we have this solution, we can solve the bigger problem </a:t>
            </a:r>
          </a:p>
          <a:p>
            <a:r>
              <a:rPr lang="en-US" dirty="0"/>
              <a:t>All of the things that were in that solution to the smaller problem, must be part of the solution to the bigger problem, there all subsets of 1 to n, because their subsets of n-1</a:t>
            </a:r>
          </a:p>
          <a:p>
            <a:pPr lvl="1"/>
            <a:r>
              <a:rPr lang="en-US" dirty="0"/>
              <a:t>Add all those in, then add N to each of the subsets</a:t>
            </a:r>
          </a:p>
          <a:p>
            <a:pPr lvl="1"/>
            <a:r>
              <a:rPr lang="en-US" dirty="0"/>
              <a:t>We have all the ways to find the solution without N, so we just add N in and were good to go</a:t>
            </a:r>
          </a:p>
        </p:txBody>
      </p:sp>
    </p:spTree>
    <p:extLst>
      <p:ext uri="{BB962C8B-B14F-4D97-AF65-F5344CB8AC3E}">
        <p14:creationId xmlns:p14="http://schemas.microsoft.com/office/powerpoint/2010/main" val="3893827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lnSpc>
                <a:spcPct val="114999"/>
              </a:lnSpc>
              <a:buChar char="•"/>
            </a:pPr>
            <a:r>
              <a:rPr lang="en-US">
                <a:solidFill>
                  <a:srgbClr val="434343"/>
                </a:solidFill>
              </a:rPr>
              <a:t>We want to generate the power set of integers from 1 to n</a:t>
            </a:r>
            <a:endParaRPr lang="en-US">
              <a:solidFill>
                <a:srgbClr val="2A3990"/>
              </a:solidFill>
            </a:endParaRPr>
          </a:p>
          <a:p>
            <a:pPr marL="285750" indent="-285750">
              <a:lnSpc>
                <a:spcPct val="114999"/>
              </a:lnSpc>
              <a:buChar char="•"/>
            </a:pPr>
            <a:r>
              <a:rPr lang="en-US">
                <a:solidFill>
                  <a:srgbClr val="434343"/>
                </a:solidFill>
              </a:rPr>
              <a:t>The best solution for this is recursive, we will look at how to program this at a later point, for now it’s enough to assume we can generate the power set of integers from 1 to n-1</a:t>
            </a:r>
            <a:endParaRPr lang="en-US">
              <a:solidFill>
                <a:srgbClr val="2A3990"/>
              </a:solidFill>
            </a:endParaRPr>
          </a:p>
          <a:p>
            <a:pPr marL="285750" indent="-285750">
              <a:lnSpc>
                <a:spcPct val="114999"/>
              </a:lnSpc>
              <a:buChar char="•"/>
            </a:pPr>
            <a:r>
              <a:rPr lang="en-US">
                <a:solidFill>
                  <a:srgbClr val="434343"/>
                </a:solidFill>
              </a:rPr>
              <a:t>We generate the sets excluding N</a:t>
            </a:r>
            <a:endParaRPr lang="en-US">
              <a:solidFill>
                <a:srgbClr val="2A3990"/>
              </a:solidFill>
            </a:endParaRPr>
          </a:p>
          <a:p>
            <a:pPr marL="0" lvl="1" indent="0">
              <a:lnSpc>
                <a:spcPct val="114999"/>
              </a:lnSpc>
              <a:buChar char="•"/>
            </a:pPr>
            <a:r>
              <a:rPr lang="en-US" dirty="0">
                <a:solidFill>
                  <a:srgbClr val="434343"/>
                </a:solidFill>
              </a:rPr>
              <a:t>Remember order doesn’t matter</a:t>
            </a:r>
            <a:endParaRPr lang="en-US" dirty="0"/>
          </a:p>
        </p:txBody>
      </p:sp>
    </p:spTree>
    <p:extLst>
      <p:ext uri="{BB962C8B-B14F-4D97-AF65-F5344CB8AC3E}">
        <p14:creationId xmlns:p14="http://schemas.microsoft.com/office/powerpoint/2010/main" val="17801830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50FC-51A3-44D9-1C02-36944A3FC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95429-EDFF-18B7-3A5A-D05F80CFD9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F39C92-6BA6-0EFA-A96A-1819E288B74B}"/>
              </a:ext>
            </a:extLst>
          </p:cNvPr>
          <p:cNvSpPr>
            <a:spLocks noGrp="1"/>
          </p:cNvSpPr>
          <p:nvPr>
            <p:ph type="body" idx="1"/>
          </p:nvPr>
        </p:nvSpPr>
        <p:spPr/>
        <p:txBody>
          <a:bodyPr/>
          <a:lstStyle/>
          <a:p>
            <a:r>
              <a:rPr lang="en-US"/>
              <a:t>So, as a summary, we have Big 0 Notation</a:t>
            </a:r>
          </a:p>
          <a:p>
            <a:pPr lvl="1"/>
            <a:r>
              <a:rPr lang="en-US"/>
              <a:t>This is the way in which we talk about comparing the efficiency of algorithms</a:t>
            </a:r>
          </a:p>
          <a:p>
            <a:r>
              <a:rPr lang="en-US"/>
              <a:t>We should be able to begin to reason about what is the cost of an algorithm by recognizing the common patterns</a:t>
            </a:r>
          </a:p>
          <a:p>
            <a:r>
              <a:rPr lang="en-US"/>
              <a:t>You should be able to start to work in the opposite direction</a:t>
            </a:r>
          </a:p>
          <a:p>
            <a:pPr lvl="1"/>
            <a:r>
              <a:rPr lang="en-US" dirty="0"/>
              <a:t>Given some algorithm, how do we move up our tree</a:t>
            </a:r>
          </a:p>
          <a:p>
            <a:pPr lvl="2"/>
            <a:r>
              <a:rPr lang="en-US"/>
              <a:t>How do we stay away from exponential algorithms</a:t>
            </a:r>
          </a:p>
          <a:p>
            <a:pPr lvl="3"/>
            <a:r>
              <a:rPr lang="en-US"/>
              <a:t>Not always possible</a:t>
            </a:r>
            <a:endParaRPr lang="en-US" dirty="0"/>
          </a:p>
        </p:txBody>
      </p:sp>
    </p:spTree>
    <p:extLst>
      <p:ext uri="{BB962C8B-B14F-4D97-AF65-F5344CB8AC3E}">
        <p14:creationId xmlns:p14="http://schemas.microsoft.com/office/powerpoint/2010/main" val="1191598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6098378" y="5"/>
            <a:ext cx="3045625" cy="2030570"/>
            <a:chOff x="6098378" y="5"/>
            <a:chExt cx="3045625" cy="2030570"/>
          </a:xfrm>
        </p:grpSpPr>
        <p:sp>
          <p:nvSpPr>
            <p:cNvPr id="56" name="Google Shape;56;p14"/>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4"/>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14"/>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62" name="Google Shape;62;p1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63" name="Google Shape;63;p1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4"/>
        <p:cNvGrpSpPr/>
        <p:nvPr/>
      </p:nvGrpSpPr>
      <p:grpSpPr>
        <a:xfrm>
          <a:off x="0" y="0"/>
          <a:ext cx="0" cy="0"/>
          <a:chOff x="0" y="0"/>
          <a:chExt cx="0" cy="0"/>
        </a:xfrm>
      </p:grpSpPr>
      <p:grpSp>
        <p:nvGrpSpPr>
          <p:cNvPr id="65" name="Google Shape;65;p15"/>
          <p:cNvGrpSpPr/>
          <p:nvPr/>
        </p:nvGrpSpPr>
        <p:grpSpPr>
          <a:xfrm>
            <a:off x="6098378" y="5"/>
            <a:ext cx="3045625" cy="2030570"/>
            <a:chOff x="6098378" y="5"/>
            <a:chExt cx="3045625" cy="2030570"/>
          </a:xfrm>
        </p:grpSpPr>
        <p:sp>
          <p:nvSpPr>
            <p:cNvPr id="66" name="Google Shape;66;p1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15"/>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72" name="Google Shape;72;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grpSp>
        <p:nvGrpSpPr>
          <p:cNvPr id="74" name="Google Shape;74;p16"/>
          <p:cNvGrpSpPr/>
          <p:nvPr/>
        </p:nvGrpSpPr>
        <p:grpSpPr>
          <a:xfrm>
            <a:off x="0" y="3903669"/>
            <a:ext cx="9144000" cy="1239925"/>
            <a:chOff x="0" y="3903669"/>
            <a:chExt cx="9144000" cy="1239925"/>
          </a:xfrm>
        </p:grpSpPr>
        <p:sp>
          <p:nvSpPr>
            <p:cNvPr id="75" name="Google Shape;75;p16"/>
            <p:cNvSpPr/>
            <p:nvPr/>
          </p:nvSpPr>
          <p:spPr>
            <a:xfrm>
              <a:off x="0" y="5039500"/>
              <a:ext cx="305000" cy="104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a:off x="610000" y="5039500"/>
              <a:ext cx="305000" cy="1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a:off x="305000" y="5039500"/>
              <a:ext cx="305000" cy="104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CourseTag"/>
            <p:cNvSpPr txBox="1"/>
            <p:nvPr/>
          </p:nvSpPr>
          <p:spPr>
            <a:xfrm>
              <a:off x="311700" y="4762000"/>
              <a:ext cx="4500000" cy="250000"/>
            </a:xfrm>
            <a:prstGeom prst="rect">
              <a:avLst/>
            </a:prstGeom>
            <a:noFill/>
            <a:ln>
              <a:noFill/>
            </a:ln>
          </p:spPr>
          <p:txBody>
            <a:bodyPr spcFirstLastPara="1" wrap="square" lIns="0" tIns="0" rIns="0" bIns="0" anchor="ctr" anchorCtr="0">
              <a:noAutofit/>
            </a:bodyPr>
            <a:lstStyle/>
            <a:p>
              <a:pPr marL="0" lvl="0" indent="0" algn="l" rtl="0">
                <a:buNone/>
              </a:pPr>
              <a:r>
                <a:rPr lang="en" sz="900" b="1" spc="200">
                  <a:solidFill>
                    <a:schemeClr val="lt2"/>
                  </a:solidFill>
                  <a:latin typeface="Roboto"/>
                </a:rPr>
                <a:t>CSC 226  ·  DATA STRUCTURES</a:t>
              </a:r>
              <a:endParaRPr/>
            </a:p>
          </p:txBody>
        </p:sp>
        <p:sp>
          <p:nvSpPr>
            <p:cNvPr id="79" name="Google Shape;79;p16"/>
            <p:cNvSpPr/>
            <p:nvPr/>
          </p:nvSpPr>
          <p:spPr>
            <a:xfrm>
              <a:off x="915000" y="5039500"/>
              <a:ext cx="8229000" cy="10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1" name="Google Shape;81;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2" name="Google Shape;82;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5" name="Google Shape;85;p17"/>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6" name="Google Shape;86;p17"/>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7" name="Google Shape;87;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 name="Google Shape;90;p1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19"/>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 name="Google Shape;94;p1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5"/>
        <p:cNvGrpSpPr/>
        <p:nvPr/>
      </p:nvGrpSpPr>
      <p:grpSpPr>
        <a:xfrm>
          <a:off x="0" y="0"/>
          <a:ext cx="0" cy="0"/>
          <a:chOff x="0" y="0"/>
          <a:chExt cx="0" cy="0"/>
        </a:xfrm>
      </p:grpSpPr>
      <p:grpSp>
        <p:nvGrpSpPr>
          <p:cNvPr id="96" name="Google Shape;96;p20"/>
          <p:cNvGrpSpPr/>
          <p:nvPr/>
        </p:nvGrpSpPr>
        <p:grpSpPr>
          <a:xfrm>
            <a:off x="6098378" y="5"/>
            <a:ext cx="3045625" cy="2030570"/>
            <a:chOff x="6098378" y="5"/>
            <a:chExt cx="3045625" cy="2030570"/>
          </a:xfrm>
        </p:grpSpPr>
        <p:sp>
          <p:nvSpPr>
            <p:cNvPr id="97" name="Google Shape;97;p20"/>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0"/>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0"/>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0"/>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0"/>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20"/>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03" name="Google Shape;103;p2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sp>
        <p:nvSpPr>
          <p:cNvPr id="105" name="Google Shape;105;p21"/>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07" name="Google Shape;107;p21"/>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08" name="Google Shape;108;p21"/>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9" name="Google Shape;109;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110" name="Google Shape;110;p2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13" name="Google Shape;113;p2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14"/>
        <p:cNvGrpSpPr/>
        <p:nvPr/>
      </p:nvGrpSpPr>
      <p:grpSpPr>
        <a:xfrm>
          <a:off x="0" y="0"/>
          <a:ext cx="0" cy="0"/>
          <a:chOff x="0" y="0"/>
          <a:chExt cx="0" cy="0"/>
        </a:xfrm>
      </p:grpSpPr>
      <p:grpSp>
        <p:nvGrpSpPr>
          <p:cNvPr id="115" name="Google Shape;115;p23"/>
          <p:cNvGrpSpPr/>
          <p:nvPr/>
        </p:nvGrpSpPr>
        <p:grpSpPr>
          <a:xfrm>
            <a:off x="6098378" y="5"/>
            <a:ext cx="3045625" cy="2030570"/>
            <a:chOff x="6098378" y="5"/>
            <a:chExt cx="3045625" cy="2030570"/>
          </a:xfrm>
        </p:grpSpPr>
        <p:sp>
          <p:nvSpPr>
            <p:cNvPr id="116" name="Google Shape;116;p2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23"/>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122" name="Google Shape;122;p23"/>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123" name="Google Shape;123;p2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F172A"/>
          </a:solidFill>
          <a:ln>
            <a:noFill/>
          </a:ln>
        </p:spPr>
        <p:txBody>
          <a:bodyPr/>
          <a:lstStyle/>
          <a:p>
            <a:endParaRPr/>
          </a:p>
        </p:txBody>
      </p:sp>
      <p:sp>
        <p:nvSpPr>
          <p:cNvPr id="11" name="Eyebrow"/>
          <p:cNvSpPr txBox="1"/>
          <p:nvPr/>
        </p:nvSpPr>
        <p:spPr>
          <a:xfrm>
            <a:off x="0" y="820000"/>
            <a:ext cx="9144000" cy="240000"/>
          </a:xfrm>
          <a:prstGeom prst="rect">
            <a:avLst/>
          </a:prstGeom>
          <a:noFill/>
        </p:spPr>
        <p:txBody>
          <a:bodyPr wrap="square" lIns="0" tIns="0" rIns="0" bIns="0" anchor="t">
            <a:noAutofit/>
          </a:bodyPr>
          <a:lstStyle/>
          <a:p>
            <a:pPr marL="0" indent="0" algn="ctr">
              <a:spcAft>
                <a:spcPts val="0"/>
              </a:spcAft>
              <a:buNone/>
            </a:pPr>
            <a:r>
              <a:rPr lang="en-US" sz="1200" b="1" spc="500">
                <a:solidFill>
                  <a:srgbClr val="94A3B8"/>
                </a:solidFill>
                <a:latin typeface="Roboto"/>
              </a:rPr>
              <a:t>SECTION</a:t>
            </a:r>
          </a:p>
        </p:txBody>
      </p:sp>
      <p:sp>
        <p:nvSpPr>
          <p:cNvPr id="12" name="Num"/>
          <p:cNvSpPr txBox="1"/>
          <p:nvPr/>
        </p:nvSpPr>
        <p:spPr>
          <a:xfrm>
            <a:off x="0" y="1060000"/>
            <a:ext cx="9144000" cy="1300000"/>
          </a:xfrm>
          <a:prstGeom prst="rect">
            <a:avLst/>
          </a:prstGeom>
          <a:noFill/>
        </p:spPr>
        <p:txBody>
          <a:bodyPr wrap="square" lIns="0" tIns="0" rIns="0" bIns="0" anchor="ctr">
            <a:noAutofit/>
          </a:bodyPr>
          <a:lstStyle/>
          <a:p>
            <a:pPr marL="0" indent="0" algn="ctr">
              <a:spcAft>
                <a:spcPts val="0"/>
              </a:spcAft>
              <a:buNone/>
            </a:pPr>
            <a:r>
              <a:rPr lang="en-US" sz="8000" b="1">
                <a:solidFill>
                  <a:srgbClr val="60A5FA"/>
                </a:solidFill>
                <a:latin typeface="Arial"/>
              </a:rPr>
              <a:t>2</a:t>
            </a:r>
          </a:p>
        </p:txBody>
      </p:sp>
      <p:sp>
        <p:nvSpPr>
          <p:cNvPr id="13" name="Title"/>
          <p:cNvSpPr txBox="1"/>
          <p:nvPr/>
        </p:nvSpPr>
        <p:spPr>
          <a:xfrm>
            <a:off x="600000" y="2470000"/>
            <a:ext cx="7944000" cy="650000"/>
          </a:xfrm>
          <a:prstGeom prst="rect">
            <a:avLst/>
          </a:prstGeom>
          <a:noFill/>
        </p:spPr>
        <p:txBody>
          <a:bodyPr wrap="square" lIns="0" tIns="0" rIns="0" bIns="0" anchor="t">
            <a:noAutofit/>
          </a:bodyPr>
          <a:lstStyle/>
          <a:p>
            <a:pPr marL="0" indent="0" algn="ctr">
              <a:spcAft>
                <a:spcPts val="0"/>
              </a:spcAft>
              <a:buNone/>
            </a:pPr>
            <a:r>
              <a:rPr lang="en-US" sz="3600" b="1">
                <a:solidFill>
                  <a:srgbClr val="FFFFFF"/>
                </a:solidFill>
                <a:latin typeface="Roboto"/>
              </a:rPr>
              <a:t>Inheritance &amp; Polymorphism</a:t>
            </a:r>
          </a:p>
        </p:txBody>
      </p:sp>
      <p:sp>
        <p:nvSpPr>
          <p:cNvPr id="14" name="Sub"/>
          <p:cNvSpPr txBox="1"/>
          <p:nvPr/>
        </p:nvSpPr>
        <p:spPr>
          <a:xfrm>
            <a:off x="800000" y="3160000"/>
            <a:ext cx="7544000" cy="360000"/>
          </a:xfrm>
          <a:prstGeom prst="rect">
            <a:avLst/>
          </a:prstGeom>
          <a:noFill/>
        </p:spPr>
        <p:txBody>
          <a:bodyPr wrap="square" lIns="0" tIns="0" rIns="0" bIns="0" anchor="t">
            <a:noAutofit/>
          </a:bodyPr>
          <a:lstStyle/>
          <a:p>
            <a:pPr marL="0" indent="0" algn="ctr">
              <a:spcAft>
                <a:spcPts val="0"/>
              </a:spcAft>
              <a:buNone/>
            </a:pPr>
            <a:r>
              <a:rPr lang="en-US" sz="1500" b="0">
                <a:solidFill>
                  <a:srgbClr val="94A3B8"/>
                </a:solidFill>
                <a:latin typeface="Roboto"/>
              </a:rPr>
              <a:t>How classes relate, extend, and become many things at once.</a:t>
            </a:r>
          </a:p>
        </p:txBody>
      </p:sp>
      <p:sp>
        <p:nvSpPr>
          <p:cNvPr id="15" name="pc0"/>
          <p:cNvSpPr/>
          <p:nvPr/>
        </p:nvSpPr>
        <p:spPr>
          <a:xfrm>
            <a:off x="4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16" name="pi0"/>
          <p:cNvSpPr/>
          <p:nvPr/>
        </p:nvSpPr>
        <p:spPr>
          <a:xfrm>
            <a:off x="622000" y="3830000"/>
            <a:ext cx="300000" cy="300000"/>
          </a:xfrm>
          <a:prstGeom prst="ellipse">
            <a:avLst/>
          </a:prstGeom>
          <a:solidFill>
            <a:srgbClr val="2563EB"/>
          </a:solidFill>
          <a:ln>
            <a:noFill/>
          </a:ln>
        </p:spPr>
        <p:txBody>
          <a:bodyPr/>
          <a:lstStyle/>
          <a:p>
            <a:endParaRPr/>
          </a:p>
        </p:txBody>
      </p:sp>
      <p:sp>
        <p:nvSpPr>
          <p:cNvPr id="17" name="pg0"/>
          <p:cNvSpPr txBox="1"/>
          <p:nvPr/>
        </p:nvSpPr>
        <p:spPr>
          <a:xfrm>
            <a:off x="6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18" name="pl0"/>
          <p:cNvSpPr txBox="1"/>
          <p:nvPr/>
        </p:nvSpPr>
        <p:spPr>
          <a:xfrm>
            <a:off x="10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Inheritance</a:t>
            </a:r>
          </a:p>
          <a:p>
            <a:pPr marL="0" indent="0">
              <a:spcAft>
                <a:spcPts val="0"/>
              </a:spcAft>
              <a:buNone/>
            </a:pPr>
            <a:r>
              <a:rPr lang="en-US" sz="950" b="0">
                <a:solidFill>
                  <a:srgbClr val="94A3B8"/>
                </a:solidFill>
                <a:latin typeface="Roboto"/>
              </a:rPr>
              <a:t>extend and specialize</a:t>
            </a:r>
          </a:p>
        </p:txBody>
      </p:sp>
      <p:sp>
        <p:nvSpPr>
          <p:cNvPr id="19" name="pc1"/>
          <p:cNvSpPr/>
          <p:nvPr/>
        </p:nvSpPr>
        <p:spPr>
          <a:xfrm>
            <a:off x="32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0" name="pi1"/>
          <p:cNvSpPr/>
          <p:nvPr/>
        </p:nvSpPr>
        <p:spPr>
          <a:xfrm>
            <a:off x="3422000" y="3830000"/>
            <a:ext cx="300000" cy="300000"/>
          </a:xfrm>
          <a:prstGeom prst="ellipse">
            <a:avLst/>
          </a:prstGeom>
          <a:solidFill>
            <a:srgbClr val="7C3AED"/>
          </a:solidFill>
          <a:ln>
            <a:noFill/>
          </a:ln>
        </p:spPr>
        <p:txBody>
          <a:bodyPr/>
          <a:lstStyle/>
          <a:p>
            <a:endParaRPr/>
          </a:p>
        </p:txBody>
      </p:sp>
      <p:sp>
        <p:nvSpPr>
          <p:cNvPr id="21" name="pg1"/>
          <p:cNvSpPr txBox="1"/>
          <p:nvPr/>
        </p:nvSpPr>
        <p:spPr>
          <a:xfrm>
            <a:off x="34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2" name="pl1"/>
          <p:cNvSpPr txBox="1"/>
          <p:nvPr/>
        </p:nvSpPr>
        <p:spPr>
          <a:xfrm>
            <a:off x="38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Overriding</a:t>
            </a:r>
          </a:p>
          <a:p>
            <a:pPr marL="0" indent="0">
              <a:spcAft>
                <a:spcPts val="0"/>
              </a:spcAft>
              <a:buNone/>
            </a:pPr>
            <a:r>
              <a:rPr lang="en-US" sz="950" b="0">
                <a:solidFill>
                  <a:srgbClr val="94A3B8"/>
                </a:solidFill>
                <a:latin typeface="Roboto"/>
              </a:rPr>
              <a:t>redefine inherited behavior</a:t>
            </a:r>
          </a:p>
        </p:txBody>
      </p:sp>
      <p:sp>
        <p:nvSpPr>
          <p:cNvPr id="23" name="pc2"/>
          <p:cNvSpPr/>
          <p:nvPr/>
        </p:nvSpPr>
        <p:spPr>
          <a:xfrm>
            <a:off x="60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4" name="pi2"/>
          <p:cNvSpPr/>
          <p:nvPr/>
        </p:nvSpPr>
        <p:spPr>
          <a:xfrm>
            <a:off x="6222000" y="3830000"/>
            <a:ext cx="300000" cy="300000"/>
          </a:xfrm>
          <a:prstGeom prst="ellipse">
            <a:avLst/>
          </a:prstGeom>
          <a:solidFill>
            <a:srgbClr val="06B6D4"/>
          </a:solidFill>
          <a:ln>
            <a:noFill/>
          </a:ln>
        </p:spPr>
        <p:txBody>
          <a:bodyPr/>
          <a:lstStyle/>
          <a:p>
            <a:endParaRPr/>
          </a:p>
        </p:txBody>
      </p:sp>
      <p:sp>
        <p:nvSpPr>
          <p:cNvPr id="25" name="pg2"/>
          <p:cNvSpPr txBox="1"/>
          <p:nvPr/>
        </p:nvSpPr>
        <p:spPr>
          <a:xfrm>
            <a:off x="62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6" name="pl2"/>
          <p:cNvSpPr txBox="1"/>
          <p:nvPr/>
        </p:nvSpPr>
        <p:spPr>
          <a:xfrm>
            <a:off x="66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Polymorphism</a:t>
            </a:r>
          </a:p>
          <a:p>
            <a:pPr marL="0" indent="0">
              <a:spcAft>
                <a:spcPts val="0"/>
              </a:spcAft>
              <a:buNone/>
            </a:pPr>
            <a:r>
              <a:rPr lang="en-US" sz="950" b="0">
                <a:solidFill>
                  <a:srgbClr val="94A3B8"/>
                </a:solidFill>
                <a:latin typeface="Roboto"/>
              </a:rPr>
              <a:t>one type, many forms</a:t>
            </a:r>
          </a:p>
        </p:txBody>
      </p:sp>
      <p:sp>
        <p:nvSpPr>
          <p:cNvPr id="27" name="bar0"/>
          <p:cNvSpPr/>
          <p:nvPr/>
        </p:nvSpPr>
        <p:spPr>
          <a:xfrm>
            <a:off x="0" y="5039500"/>
            <a:ext cx="305000" cy="104000"/>
          </a:xfrm>
          <a:prstGeom prst="rect">
            <a:avLst/>
          </a:prstGeom>
          <a:solidFill>
            <a:srgbClr val="EC4899"/>
          </a:solidFill>
          <a:ln>
            <a:noFill/>
          </a:ln>
        </p:spPr>
        <p:txBody>
          <a:bodyPr/>
          <a:lstStyle/>
          <a:p>
            <a:endParaRPr/>
          </a:p>
        </p:txBody>
      </p:sp>
      <p:sp>
        <p:nvSpPr>
          <p:cNvPr id="28" name="bar1"/>
          <p:cNvSpPr/>
          <p:nvPr/>
        </p:nvSpPr>
        <p:spPr>
          <a:xfrm>
            <a:off x="305000" y="5039500"/>
            <a:ext cx="305000" cy="104000"/>
          </a:xfrm>
          <a:prstGeom prst="rect">
            <a:avLst/>
          </a:prstGeom>
          <a:solidFill>
            <a:srgbClr val="06B6D4"/>
          </a:solidFill>
          <a:ln>
            <a:noFill/>
          </a:ln>
        </p:spPr>
        <p:txBody>
          <a:bodyPr/>
          <a:lstStyle/>
          <a:p>
            <a:endParaRPr/>
          </a:p>
        </p:txBody>
      </p:sp>
      <p:sp>
        <p:nvSpPr>
          <p:cNvPr id="29" name="bar2"/>
          <p:cNvSpPr/>
          <p:nvPr/>
        </p:nvSpPr>
        <p:spPr>
          <a:xfrm>
            <a:off x="610000" y="5039500"/>
            <a:ext cx="305000" cy="104000"/>
          </a:xfrm>
          <a:prstGeom prst="rect">
            <a:avLst/>
          </a:prstGeom>
          <a:solidFill>
            <a:srgbClr val="2563EB"/>
          </a:solidFill>
          <a:ln>
            <a:noFill/>
          </a:ln>
        </p:spPr>
        <p:txBody>
          <a:bodyPr/>
          <a:lstStyle/>
          <a:p>
            <a:endParaRPr/>
          </a:p>
        </p:txBody>
      </p:sp>
      <p:sp>
        <p:nvSpPr>
          <p:cNvPr id="30" name="bar3"/>
          <p:cNvSpPr/>
          <p:nvPr/>
        </p:nvSpPr>
        <p:spPr>
          <a:xfrm>
            <a:off x="915000" y="5039500"/>
            <a:ext cx="8229000" cy="104000"/>
          </a:xfrm>
          <a:prstGeom prst="rect">
            <a:avLst/>
          </a:prstGeom>
          <a:solidFill>
            <a:srgbClr val="1E40AF"/>
          </a:solidFill>
          <a:ln>
            <a:no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Why We Need Organization</a:t>
            </a:r>
          </a:p>
        </p:txBody>
      </p:sp>
      <p:sp>
        <p:nvSpPr>
          <p:cNvPr id="10" name="Stmt"/>
          <p:cNvSpPr txBox="1"/>
          <p:nvPr/>
        </p:nvSpPr>
        <p:spPr>
          <a:xfrm>
            <a:off x="311700" y="1030000"/>
            <a:ext cx="8520600" cy="540000"/>
          </a:xfrm>
          <a:prstGeom prst="rect">
            <a:avLst/>
          </a:prstGeom>
          <a:noFill/>
        </p:spPr>
        <p:txBody>
          <a:bodyPr wrap="square" lIns="0" tIns="0" rIns="0" bIns="0" anchor="t">
            <a:noAutofit/>
          </a:bodyPr>
          <a:lstStyle/>
          <a:p>
            <a:pPr marL="0" indent="0">
              <a:spcAft>
                <a:spcPts val="200"/>
              </a:spcAft>
              <a:buNone/>
            </a:pPr>
            <a:r>
              <a:rPr lang="en-US" sz="1400" b="0" dirty="0">
                <a:solidFill>
                  <a:srgbClr val="334155"/>
                </a:solidFill>
                <a:latin typeface="Roboto"/>
              </a:rPr>
              <a:t>Real software spans </a:t>
            </a:r>
            <a:r>
              <a:rPr lang="en-US" sz="1400" b="1" dirty="0">
                <a:solidFill>
                  <a:srgbClr val="334155"/>
                </a:solidFill>
                <a:latin typeface="Roboto"/>
              </a:rPr>
              <a:t>millions of lines of code</a:t>
            </a:r>
            <a:r>
              <a:rPr lang="en-US" sz="1400" b="0" dirty="0">
                <a:solidFill>
                  <a:srgbClr val="334155"/>
                </a:solidFill>
                <a:latin typeface="Roboto"/>
              </a:rPr>
              <a:t> and </a:t>
            </a:r>
            <a:r>
              <a:rPr lang="en-US" sz="1400" b="1" dirty="0">
                <a:solidFill>
                  <a:srgbClr val="334155"/>
                </a:solidFill>
                <a:latin typeface="Roboto"/>
              </a:rPr>
              <a:t>thousands of classes</a:t>
            </a:r>
            <a:r>
              <a:rPr lang="en-US" sz="1400" b="0" dirty="0">
                <a:solidFill>
                  <a:srgbClr val="334155"/>
                </a:solidFill>
                <a:latin typeface="Roboto"/>
              </a:rPr>
              <a:t>. Without structure, it becomes </a:t>
            </a:r>
            <a:r>
              <a:rPr lang="en-US" sz="1400" b="1" dirty="0">
                <a:solidFill>
                  <a:srgbClr val="DC2626"/>
                </a:solidFill>
                <a:latin typeface="Roboto"/>
              </a:rPr>
              <a:t>unmaintainable</a:t>
            </a:r>
            <a:r>
              <a:rPr lang="en-US" sz="1400" b="0" dirty="0">
                <a:solidFill>
                  <a:srgbClr val="334155"/>
                </a:solidFill>
                <a:latin typeface="Roboto"/>
              </a:rPr>
              <a:t>.</a:t>
            </a:r>
          </a:p>
        </p:txBody>
      </p:sp>
      <p:sp>
        <p:nvSpPr>
          <p:cNvPr id="11" name="Lcard"/>
          <p:cNvSpPr/>
          <p:nvPr/>
        </p:nvSpPr>
        <p:spPr>
          <a:xfrm>
            <a:off x="311700" y="1690000"/>
            <a:ext cx="4080000" cy="240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2" name="sc0"/>
          <p:cNvSpPr/>
          <p:nvPr/>
        </p:nvSpPr>
        <p:spPr>
          <a:xfrm>
            <a:off x="551700" y="1910000"/>
            <a:ext cx="96000" cy="96000"/>
          </a:xfrm>
          <a:prstGeom prst="roundRect">
            <a:avLst>
              <a:gd name="adj" fmla="val 25000"/>
            </a:avLst>
          </a:prstGeom>
          <a:solidFill>
            <a:srgbClr val="EF4444"/>
          </a:solidFill>
          <a:ln>
            <a:noFill/>
          </a:ln>
        </p:spPr>
        <p:txBody>
          <a:bodyPr/>
          <a:lstStyle/>
          <a:p>
            <a:endParaRPr/>
          </a:p>
        </p:txBody>
      </p:sp>
      <p:sp>
        <p:nvSpPr>
          <p:cNvPr id="13" name="sc1"/>
          <p:cNvSpPr/>
          <p:nvPr/>
        </p:nvSpPr>
        <p:spPr>
          <a:xfrm>
            <a:off x="701700" y="2050000"/>
            <a:ext cx="96000" cy="96000"/>
          </a:xfrm>
          <a:prstGeom prst="roundRect">
            <a:avLst>
              <a:gd name="adj" fmla="val 25000"/>
            </a:avLst>
          </a:prstGeom>
          <a:solidFill>
            <a:srgbClr val="EA580C"/>
          </a:solidFill>
          <a:ln>
            <a:noFill/>
          </a:ln>
        </p:spPr>
        <p:txBody>
          <a:bodyPr/>
          <a:lstStyle/>
          <a:p>
            <a:endParaRPr/>
          </a:p>
        </p:txBody>
      </p:sp>
      <p:sp>
        <p:nvSpPr>
          <p:cNvPr id="14" name="sc2"/>
          <p:cNvSpPr/>
          <p:nvPr/>
        </p:nvSpPr>
        <p:spPr>
          <a:xfrm>
            <a:off x="851700" y="1880000"/>
            <a:ext cx="96000" cy="96000"/>
          </a:xfrm>
          <a:prstGeom prst="roundRect">
            <a:avLst>
              <a:gd name="adj" fmla="val 25000"/>
            </a:avLst>
          </a:prstGeom>
          <a:solidFill>
            <a:srgbClr val="DC2626"/>
          </a:solidFill>
          <a:ln>
            <a:noFill/>
          </a:ln>
        </p:spPr>
        <p:txBody>
          <a:bodyPr/>
          <a:lstStyle/>
          <a:p>
            <a:endParaRPr/>
          </a:p>
        </p:txBody>
      </p:sp>
      <p:sp>
        <p:nvSpPr>
          <p:cNvPr id="15" name="Llbl"/>
          <p:cNvSpPr txBox="1"/>
          <p:nvPr/>
        </p:nvSpPr>
        <p:spPr>
          <a:xfrm>
            <a:off x="1071700" y="1870000"/>
            <a:ext cx="3180000" cy="340000"/>
          </a:xfrm>
          <a:prstGeom prst="rect">
            <a:avLst/>
          </a:prstGeom>
          <a:noFill/>
        </p:spPr>
        <p:txBody>
          <a:bodyPr wrap="square" lIns="0" tIns="0" rIns="0" bIns="0" anchor="ctr">
            <a:noAutofit/>
          </a:bodyPr>
          <a:lstStyle/>
          <a:p>
            <a:pPr marL="0" indent="0">
              <a:spcAft>
                <a:spcPts val="0"/>
              </a:spcAft>
              <a:buNone/>
            </a:pPr>
            <a:r>
              <a:rPr lang="en-US" sz="1050" b="1" spc="160">
                <a:solidFill>
                  <a:srgbClr val="DC2626"/>
                </a:solidFill>
                <a:latin typeface="Roboto"/>
              </a:rPr>
              <a:t>THE PROBLEM</a:t>
            </a:r>
          </a:p>
        </p:txBody>
      </p:sp>
      <p:sp>
        <p:nvSpPr>
          <p:cNvPr id="16" name="Lhr"/>
          <p:cNvSpPr/>
          <p:nvPr/>
        </p:nvSpPr>
        <p:spPr>
          <a:xfrm>
            <a:off x="551700" y="2310000"/>
            <a:ext cx="3600000" cy="10000"/>
          </a:xfrm>
          <a:prstGeom prst="rect">
            <a:avLst/>
          </a:prstGeom>
          <a:solidFill>
            <a:srgbClr val="64748B">
              <a:alpha val="30000"/>
            </a:srgbClr>
          </a:solidFill>
          <a:ln>
            <a:noFill/>
          </a:ln>
        </p:spPr>
        <p:txBody>
          <a:bodyPr/>
          <a:lstStyle/>
          <a:p>
            <a:endParaRPr/>
          </a:p>
        </p:txBody>
      </p:sp>
      <p:sp>
        <p:nvSpPr>
          <p:cNvPr id="17" name="BD"/>
          <p:cNvSpPr txBox="1"/>
          <p:nvPr/>
        </p:nvSpPr>
        <p:spPr>
          <a:xfrm>
            <a:off x="571700" y="2430000"/>
            <a:ext cx="3580000" cy="1560000"/>
          </a:xfrm>
          <a:prstGeom prst="rect">
            <a:avLst/>
          </a:prstGeom>
          <a:noFill/>
        </p:spPr>
        <p:txBody>
          <a:bodyPr wrap="square" lIns="0" tIns="0" rIns="0" bIns="0" anchor="t">
            <a:noAutofit/>
          </a:bodyPr>
          <a:lstStyle/>
          <a:p>
            <a:pPr marL="180000" indent="-180000">
              <a:spcAft>
                <a:spcPts val="340"/>
              </a:spcAft>
              <a:buNone/>
            </a:pPr>
            <a:r>
              <a:rPr lang="en-US" sz="1000" b="1" dirty="0">
                <a:solidFill>
                  <a:srgbClr val="DC2626"/>
                </a:solidFill>
                <a:latin typeface="Roboto"/>
              </a:rPr>
              <a:t>•  </a:t>
            </a:r>
            <a:r>
              <a:rPr lang="en-US" sz="1000" b="0" dirty="0">
                <a:solidFill>
                  <a:srgbClr val="334155"/>
                </a:solidFill>
                <a:latin typeface="Roboto"/>
              </a:rPr>
              <a:t>Thousands of classes with no relationship</a:t>
            </a:r>
          </a:p>
          <a:p>
            <a:pPr marL="180000" indent="-180000">
              <a:spcAft>
                <a:spcPts val="340"/>
              </a:spcAft>
              <a:buNone/>
            </a:pPr>
            <a:r>
              <a:rPr lang="en-US" sz="1000" b="1" dirty="0">
                <a:solidFill>
                  <a:srgbClr val="DC2626"/>
                </a:solidFill>
                <a:latin typeface="Roboto"/>
              </a:rPr>
              <a:t>•  </a:t>
            </a:r>
            <a:r>
              <a:rPr lang="en-US" sz="1000" b="0" dirty="0">
                <a:solidFill>
                  <a:srgbClr val="334155"/>
                </a:solidFill>
                <a:latin typeface="Roboto"/>
              </a:rPr>
              <a:t>Duplicate code in every file</a:t>
            </a:r>
          </a:p>
          <a:p>
            <a:pPr marL="180000" indent="-180000">
              <a:spcAft>
                <a:spcPts val="340"/>
              </a:spcAft>
              <a:buNone/>
            </a:pPr>
            <a:r>
              <a:rPr lang="en-US" sz="1000" b="1" dirty="0">
                <a:solidFill>
                  <a:srgbClr val="DC2626"/>
                </a:solidFill>
                <a:latin typeface="Roboto"/>
              </a:rPr>
              <a:t>•  </a:t>
            </a:r>
            <a:r>
              <a:rPr lang="en-US" sz="1000" b="0" dirty="0">
                <a:solidFill>
                  <a:srgbClr val="334155"/>
                </a:solidFill>
                <a:latin typeface="Roboto"/>
              </a:rPr>
              <a:t>One bug fix requires changes everywhere</a:t>
            </a:r>
          </a:p>
          <a:p>
            <a:pPr marL="180000" indent="-180000">
              <a:spcAft>
                <a:spcPts val="340"/>
              </a:spcAft>
              <a:buNone/>
            </a:pPr>
            <a:r>
              <a:rPr lang="en-US" sz="1000" b="1" dirty="0">
                <a:solidFill>
                  <a:srgbClr val="DC2626"/>
                </a:solidFill>
                <a:latin typeface="Roboto"/>
              </a:rPr>
              <a:t>•  </a:t>
            </a:r>
            <a:r>
              <a:rPr lang="en-US" sz="1000" b="0" dirty="0">
                <a:solidFill>
                  <a:srgbClr val="334155"/>
                </a:solidFill>
                <a:latin typeface="Roboto"/>
              </a:rPr>
              <a:t>No way to group related behavior</a:t>
            </a:r>
          </a:p>
        </p:txBody>
      </p:sp>
      <p:sp>
        <p:nvSpPr>
          <p:cNvPr id="18" name="Rcard"/>
          <p:cNvSpPr/>
          <p:nvPr/>
        </p:nvSpPr>
        <p:spPr>
          <a:xfrm>
            <a:off x="4752300" y="1690000"/>
            <a:ext cx="4080000" cy="240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9" name="tn0"/>
          <p:cNvSpPr/>
          <p:nvPr/>
        </p:nvSpPr>
        <p:spPr>
          <a:xfrm>
            <a:off x="5142300" y="1860000"/>
            <a:ext cx="120000" cy="90000"/>
          </a:xfrm>
          <a:prstGeom prst="roundRect">
            <a:avLst>
              <a:gd name="adj" fmla="val 25000"/>
            </a:avLst>
          </a:prstGeom>
          <a:solidFill>
            <a:srgbClr val="22C55E"/>
          </a:solidFill>
          <a:ln>
            <a:noFill/>
          </a:ln>
        </p:spPr>
        <p:txBody>
          <a:bodyPr/>
          <a:lstStyle/>
          <a:p>
            <a:endParaRPr/>
          </a:p>
        </p:txBody>
      </p:sp>
      <p:sp>
        <p:nvSpPr>
          <p:cNvPr id="20" name="tn1"/>
          <p:cNvSpPr/>
          <p:nvPr/>
        </p:nvSpPr>
        <p:spPr>
          <a:xfrm>
            <a:off x="5022300" y="2090000"/>
            <a:ext cx="120000" cy="90000"/>
          </a:xfrm>
          <a:prstGeom prst="roundRect">
            <a:avLst>
              <a:gd name="adj" fmla="val 25000"/>
            </a:avLst>
          </a:prstGeom>
          <a:solidFill>
            <a:srgbClr val="22C55E"/>
          </a:solidFill>
          <a:ln>
            <a:noFill/>
          </a:ln>
        </p:spPr>
        <p:txBody>
          <a:bodyPr/>
          <a:lstStyle/>
          <a:p>
            <a:endParaRPr/>
          </a:p>
        </p:txBody>
      </p:sp>
      <p:sp>
        <p:nvSpPr>
          <p:cNvPr id="21" name="tn2"/>
          <p:cNvSpPr/>
          <p:nvPr/>
        </p:nvSpPr>
        <p:spPr>
          <a:xfrm>
            <a:off x="5262300" y="2090000"/>
            <a:ext cx="120000" cy="90000"/>
          </a:xfrm>
          <a:prstGeom prst="roundRect">
            <a:avLst>
              <a:gd name="adj" fmla="val 25000"/>
            </a:avLst>
          </a:prstGeom>
          <a:solidFill>
            <a:srgbClr val="22C55E"/>
          </a:solidFill>
          <a:ln>
            <a:noFill/>
          </a:ln>
        </p:spPr>
        <p:txBody>
          <a:bodyPr/>
          <a:lstStyle/>
          <a:p>
            <a:endParaRPr/>
          </a:p>
        </p:txBody>
      </p:sp>
      <p:sp>
        <p:nvSpPr>
          <p:cNvPr id="22" name="tv"/>
          <p:cNvSpPr/>
          <p:nvPr/>
        </p:nvSpPr>
        <p:spPr>
          <a:xfrm>
            <a:off x="5198300" y="1950000"/>
            <a:ext cx="8000" cy="95000"/>
          </a:xfrm>
          <a:prstGeom prst="rect">
            <a:avLst/>
          </a:prstGeom>
          <a:solidFill>
            <a:srgbClr val="22C55E"/>
          </a:solidFill>
          <a:ln>
            <a:noFill/>
          </a:ln>
        </p:spPr>
        <p:txBody>
          <a:bodyPr/>
          <a:lstStyle/>
          <a:p>
            <a:endParaRPr/>
          </a:p>
        </p:txBody>
      </p:sp>
      <p:sp>
        <p:nvSpPr>
          <p:cNvPr id="23" name="th"/>
          <p:cNvSpPr/>
          <p:nvPr/>
        </p:nvSpPr>
        <p:spPr>
          <a:xfrm>
            <a:off x="5082300" y="2045000"/>
            <a:ext cx="240000" cy="8000"/>
          </a:xfrm>
          <a:prstGeom prst="rect">
            <a:avLst/>
          </a:prstGeom>
          <a:solidFill>
            <a:srgbClr val="22C55E"/>
          </a:solidFill>
          <a:ln>
            <a:noFill/>
          </a:ln>
        </p:spPr>
        <p:txBody>
          <a:bodyPr/>
          <a:lstStyle/>
          <a:p>
            <a:endParaRPr/>
          </a:p>
        </p:txBody>
      </p:sp>
      <p:sp>
        <p:nvSpPr>
          <p:cNvPr id="24" name="tl"/>
          <p:cNvSpPr/>
          <p:nvPr/>
        </p:nvSpPr>
        <p:spPr>
          <a:xfrm>
            <a:off x="5082300" y="2045000"/>
            <a:ext cx="8000" cy="45000"/>
          </a:xfrm>
          <a:prstGeom prst="rect">
            <a:avLst/>
          </a:prstGeom>
          <a:solidFill>
            <a:srgbClr val="22C55E"/>
          </a:solidFill>
          <a:ln>
            <a:noFill/>
          </a:ln>
        </p:spPr>
        <p:txBody>
          <a:bodyPr/>
          <a:lstStyle/>
          <a:p>
            <a:endParaRPr/>
          </a:p>
        </p:txBody>
      </p:sp>
      <p:sp>
        <p:nvSpPr>
          <p:cNvPr id="25" name="tr"/>
          <p:cNvSpPr/>
          <p:nvPr/>
        </p:nvSpPr>
        <p:spPr>
          <a:xfrm>
            <a:off x="5322300" y="2045000"/>
            <a:ext cx="8000" cy="45000"/>
          </a:xfrm>
          <a:prstGeom prst="rect">
            <a:avLst/>
          </a:prstGeom>
          <a:solidFill>
            <a:srgbClr val="22C55E"/>
          </a:solidFill>
          <a:ln>
            <a:noFill/>
          </a:ln>
        </p:spPr>
        <p:txBody>
          <a:bodyPr/>
          <a:lstStyle/>
          <a:p>
            <a:endParaRPr/>
          </a:p>
        </p:txBody>
      </p:sp>
      <p:sp>
        <p:nvSpPr>
          <p:cNvPr id="26" name="Rlbl"/>
          <p:cNvSpPr txBox="1"/>
          <p:nvPr/>
        </p:nvSpPr>
        <p:spPr>
          <a:xfrm>
            <a:off x="5512300" y="1870000"/>
            <a:ext cx="3180000" cy="340000"/>
          </a:xfrm>
          <a:prstGeom prst="rect">
            <a:avLst/>
          </a:prstGeom>
          <a:noFill/>
        </p:spPr>
        <p:txBody>
          <a:bodyPr wrap="square" lIns="0" tIns="0" rIns="0" bIns="0" anchor="ctr">
            <a:noAutofit/>
          </a:bodyPr>
          <a:lstStyle/>
          <a:p>
            <a:pPr marL="0" indent="0">
              <a:spcAft>
                <a:spcPts val="0"/>
              </a:spcAft>
              <a:buNone/>
            </a:pPr>
            <a:r>
              <a:rPr lang="en-US" sz="1050" b="1" spc="160">
                <a:solidFill>
                  <a:srgbClr val="16A34A"/>
                </a:solidFill>
                <a:latin typeface="Roboto"/>
              </a:rPr>
              <a:t>THE SOLUTION</a:t>
            </a:r>
          </a:p>
        </p:txBody>
      </p:sp>
      <p:sp>
        <p:nvSpPr>
          <p:cNvPr id="27" name="Rhr"/>
          <p:cNvSpPr/>
          <p:nvPr/>
        </p:nvSpPr>
        <p:spPr>
          <a:xfrm>
            <a:off x="4992300" y="2310000"/>
            <a:ext cx="3600000" cy="10000"/>
          </a:xfrm>
          <a:prstGeom prst="rect">
            <a:avLst/>
          </a:prstGeom>
          <a:solidFill>
            <a:srgbClr val="64748B">
              <a:alpha val="30000"/>
            </a:srgbClr>
          </a:solidFill>
          <a:ln>
            <a:noFill/>
          </a:ln>
        </p:spPr>
        <p:txBody>
          <a:bodyPr/>
          <a:lstStyle/>
          <a:p>
            <a:endParaRPr/>
          </a:p>
        </p:txBody>
      </p:sp>
      <p:sp>
        <p:nvSpPr>
          <p:cNvPr id="28" name="BD"/>
          <p:cNvSpPr txBox="1"/>
          <p:nvPr/>
        </p:nvSpPr>
        <p:spPr>
          <a:xfrm>
            <a:off x="5012300" y="2430000"/>
            <a:ext cx="3580000" cy="1560000"/>
          </a:xfrm>
          <a:prstGeom prst="rect">
            <a:avLst/>
          </a:prstGeom>
          <a:noFill/>
        </p:spPr>
        <p:txBody>
          <a:bodyPr wrap="square" lIns="0" tIns="0" rIns="0" bIns="0" anchor="t">
            <a:noAutofit/>
          </a:bodyPr>
          <a:lstStyle/>
          <a:p>
            <a:pPr marL="180000" indent="-180000">
              <a:spcAft>
                <a:spcPts val="340"/>
              </a:spcAft>
              <a:buNone/>
            </a:pPr>
            <a:r>
              <a:rPr lang="en-US" sz="1000" b="1">
                <a:solidFill>
                  <a:srgbClr val="16A34A"/>
                </a:solidFill>
                <a:latin typeface="Roboto"/>
              </a:rPr>
              <a:t>•  Inheritance</a:t>
            </a:r>
            <a:r>
              <a:rPr lang="en-US" sz="1000" b="0">
                <a:solidFill>
                  <a:srgbClr val="334155"/>
                </a:solidFill>
                <a:latin typeface="Roboto"/>
              </a:rPr>
              <a:t> — group classes into hierarchies</a:t>
            </a:r>
          </a:p>
          <a:p>
            <a:pPr marL="180000" indent="-180000">
              <a:spcAft>
                <a:spcPts val="340"/>
              </a:spcAft>
              <a:buNone/>
            </a:pPr>
            <a:r>
              <a:rPr lang="en-US" sz="1000" b="1">
                <a:solidFill>
                  <a:srgbClr val="16A34A"/>
                </a:solidFill>
                <a:latin typeface="Roboto"/>
              </a:rPr>
              <a:t>•  Packages</a:t>
            </a:r>
            <a:r>
              <a:rPr lang="en-US" sz="1000" b="0">
                <a:solidFill>
                  <a:srgbClr val="334155"/>
                </a:solidFill>
                <a:latin typeface="Roboto"/>
              </a:rPr>
              <a:t> — group classes into logical units</a:t>
            </a:r>
          </a:p>
          <a:p>
            <a:pPr marL="180000" indent="-180000">
              <a:spcAft>
                <a:spcPts val="340"/>
              </a:spcAft>
              <a:buNone/>
            </a:pPr>
            <a:r>
              <a:rPr lang="en-US" sz="1000" b="1">
                <a:solidFill>
                  <a:srgbClr val="16A34A"/>
                </a:solidFill>
                <a:latin typeface="Roboto"/>
              </a:rPr>
              <a:t>•  </a:t>
            </a:r>
            <a:r>
              <a:rPr lang="en-US" sz="1000" b="0">
                <a:solidFill>
                  <a:srgbClr val="334155"/>
                </a:solidFill>
                <a:latin typeface="Roboto"/>
              </a:rPr>
              <a:t>Both work simultaneously in real projects</a:t>
            </a:r>
          </a:p>
          <a:p>
            <a:pPr marL="180000" indent="-180000">
              <a:spcAft>
                <a:spcPts val="340"/>
              </a:spcAft>
              <a:buNone/>
            </a:pPr>
            <a:r>
              <a:rPr lang="en-US" sz="1000" b="1">
                <a:solidFill>
                  <a:srgbClr val="16A34A"/>
                </a:solidFill>
                <a:latin typeface="Roboto"/>
              </a:rPr>
              <a:t>•  </a:t>
            </a:r>
            <a:r>
              <a:rPr lang="en-US" sz="1000" b="0">
                <a:solidFill>
                  <a:srgbClr val="334155"/>
                </a:solidFill>
                <a:latin typeface="Roboto"/>
              </a:rPr>
              <a:t>Fix once, benefit everywhere</a:t>
            </a:r>
          </a:p>
        </p:txBody>
      </p:sp>
      <p:sp>
        <p:nvSpPr>
          <p:cNvPr id="29" name="CO29"/>
          <p:cNvSpPr/>
          <p:nvPr/>
        </p:nvSpPr>
        <p:spPr>
          <a:xfrm>
            <a:off x="311700" y="4210000"/>
            <a:ext cx="8520600" cy="430000"/>
          </a:xfrm>
          <a:prstGeom prst="roundRect">
            <a:avLst>
              <a:gd name="adj" fmla="val 22000"/>
            </a:avLst>
          </a:prstGeom>
          <a:solidFill>
            <a:srgbClr val="2563EB">
              <a:alpha val="12000"/>
            </a:srgbClr>
          </a:solidFill>
          <a:ln>
            <a:noFill/>
          </a:ln>
        </p:spPr>
        <p:txBody>
          <a:bodyPr/>
          <a:lstStyle/>
          <a:p>
            <a:endParaRPr/>
          </a:p>
        </p:txBody>
      </p:sp>
      <p:sp>
        <p:nvSpPr>
          <p:cNvPr id="30" name="COT29"/>
          <p:cNvSpPr txBox="1"/>
          <p:nvPr/>
        </p:nvSpPr>
        <p:spPr>
          <a:xfrm>
            <a:off x="451700" y="4210000"/>
            <a:ext cx="8240600" cy="430000"/>
          </a:xfrm>
          <a:prstGeom prst="rect">
            <a:avLst/>
          </a:prstGeom>
          <a:noFill/>
        </p:spPr>
        <p:txBody>
          <a:bodyPr wrap="square" lIns="0" tIns="0" rIns="0" bIns="0" anchor="ctr">
            <a:noAutofit/>
          </a:bodyPr>
          <a:lstStyle/>
          <a:p>
            <a:pPr marL="0" indent="0" algn="ctr">
              <a:spcAft>
                <a:spcPts val="0"/>
              </a:spcAft>
              <a:buNone/>
            </a:pPr>
            <a:r>
              <a:rPr lang="en-US" sz="1050" b="0" dirty="0">
                <a:solidFill>
                  <a:srgbClr val="334155"/>
                </a:solidFill>
                <a:latin typeface="Roboto"/>
              </a:rPr>
              <a:t>Our </a:t>
            </a:r>
            <a:r>
              <a:rPr lang="en-US" sz="1050" b="1" dirty="0">
                <a:solidFill>
                  <a:srgbClr val="2563EB"/>
                </a:solidFill>
                <a:latin typeface="Consolas"/>
              </a:rPr>
              <a:t>Dog</a:t>
            </a:r>
            <a:r>
              <a:rPr lang="en-US" sz="1050" b="0" dirty="0">
                <a:solidFill>
                  <a:srgbClr val="334155"/>
                </a:solidFill>
                <a:latin typeface="Roboto"/>
              </a:rPr>
              <a:t> class </a:t>
            </a:r>
            <a:r>
              <a:rPr lang="en-US" sz="1050" dirty="0">
                <a:solidFill>
                  <a:srgbClr val="334155"/>
                </a:solidFill>
                <a:latin typeface="Roboto"/>
              </a:rPr>
              <a:t>works</a:t>
            </a:r>
            <a:r>
              <a:rPr lang="en-US" sz="1050" b="0" dirty="0">
                <a:solidFill>
                  <a:srgbClr val="334155"/>
                </a:solidFill>
                <a:latin typeface="Roboto"/>
              </a:rPr>
              <a:t> but what if we needed a </a:t>
            </a:r>
            <a:r>
              <a:rPr lang="en-US" sz="1050" b="1" dirty="0" err="1">
                <a:solidFill>
                  <a:srgbClr val="334155"/>
                </a:solidFill>
                <a:latin typeface="Roboto"/>
              </a:rPr>
              <a:t>GoldenRetriever</a:t>
            </a:r>
            <a:r>
              <a:rPr lang="en-US" sz="1050" b="0" dirty="0">
                <a:solidFill>
                  <a:srgbClr val="334155"/>
                </a:solidFill>
                <a:latin typeface="Roboto"/>
              </a:rPr>
              <a:t>, a </a:t>
            </a:r>
            <a:r>
              <a:rPr lang="en-US" sz="1050" b="1" dirty="0">
                <a:solidFill>
                  <a:srgbClr val="334155"/>
                </a:solidFill>
                <a:latin typeface="Roboto"/>
              </a:rPr>
              <a:t>Poodle</a:t>
            </a:r>
            <a:r>
              <a:rPr lang="en-US" sz="1050" b="0" dirty="0">
                <a:solidFill>
                  <a:srgbClr val="334155"/>
                </a:solidFill>
                <a:latin typeface="Roboto"/>
              </a:rPr>
              <a:t>, and a </a:t>
            </a:r>
            <a:r>
              <a:rPr lang="en-US" sz="1050" b="1" dirty="0">
                <a:solidFill>
                  <a:srgbClr val="334155"/>
                </a:solidFill>
                <a:latin typeface="Roboto"/>
              </a:rPr>
              <a:t>Labrador</a:t>
            </a:r>
            <a:r>
              <a:rPr lang="en-US" sz="1050" dirty="0">
                <a:solidFill>
                  <a:srgbClr val="334155"/>
                </a:solidFill>
                <a:latin typeface="Roboto"/>
              </a:rPr>
              <a:t>?</a:t>
            </a:r>
            <a:endParaRPr lang="en-US" sz="1050" b="0" dirty="0">
              <a:solidFill>
                <a:srgbClr val="334155"/>
              </a:solidFill>
              <a:latin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Inheritance: Extend and Specialize</a:t>
            </a:r>
          </a:p>
        </p:txBody>
      </p:sp>
      <p:sp>
        <p:nvSpPr>
          <p:cNvPr id="10" name="Def"/>
          <p:cNvSpPr txBox="1"/>
          <p:nvPr/>
        </p:nvSpPr>
        <p:spPr>
          <a:xfrm>
            <a:off x="311700" y="1030000"/>
            <a:ext cx="8520600" cy="460000"/>
          </a:xfrm>
          <a:prstGeom prst="rect">
            <a:avLst/>
          </a:prstGeom>
          <a:noFill/>
        </p:spPr>
        <p:txBody>
          <a:bodyPr wrap="square" lIns="0" tIns="0" rIns="0" bIns="0" anchor="t">
            <a:noAutofit/>
          </a:bodyPr>
          <a:lstStyle/>
          <a:p>
            <a:pPr marL="0" indent="0">
              <a:spcAft>
                <a:spcPts val="200"/>
              </a:spcAft>
              <a:buNone/>
            </a:pPr>
            <a:r>
              <a:rPr lang="en-US" sz="1300" b="0" dirty="0">
                <a:solidFill>
                  <a:srgbClr val="334155"/>
                </a:solidFill>
                <a:latin typeface="Roboto"/>
              </a:rPr>
              <a:t>Inheritance lets a new class </a:t>
            </a:r>
            <a:r>
              <a:rPr lang="en-US" sz="1300" b="1" dirty="0">
                <a:solidFill>
                  <a:srgbClr val="334155"/>
                </a:solidFill>
                <a:latin typeface="Roboto"/>
              </a:rPr>
              <a:t>absorb the fields and methods</a:t>
            </a:r>
            <a:r>
              <a:rPr lang="en-US" sz="1300" b="0" dirty="0">
                <a:solidFill>
                  <a:srgbClr val="334155"/>
                </a:solidFill>
                <a:latin typeface="Roboto"/>
              </a:rPr>
              <a:t> of an existing class</a:t>
            </a:r>
          </a:p>
        </p:txBody>
      </p:sp>
      <p:sp>
        <p:nvSpPr>
          <p:cNvPr id="11" name="hb"/>
          <p:cNvSpPr/>
          <p:nvPr/>
        </p:nvSpPr>
        <p:spPr>
          <a:xfrm>
            <a:off x="311700" y="1620000"/>
            <a:ext cx="3250000" cy="6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2" name="hbstripe"/>
          <p:cNvSpPr/>
          <p:nvPr/>
        </p:nvSpPr>
        <p:spPr>
          <a:xfrm>
            <a:off x="311700" y="1620000"/>
            <a:ext cx="60000" cy="640000"/>
          </a:xfrm>
          <a:prstGeom prst="roundRect">
            <a:avLst>
              <a:gd name="adj" fmla="val 40000"/>
            </a:avLst>
          </a:prstGeom>
          <a:solidFill>
            <a:srgbClr val="2563EB"/>
          </a:solidFill>
          <a:ln>
            <a:noFill/>
          </a:ln>
        </p:spPr>
        <p:txBody>
          <a:bodyPr/>
          <a:lstStyle/>
          <a:p>
            <a:endParaRPr/>
          </a:p>
        </p:txBody>
      </p:sp>
      <p:sp>
        <p:nvSpPr>
          <p:cNvPr id="13" name="hbt"/>
          <p:cNvSpPr txBox="1"/>
          <p:nvPr/>
        </p:nvSpPr>
        <p:spPr>
          <a:xfrm>
            <a:off x="491700" y="1710000"/>
            <a:ext cx="2990000" cy="480000"/>
          </a:xfrm>
          <a:prstGeom prst="rect">
            <a:avLst/>
          </a:prstGeom>
          <a:noFill/>
        </p:spPr>
        <p:txBody>
          <a:bodyPr wrap="square" lIns="0" tIns="0" rIns="0" bIns="0" anchor="ctr">
            <a:noAutofit/>
          </a:bodyPr>
          <a:lstStyle/>
          <a:p>
            <a:pPr marL="0" indent="0">
              <a:spcAft>
                <a:spcPts val="100"/>
              </a:spcAft>
              <a:buNone/>
            </a:pPr>
            <a:r>
              <a:rPr lang="en-US" sz="1150" b="1">
                <a:solidFill>
                  <a:srgbClr val="2563EB"/>
                </a:solidFill>
                <a:latin typeface="Consolas"/>
              </a:rPr>
              <a:t>Animal</a:t>
            </a:r>
          </a:p>
          <a:p>
            <a:pPr marL="0" indent="0">
              <a:spcAft>
                <a:spcPts val="60"/>
              </a:spcAft>
              <a:buNone/>
            </a:pPr>
            <a:r>
              <a:rPr lang="en-US" sz="900" b="0">
                <a:solidFill>
                  <a:srgbClr val="64748B"/>
                </a:solidFill>
                <a:latin typeface="Roboto"/>
              </a:rPr>
              <a:t>fields: </a:t>
            </a:r>
            <a:r>
              <a:rPr lang="en-US" sz="900" b="0">
                <a:solidFill>
                  <a:srgbClr val="334155"/>
                </a:solidFill>
                <a:latin typeface="Consolas"/>
              </a:rPr>
              <a:t>name, age</a:t>
            </a:r>
          </a:p>
          <a:p>
            <a:pPr marL="0" indent="0">
              <a:spcAft>
                <a:spcPts val="0"/>
              </a:spcAft>
              <a:buNone/>
            </a:pPr>
            <a:r>
              <a:rPr lang="en-US" sz="900" b="0">
                <a:solidFill>
                  <a:srgbClr val="64748B"/>
                </a:solidFill>
                <a:latin typeface="Roboto"/>
              </a:rPr>
              <a:t>methods: </a:t>
            </a:r>
            <a:r>
              <a:rPr lang="en-US" sz="900" b="0">
                <a:solidFill>
                  <a:srgbClr val="334155"/>
                </a:solidFill>
                <a:latin typeface="Consolas"/>
              </a:rPr>
              <a:t>eat(), sleep()</a:t>
            </a:r>
          </a:p>
        </p:txBody>
      </p:sp>
      <p:sp>
        <p:nvSpPr>
          <p:cNvPr id="14" name="hb"/>
          <p:cNvSpPr/>
          <p:nvPr/>
        </p:nvSpPr>
        <p:spPr>
          <a:xfrm>
            <a:off x="311700" y="2500000"/>
            <a:ext cx="3250000" cy="6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5" name="hbstripe"/>
          <p:cNvSpPr/>
          <p:nvPr/>
        </p:nvSpPr>
        <p:spPr>
          <a:xfrm>
            <a:off x="311700" y="2500000"/>
            <a:ext cx="60000" cy="680000"/>
          </a:xfrm>
          <a:prstGeom prst="roundRect">
            <a:avLst>
              <a:gd name="adj" fmla="val 40000"/>
            </a:avLst>
          </a:prstGeom>
          <a:solidFill>
            <a:srgbClr val="06B6D4"/>
          </a:solidFill>
          <a:ln>
            <a:noFill/>
          </a:ln>
        </p:spPr>
        <p:txBody>
          <a:bodyPr/>
          <a:lstStyle/>
          <a:p>
            <a:endParaRPr/>
          </a:p>
        </p:txBody>
      </p:sp>
      <p:sp>
        <p:nvSpPr>
          <p:cNvPr id="16" name="hbt"/>
          <p:cNvSpPr txBox="1"/>
          <p:nvPr/>
        </p:nvSpPr>
        <p:spPr>
          <a:xfrm>
            <a:off x="491700" y="2590000"/>
            <a:ext cx="2990000" cy="520000"/>
          </a:xfrm>
          <a:prstGeom prst="rect">
            <a:avLst/>
          </a:prstGeom>
          <a:noFill/>
        </p:spPr>
        <p:txBody>
          <a:bodyPr wrap="square" lIns="0" tIns="0" rIns="0" bIns="0" anchor="ctr">
            <a:noAutofit/>
          </a:bodyPr>
          <a:lstStyle/>
          <a:p>
            <a:pPr marL="0" indent="0">
              <a:spcAft>
                <a:spcPts val="100"/>
              </a:spcAft>
              <a:buNone/>
            </a:pPr>
            <a:r>
              <a:rPr lang="en-US" sz="1150" b="1">
                <a:solidFill>
                  <a:srgbClr val="06B6D4"/>
                </a:solidFill>
                <a:latin typeface="Consolas"/>
              </a:rPr>
              <a:t>Dog</a:t>
            </a:r>
          </a:p>
          <a:p>
            <a:pPr marL="0" indent="0">
              <a:spcAft>
                <a:spcPts val="60"/>
              </a:spcAft>
              <a:buNone/>
            </a:pPr>
            <a:r>
              <a:rPr lang="en-US" sz="900" b="0">
                <a:solidFill>
                  <a:srgbClr val="64748B"/>
                </a:solidFill>
                <a:latin typeface="Roboto"/>
              </a:rPr>
              <a:t>inherits </a:t>
            </a:r>
            <a:r>
              <a:rPr lang="en-US" sz="900" b="0">
                <a:solidFill>
                  <a:srgbClr val="334155"/>
                </a:solidFill>
                <a:latin typeface="Roboto"/>
              </a:rPr>
              <a:t>everything from Animal</a:t>
            </a:r>
          </a:p>
          <a:p>
            <a:pPr marL="0" indent="0">
              <a:spcAft>
                <a:spcPts val="0"/>
              </a:spcAft>
              <a:buNone/>
            </a:pPr>
            <a:r>
              <a:rPr lang="en-US" sz="900" b="0">
                <a:solidFill>
                  <a:srgbClr val="64748B"/>
                </a:solidFill>
                <a:latin typeface="Roboto"/>
              </a:rPr>
              <a:t>adds: </a:t>
            </a:r>
            <a:r>
              <a:rPr lang="en-US" sz="900" b="0">
                <a:solidFill>
                  <a:srgbClr val="334155"/>
                </a:solidFill>
                <a:latin typeface="Consolas"/>
              </a:rPr>
              <a:t>breed</a:t>
            </a:r>
            <a:r>
              <a:rPr lang="en-US" sz="900" b="0">
                <a:solidFill>
                  <a:srgbClr val="64748B"/>
                </a:solidFill>
                <a:latin typeface="Roboto"/>
              </a:rPr>
              <a:t>  /  </a:t>
            </a:r>
            <a:r>
              <a:rPr lang="en-US" sz="900" b="0">
                <a:solidFill>
                  <a:srgbClr val="334155"/>
                </a:solidFill>
                <a:latin typeface="Consolas"/>
              </a:rPr>
              <a:t>bark()</a:t>
            </a:r>
          </a:p>
        </p:txBody>
      </p:sp>
      <p:sp>
        <p:nvSpPr>
          <p:cNvPr id="17" name="hb"/>
          <p:cNvSpPr/>
          <p:nvPr/>
        </p:nvSpPr>
        <p:spPr>
          <a:xfrm>
            <a:off x="311700" y="3420000"/>
            <a:ext cx="3250000" cy="70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8" name="hbstripe"/>
          <p:cNvSpPr/>
          <p:nvPr/>
        </p:nvSpPr>
        <p:spPr>
          <a:xfrm>
            <a:off x="311700" y="3420000"/>
            <a:ext cx="60000" cy="700000"/>
          </a:xfrm>
          <a:prstGeom prst="roundRect">
            <a:avLst>
              <a:gd name="adj" fmla="val 40000"/>
            </a:avLst>
          </a:prstGeom>
          <a:solidFill>
            <a:srgbClr val="7C3AED"/>
          </a:solidFill>
          <a:ln>
            <a:noFill/>
          </a:ln>
        </p:spPr>
        <p:txBody>
          <a:bodyPr/>
          <a:lstStyle/>
          <a:p>
            <a:endParaRPr/>
          </a:p>
        </p:txBody>
      </p:sp>
      <p:sp>
        <p:nvSpPr>
          <p:cNvPr id="19" name="hbt"/>
          <p:cNvSpPr txBox="1"/>
          <p:nvPr/>
        </p:nvSpPr>
        <p:spPr>
          <a:xfrm>
            <a:off x="491700" y="3510000"/>
            <a:ext cx="2990000" cy="540000"/>
          </a:xfrm>
          <a:prstGeom prst="rect">
            <a:avLst/>
          </a:prstGeom>
          <a:noFill/>
        </p:spPr>
        <p:txBody>
          <a:bodyPr wrap="square" lIns="0" tIns="0" rIns="0" bIns="0" anchor="ctr">
            <a:noAutofit/>
          </a:bodyPr>
          <a:lstStyle/>
          <a:p>
            <a:pPr marL="0" indent="0">
              <a:spcAft>
                <a:spcPts val="100"/>
              </a:spcAft>
              <a:buNone/>
            </a:pPr>
            <a:r>
              <a:rPr lang="en-US" sz="1150" b="1">
                <a:solidFill>
                  <a:srgbClr val="7C3AED"/>
                </a:solidFill>
                <a:latin typeface="Consolas"/>
              </a:rPr>
              <a:t>GoldenRetriever</a:t>
            </a:r>
          </a:p>
          <a:p>
            <a:pPr marL="0" indent="0">
              <a:spcAft>
                <a:spcPts val="60"/>
              </a:spcAft>
              <a:buNone/>
            </a:pPr>
            <a:r>
              <a:rPr lang="en-US" sz="900" b="0">
                <a:solidFill>
                  <a:srgbClr val="64748B"/>
                </a:solidFill>
                <a:latin typeface="Roboto"/>
              </a:rPr>
              <a:t>inherits </a:t>
            </a:r>
            <a:r>
              <a:rPr lang="en-US" sz="900" b="0">
                <a:solidFill>
                  <a:srgbClr val="334155"/>
                </a:solidFill>
                <a:latin typeface="Roboto"/>
              </a:rPr>
              <a:t>everything from Dog</a:t>
            </a:r>
          </a:p>
          <a:p>
            <a:pPr marL="0" indent="0">
              <a:spcAft>
                <a:spcPts val="0"/>
              </a:spcAft>
              <a:buNone/>
            </a:pPr>
            <a:r>
              <a:rPr lang="en-US" sz="900" b="0">
                <a:solidFill>
                  <a:srgbClr val="64748B"/>
                </a:solidFill>
                <a:latin typeface="Roboto"/>
              </a:rPr>
              <a:t>adds: </a:t>
            </a:r>
            <a:r>
              <a:rPr lang="en-US" sz="900" b="0">
                <a:solidFill>
                  <a:srgbClr val="334155"/>
                </a:solidFill>
                <a:latin typeface="Consolas"/>
              </a:rPr>
              <a:t>isFriendly</a:t>
            </a:r>
            <a:r>
              <a:rPr lang="en-US" sz="900" b="0">
                <a:solidFill>
                  <a:srgbClr val="64748B"/>
                </a:solidFill>
                <a:latin typeface="Roboto"/>
              </a:rPr>
              <a:t>  /  </a:t>
            </a:r>
            <a:r>
              <a:rPr lang="en-US" sz="900" b="0">
                <a:solidFill>
                  <a:srgbClr val="334155"/>
                </a:solidFill>
                <a:latin typeface="Consolas"/>
              </a:rPr>
              <a:t>fetch()</a:t>
            </a:r>
          </a:p>
        </p:txBody>
      </p:sp>
      <p:sp>
        <p:nvSpPr>
          <p:cNvPr id="20" name="ar"/>
          <p:cNvSpPr/>
          <p:nvPr/>
        </p:nvSpPr>
        <p:spPr>
          <a:xfrm>
            <a:off x="1846700" y="2270000"/>
            <a:ext cx="180000" cy="190000"/>
          </a:xfrm>
          <a:prstGeom prst="downArrow">
            <a:avLst>
              <a:gd name="adj1" fmla="val 45000"/>
              <a:gd name="adj2" fmla="val 55000"/>
            </a:avLst>
          </a:prstGeom>
          <a:solidFill>
            <a:srgbClr val="64748B"/>
          </a:solidFill>
          <a:ln>
            <a:noFill/>
          </a:ln>
        </p:spPr>
        <p:txBody>
          <a:bodyPr/>
          <a:lstStyle/>
          <a:p>
            <a:endParaRPr/>
          </a:p>
        </p:txBody>
      </p:sp>
      <p:sp>
        <p:nvSpPr>
          <p:cNvPr id="21" name="arl"/>
          <p:cNvSpPr txBox="1"/>
          <p:nvPr/>
        </p:nvSpPr>
        <p:spPr>
          <a:xfrm>
            <a:off x="2076700" y="2270000"/>
            <a:ext cx="900000" cy="190000"/>
          </a:xfrm>
          <a:prstGeom prst="rect">
            <a:avLst/>
          </a:prstGeom>
          <a:noFill/>
        </p:spPr>
        <p:txBody>
          <a:bodyPr wrap="square" lIns="0" tIns="0" rIns="0" bIns="0" anchor="ctr">
            <a:noAutofit/>
          </a:bodyPr>
          <a:lstStyle/>
          <a:p>
            <a:pPr marL="0" indent="0">
              <a:spcAft>
                <a:spcPts val="0"/>
              </a:spcAft>
              <a:buNone/>
            </a:pPr>
            <a:r>
              <a:rPr lang="en-US" sz="850" b="0" i="1">
                <a:solidFill>
                  <a:srgbClr val="64748B"/>
                </a:solidFill>
                <a:latin typeface="Roboto"/>
              </a:rPr>
              <a:t>extends</a:t>
            </a:r>
          </a:p>
        </p:txBody>
      </p:sp>
      <p:sp>
        <p:nvSpPr>
          <p:cNvPr id="22" name="ar"/>
          <p:cNvSpPr/>
          <p:nvPr/>
        </p:nvSpPr>
        <p:spPr>
          <a:xfrm>
            <a:off x="1846700" y="3190000"/>
            <a:ext cx="180000" cy="190000"/>
          </a:xfrm>
          <a:prstGeom prst="downArrow">
            <a:avLst>
              <a:gd name="adj1" fmla="val 45000"/>
              <a:gd name="adj2" fmla="val 55000"/>
            </a:avLst>
          </a:prstGeom>
          <a:solidFill>
            <a:srgbClr val="64748B"/>
          </a:solidFill>
          <a:ln>
            <a:noFill/>
          </a:ln>
        </p:spPr>
        <p:txBody>
          <a:bodyPr/>
          <a:lstStyle/>
          <a:p>
            <a:endParaRPr/>
          </a:p>
        </p:txBody>
      </p:sp>
      <p:sp>
        <p:nvSpPr>
          <p:cNvPr id="23" name="arl"/>
          <p:cNvSpPr txBox="1"/>
          <p:nvPr/>
        </p:nvSpPr>
        <p:spPr>
          <a:xfrm>
            <a:off x="2076700" y="3190000"/>
            <a:ext cx="900000" cy="190000"/>
          </a:xfrm>
          <a:prstGeom prst="rect">
            <a:avLst/>
          </a:prstGeom>
          <a:noFill/>
        </p:spPr>
        <p:txBody>
          <a:bodyPr wrap="square" lIns="0" tIns="0" rIns="0" bIns="0" anchor="ctr">
            <a:noAutofit/>
          </a:bodyPr>
          <a:lstStyle/>
          <a:p>
            <a:pPr marL="0" indent="0">
              <a:spcAft>
                <a:spcPts val="0"/>
              </a:spcAft>
              <a:buNone/>
            </a:pPr>
            <a:r>
              <a:rPr lang="en-US" sz="850" b="0" i="1">
                <a:solidFill>
                  <a:srgbClr val="64748B"/>
                </a:solidFill>
                <a:latin typeface="Roboto"/>
              </a:rPr>
              <a:t>extends</a:t>
            </a:r>
          </a:p>
        </p:txBody>
      </p:sp>
      <p:sp>
        <p:nvSpPr>
          <p:cNvPr id="24" name="gc"/>
          <p:cNvSpPr/>
          <p:nvPr/>
        </p:nvSpPr>
        <p:spPr>
          <a:xfrm>
            <a:off x="3760000" y="1620000"/>
            <a:ext cx="2446000" cy="11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5" name="B25"/>
          <p:cNvSpPr/>
          <p:nvPr/>
        </p:nvSpPr>
        <p:spPr>
          <a:xfrm>
            <a:off x="3910000" y="1760000"/>
            <a:ext cx="280000" cy="280000"/>
          </a:xfrm>
          <a:prstGeom prst="ellipse">
            <a:avLst/>
          </a:prstGeom>
          <a:solidFill>
            <a:srgbClr val="2563EB"/>
          </a:solidFill>
          <a:ln>
            <a:noFill/>
          </a:ln>
        </p:spPr>
        <p:txBody>
          <a:bodyPr/>
          <a:lstStyle/>
          <a:p>
            <a:endParaRPr/>
          </a:p>
        </p:txBody>
      </p:sp>
      <p:sp>
        <p:nvSpPr>
          <p:cNvPr id="26" name="BG26"/>
          <p:cNvSpPr txBox="1"/>
          <p:nvPr/>
        </p:nvSpPr>
        <p:spPr>
          <a:xfrm>
            <a:off x="3910000" y="176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27" name="HD"/>
          <p:cNvSpPr txBox="1"/>
          <p:nvPr/>
        </p:nvSpPr>
        <p:spPr>
          <a:xfrm>
            <a:off x="4310000" y="1760000"/>
            <a:ext cx="1946000" cy="280000"/>
          </a:xfrm>
          <a:prstGeom prst="rect">
            <a:avLst/>
          </a:prstGeom>
          <a:noFill/>
        </p:spPr>
        <p:txBody>
          <a:bodyPr wrap="square" lIns="0" tIns="0" rIns="0" bIns="0" anchor="ctr">
            <a:noAutofit/>
          </a:bodyPr>
          <a:lstStyle/>
          <a:p>
            <a:pPr marL="0" indent="0">
              <a:spcAft>
                <a:spcPts val="0"/>
              </a:spcAft>
              <a:buNone/>
            </a:pPr>
            <a:r>
              <a:rPr lang="en-US" sz="750" b="1" spc="140">
                <a:solidFill>
                  <a:srgbClr val="2563EB"/>
                </a:solidFill>
                <a:latin typeface="Roboto"/>
              </a:rPr>
              <a:t>IS-A RELATIONSHIP</a:t>
            </a:r>
          </a:p>
        </p:txBody>
      </p:sp>
      <p:sp>
        <p:nvSpPr>
          <p:cNvPr id="28" name="BD"/>
          <p:cNvSpPr txBox="1"/>
          <p:nvPr/>
        </p:nvSpPr>
        <p:spPr>
          <a:xfrm>
            <a:off x="3930000" y="2160000"/>
            <a:ext cx="2126000" cy="560000"/>
          </a:xfrm>
          <a:prstGeom prst="rect">
            <a:avLst/>
          </a:prstGeom>
          <a:noFill/>
        </p:spPr>
        <p:txBody>
          <a:bodyPr wrap="square" lIns="0" tIns="0" rIns="0" bIns="0" anchor="t">
            <a:noAutofit/>
          </a:bodyPr>
          <a:lstStyle/>
          <a:p>
            <a:pPr marL="0" indent="0">
              <a:spcAft>
                <a:spcPts val="0"/>
              </a:spcAft>
              <a:buNone/>
            </a:pPr>
            <a:r>
              <a:rPr lang="en-US" sz="900" b="0" dirty="0">
                <a:solidFill>
                  <a:srgbClr val="334155"/>
                </a:solidFill>
                <a:latin typeface="Roboto"/>
              </a:rPr>
              <a:t>A </a:t>
            </a:r>
            <a:r>
              <a:rPr lang="en-US" sz="900" b="1" dirty="0" err="1">
                <a:solidFill>
                  <a:srgbClr val="334155"/>
                </a:solidFill>
                <a:latin typeface="Roboto"/>
              </a:rPr>
              <a:t>GoldenRetriever</a:t>
            </a:r>
            <a:r>
              <a:rPr lang="en-US" sz="900" b="1" dirty="0">
                <a:solidFill>
                  <a:srgbClr val="2563EB"/>
                </a:solidFill>
                <a:latin typeface="Roboto"/>
              </a:rPr>
              <a:t> IS-A </a:t>
            </a:r>
            <a:r>
              <a:rPr lang="en-US" sz="900" b="1" dirty="0">
                <a:solidFill>
                  <a:srgbClr val="334155"/>
                </a:solidFill>
                <a:latin typeface="Roboto"/>
              </a:rPr>
              <a:t>Dog</a:t>
            </a:r>
            <a:r>
              <a:rPr lang="en-US" sz="900" b="0" dirty="0">
                <a:solidFill>
                  <a:srgbClr val="334155"/>
                </a:solidFill>
                <a:latin typeface="Roboto"/>
              </a:rPr>
              <a:t>. A </a:t>
            </a:r>
            <a:r>
              <a:rPr lang="en-US" sz="900" b="1" dirty="0">
                <a:solidFill>
                  <a:srgbClr val="334155"/>
                </a:solidFill>
                <a:latin typeface="Roboto"/>
              </a:rPr>
              <a:t>Dog</a:t>
            </a:r>
            <a:r>
              <a:rPr lang="en-US" sz="900" b="1" dirty="0">
                <a:solidFill>
                  <a:srgbClr val="2563EB"/>
                </a:solidFill>
                <a:latin typeface="Roboto"/>
              </a:rPr>
              <a:t> IS-AN </a:t>
            </a:r>
            <a:r>
              <a:rPr lang="en-US" sz="900" b="1" dirty="0">
                <a:solidFill>
                  <a:srgbClr val="334155"/>
                </a:solidFill>
                <a:latin typeface="Roboto"/>
              </a:rPr>
              <a:t>Animal</a:t>
            </a:r>
            <a:r>
              <a:rPr lang="en-US" sz="900" b="0" dirty="0">
                <a:solidFill>
                  <a:srgbClr val="334155"/>
                </a:solidFill>
                <a:latin typeface="Roboto"/>
              </a:rPr>
              <a:t>. The subclass </a:t>
            </a:r>
            <a:r>
              <a:rPr lang="en-US" sz="900" b="0" i="1" dirty="0">
                <a:solidFill>
                  <a:srgbClr val="334155"/>
                </a:solidFill>
                <a:latin typeface="Roboto"/>
              </a:rPr>
              <a:t>can</a:t>
            </a:r>
            <a:r>
              <a:rPr lang="en-US" sz="900" b="0" dirty="0">
                <a:solidFill>
                  <a:srgbClr val="334155"/>
                </a:solidFill>
                <a:latin typeface="Roboto"/>
              </a:rPr>
              <a:t> do everything the parent can, and more.</a:t>
            </a:r>
          </a:p>
        </p:txBody>
      </p:sp>
      <p:sp>
        <p:nvSpPr>
          <p:cNvPr id="29" name="gc"/>
          <p:cNvSpPr/>
          <p:nvPr/>
        </p:nvSpPr>
        <p:spPr>
          <a:xfrm>
            <a:off x="6386000" y="1620000"/>
            <a:ext cx="2446000" cy="11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0" name="B30"/>
          <p:cNvSpPr/>
          <p:nvPr/>
        </p:nvSpPr>
        <p:spPr>
          <a:xfrm>
            <a:off x="6536000" y="1760000"/>
            <a:ext cx="280000" cy="280000"/>
          </a:xfrm>
          <a:prstGeom prst="ellipse">
            <a:avLst/>
          </a:prstGeom>
          <a:solidFill>
            <a:srgbClr val="22C55E"/>
          </a:solidFill>
          <a:ln>
            <a:noFill/>
          </a:ln>
        </p:spPr>
        <p:txBody>
          <a:bodyPr/>
          <a:lstStyle/>
          <a:p>
            <a:endParaRPr/>
          </a:p>
        </p:txBody>
      </p:sp>
      <p:sp>
        <p:nvSpPr>
          <p:cNvPr id="31" name="BG31"/>
          <p:cNvSpPr txBox="1"/>
          <p:nvPr/>
        </p:nvSpPr>
        <p:spPr>
          <a:xfrm>
            <a:off x="6536000" y="176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32" name="HD"/>
          <p:cNvSpPr txBox="1"/>
          <p:nvPr/>
        </p:nvSpPr>
        <p:spPr>
          <a:xfrm>
            <a:off x="6936000" y="1760000"/>
            <a:ext cx="1946000" cy="280000"/>
          </a:xfrm>
          <a:prstGeom prst="rect">
            <a:avLst/>
          </a:prstGeom>
          <a:noFill/>
        </p:spPr>
        <p:txBody>
          <a:bodyPr wrap="square" lIns="0" tIns="0" rIns="0" bIns="0" anchor="ctr">
            <a:noAutofit/>
          </a:bodyPr>
          <a:lstStyle/>
          <a:p>
            <a:pPr marL="0" indent="0">
              <a:spcAft>
                <a:spcPts val="0"/>
              </a:spcAft>
              <a:buNone/>
            </a:pPr>
            <a:r>
              <a:rPr lang="en-US" sz="750" b="1" spc="140">
                <a:solidFill>
                  <a:srgbClr val="22C55E"/>
                </a:solidFill>
                <a:latin typeface="Roboto"/>
              </a:rPr>
              <a:t>CODE REUSE</a:t>
            </a:r>
          </a:p>
        </p:txBody>
      </p:sp>
      <p:sp>
        <p:nvSpPr>
          <p:cNvPr id="33" name="BD"/>
          <p:cNvSpPr txBox="1"/>
          <p:nvPr/>
        </p:nvSpPr>
        <p:spPr>
          <a:xfrm>
            <a:off x="6556000" y="2160000"/>
            <a:ext cx="2126000" cy="560000"/>
          </a:xfrm>
          <a:prstGeom prst="rect">
            <a:avLst/>
          </a:prstGeom>
          <a:noFill/>
        </p:spPr>
        <p:txBody>
          <a:bodyPr wrap="square" lIns="0" tIns="0" rIns="0" bIns="0" anchor="t">
            <a:noAutofit/>
          </a:bodyPr>
          <a:lstStyle/>
          <a:p>
            <a:pPr marL="0" indent="0">
              <a:spcAft>
                <a:spcPts val="0"/>
              </a:spcAft>
              <a:buNone/>
            </a:pPr>
            <a:r>
              <a:rPr lang="en-US" sz="900" b="0" dirty="0">
                <a:solidFill>
                  <a:srgbClr val="334155"/>
                </a:solidFill>
                <a:latin typeface="Roboto"/>
              </a:rPr>
              <a:t>Write </a:t>
            </a:r>
            <a:r>
              <a:rPr lang="en-US" sz="900" b="1" dirty="0">
                <a:solidFill>
                  <a:srgbClr val="334155"/>
                </a:solidFill>
                <a:latin typeface="Consolas"/>
              </a:rPr>
              <a:t>eat()</a:t>
            </a:r>
            <a:r>
              <a:rPr lang="en-US" sz="900" b="0" dirty="0">
                <a:solidFill>
                  <a:srgbClr val="334155"/>
                </a:solidFill>
                <a:latin typeface="Roboto"/>
              </a:rPr>
              <a:t> once in Animal. Every subclass gets it free.</a:t>
            </a:r>
          </a:p>
        </p:txBody>
      </p:sp>
      <p:sp>
        <p:nvSpPr>
          <p:cNvPr id="34" name="gc"/>
          <p:cNvSpPr/>
          <p:nvPr/>
        </p:nvSpPr>
        <p:spPr>
          <a:xfrm>
            <a:off x="3760000" y="2900000"/>
            <a:ext cx="2446000" cy="11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5" name="B35"/>
          <p:cNvSpPr/>
          <p:nvPr/>
        </p:nvSpPr>
        <p:spPr>
          <a:xfrm>
            <a:off x="3910000" y="3040000"/>
            <a:ext cx="280000" cy="280000"/>
          </a:xfrm>
          <a:prstGeom prst="ellipse">
            <a:avLst/>
          </a:prstGeom>
          <a:solidFill>
            <a:srgbClr val="7C3AED"/>
          </a:solidFill>
          <a:ln>
            <a:noFill/>
          </a:ln>
        </p:spPr>
        <p:txBody>
          <a:bodyPr/>
          <a:lstStyle/>
          <a:p>
            <a:endParaRPr/>
          </a:p>
        </p:txBody>
      </p:sp>
      <p:sp>
        <p:nvSpPr>
          <p:cNvPr id="36" name="BG36"/>
          <p:cNvSpPr txBox="1"/>
          <p:nvPr/>
        </p:nvSpPr>
        <p:spPr>
          <a:xfrm>
            <a:off x="3910000" y="304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37" name="HD"/>
          <p:cNvSpPr txBox="1"/>
          <p:nvPr/>
        </p:nvSpPr>
        <p:spPr>
          <a:xfrm>
            <a:off x="4310000" y="3040000"/>
            <a:ext cx="1946000" cy="280000"/>
          </a:xfrm>
          <a:prstGeom prst="rect">
            <a:avLst/>
          </a:prstGeom>
          <a:noFill/>
        </p:spPr>
        <p:txBody>
          <a:bodyPr wrap="square" lIns="0" tIns="0" rIns="0" bIns="0" anchor="ctr">
            <a:noAutofit/>
          </a:bodyPr>
          <a:lstStyle/>
          <a:p>
            <a:pPr marL="0" indent="0">
              <a:spcAft>
                <a:spcPts val="0"/>
              </a:spcAft>
              <a:buNone/>
            </a:pPr>
            <a:r>
              <a:rPr lang="en-US" sz="750" b="1" spc="140">
                <a:solidFill>
                  <a:srgbClr val="7C3AED"/>
                </a:solidFill>
                <a:latin typeface="Roboto"/>
              </a:rPr>
              <a:t>OVERRIDE WHEN NEEDED</a:t>
            </a:r>
          </a:p>
        </p:txBody>
      </p:sp>
      <p:sp>
        <p:nvSpPr>
          <p:cNvPr id="38" name="BD"/>
          <p:cNvSpPr txBox="1"/>
          <p:nvPr/>
        </p:nvSpPr>
        <p:spPr>
          <a:xfrm>
            <a:off x="3930000" y="3440000"/>
            <a:ext cx="2126000" cy="560000"/>
          </a:xfrm>
          <a:prstGeom prst="rect">
            <a:avLst/>
          </a:prstGeom>
          <a:noFill/>
        </p:spPr>
        <p:txBody>
          <a:bodyPr wrap="square" lIns="0" tIns="0" rIns="0" bIns="0" anchor="t">
            <a:noAutofit/>
          </a:bodyPr>
          <a:lstStyle/>
          <a:p>
            <a:pPr marL="0" indent="0">
              <a:spcAft>
                <a:spcPts val="0"/>
              </a:spcAft>
              <a:buNone/>
            </a:pPr>
            <a:r>
              <a:rPr lang="en-US" sz="900" b="0" dirty="0">
                <a:solidFill>
                  <a:srgbClr val="334155"/>
                </a:solidFill>
                <a:latin typeface="Roboto"/>
              </a:rPr>
              <a:t>Subclasses can </a:t>
            </a:r>
            <a:r>
              <a:rPr lang="en-US" sz="900" b="1" dirty="0">
                <a:solidFill>
                  <a:srgbClr val="334155"/>
                </a:solidFill>
                <a:latin typeface="Roboto"/>
              </a:rPr>
              <a:t>redefine</a:t>
            </a:r>
            <a:r>
              <a:rPr lang="en-US" sz="900" b="0" dirty="0">
                <a:solidFill>
                  <a:srgbClr val="334155"/>
                </a:solidFill>
                <a:latin typeface="Roboto"/>
              </a:rPr>
              <a:t> inherited methods to specialize them.</a:t>
            </a:r>
          </a:p>
        </p:txBody>
      </p:sp>
      <p:sp>
        <p:nvSpPr>
          <p:cNvPr id="39" name="gc"/>
          <p:cNvSpPr/>
          <p:nvPr/>
        </p:nvSpPr>
        <p:spPr>
          <a:xfrm>
            <a:off x="6386000" y="2900000"/>
            <a:ext cx="2446000" cy="11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40" name="B40"/>
          <p:cNvSpPr/>
          <p:nvPr/>
        </p:nvSpPr>
        <p:spPr>
          <a:xfrm>
            <a:off x="6536000" y="3040000"/>
            <a:ext cx="280000" cy="280000"/>
          </a:xfrm>
          <a:prstGeom prst="ellipse">
            <a:avLst/>
          </a:prstGeom>
          <a:solidFill>
            <a:srgbClr val="F59E0B"/>
          </a:solidFill>
          <a:ln>
            <a:noFill/>
          </a:ln>
        </p:spPr>
        <p:txBody>
          <a:bodyPr/>
          <a:lstStyle/>
          <a:p>
            <a:endParaRPr/>
          </a:p>
        </p:txBody>
      </p:sp>
      <p:sp>
        <p:nvSpPr>
          <p:cNvPr id="41" name="BG41"/>
          <p:cNvSpPr txBox="1"/>
          <p:nvPr/>
        </p:nvSpPr>
        <p:spPr>
          <a:xfrm>
            <a:off x="6536000" y="304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42" name="HD"/>
          <p:cNvSpPr txBox="1"/>
          <p:nvPr/>
        </p:nvSpPr>
        <p:spPr>
          <a:xfrm>
            <a:off x="6877650" y="3042657"/>
            <a:ext cx="1892700" cy="250000"/>
          </a:xfrm>
          <a:prstGeom prst="rect">
            <a:avLst/>
          </a:prstGeom>
          <a:noFill/>
        </p:spPr>
        <p:txBody>
          <a:bodyPr wrap="square" lIns="0" tIns="0" rIns="0" bIns="0" anchor="ctr">
            <a:noAutofit/>
          </a:bodyPr>
          <a:lstStyle/>
          <a:p>
            <a:pPr marL="0" indent="0">
              <a:spcAft>
                <a:spcPts val="0"/>
              </a:spcAft>
              <a:buNone/>
            </a:pPr>
            <a:r>
              <a:rPr lang="en-US" sz="750" b="1" spc="140" dirty="0">
                <a:solidFill>
                  <a:srgbClr val="F59E0B"/>
                </a:solidFill>
                <a:latin typeface="Roboto"/>
              </a:rPr>
              <a:t>CONSTRUCTORS NOT INHERITED</a:t>
            </a:r>
          </a:p>
        </p:txBody>
      </p:sp>
      <p:sp>
        <p:nvSpPr>
          <p:cNvPr id="43" name="BD"/>
          <p:cNvSpPr txBox="1"/>
          <p:nvPr/>
        </p:nvSpPr>
        <p:spPr>
          <a:xfrm>
            <a:off x="6556000" y="3440000"/>
            <a:ext cx="2126000" cy="560000"/>
          </a:xfrm>
          <a:prstGeom prst="rect">
            <a:avLst/>
          </a:prstGeom>
          <a:noFill/>
        </p:spPr>
        <p:txBody>
          <a:bodyPr wrap="square" lIns="0" tIns="0" rIns="0" bIns="0" anchor="t">
            <a:noAutofit/>
          </a:bodyPr>
          <a:lstStyle/>
          <a:p>
            <a:pPr marL="0" indent="0">
              <a:spcAft>
                <a:spcPts val="0"/>
              </a:spcAft>
              <a:buNone/>
            </a:pPr>
            <a:r>
              <a:rPr lang="en-US" sz="900" b="0">
                <a:solidFill>
                  <a:srgbClr val="334155"/>
                </a:solidFill>
                <a:latin typeface="Roboto"/>
              </a:rPr>
              <a:t>Use </a:t>
            </a:r>
            <a:r>
              <a:rPr lang="en-US" sz="900" b="1">
                <a:solidFill>
                  <a:srgbClr val="334155"/>
                </a:solidFill>
                <a:latin typeface="Consolas"/>
              </a:rPr>
              <a:t>super()</a:t>
            </a:r>
            <a:r>
              <a:rPr lang="en-US" sz="900" b="0">
                <a:solidFill>
                  <a:srgbClr val="334155"/>
                </a:solidFill>
                <a:latin typeface="Roboto"/>
              </a:rPr>
              <a:t> to call the parent constructor from a subclass.</a:t>
            </a:r>
          </a:p>
        </p:txBody>
      </p:sp>
      <p:sp>
        <p:nvSpPr>
          <p:cNvPr id="44" name="CO44"/>
          <p:cNvSpPr/>
          <p:nvPr/>
        </p:nvSpPr>
        <p:spPr>
          <a:xfrm>
            <a:off x="311700" y="4230000"/>
            <a:ext cx="8520600" cy="360000"/>
          </a:xfrm>
          <a:prstGeom prst="roundRect">
            <a:avLst>
              <a:gd name="adj" fmla="val 22000"/>
            </a:avLst>
          </a:prstGeom>
          <a:solidFill>
            <a:srgbClr val="2563EB">
              <a:alpha val="12000"/>
            </a:srgbClr>
          </a:solidFill>
          <a:ln>
            <a:noFill/>
          </a:ln>
        </p:spPr>
        <p:txBody>
          <a:bodyPr/>
          <a:lstStyle/>
          <a:p>
            <a:endParaRPr/>
          </a:p>
        </p:txBody>
      </p:sp>
      <p:sp>
        <p:nvSpPr>
          <p:cNvPr id="45" name="COT44"/>
          <p:cNvSpPr txBox="1"/>
          <p:nvPr/>
        </p:nvSpPr>
        <p:spPr>
          <a:xfrm>
            <a:off x="451700" y="4230000"/>
            <a:ext cx="8240600" cy="360000"/>
          </a:xfrm>
          <a:prstGeom prst="rect">
            <a:avLst/>
          </a:prstGeom>
          <a:noFill/>
        </p:spPr>
        <p:txBody>
          <a:bodyPr wrap="square" lIns="0" tIns="0" rIns="0" bIns="0" anchor="ctr">
            <a:noAutofit/>
          </a:bodyPr>
          <a:lstStyle/>
          <a:p>
            <a:pPr marL="0" indent="0" algn="ctr">
              <a:spcAft>
                <a:spcPts val="0"/>
              </a:spcAft>
              <a:buNone/>
            </a:pPr>
            <a:r>
              <a:rPr lang="en-US" sz="1050" b="0" dirty="0">
                <a:solidFill>
                  <a:srgbClr val="334155"/>
                </a:solidFill>
                <a:latin typeface="Roboto"/>
              </a:rPr>
              <a:t>The keyword in Java is </a:t>
            </a:r>
            <a:r>
              <a:rPr lang="en-US" sz="1050" b="1" dirty="0">
                <a:solidFill>
                  <a:srgbClr val="2563EB"/>
                </a:solidFill>
                <a:latin typeface="Consolas"/>
              </a:rPr>
              <a:t>extends</a:t>
            </a:r>
            <a:r>
              <a:rPr lang="en-US" sz="1050" b="1" dirty="0">
                <a:solidFill>
                  <a:srgbClr val="64748B"/>
                </a:solidFill>
                <a:latin typeface="Roboto"/>
              </a:rPr>
              <a:t>:</a:t>
            </a:r>
            <a:r>
              <a:rPr lang="en-US" sz="1050" b="0" dirty="0">
                <a:solidFill>
                  <a:srgbClr val="64748B"/>
                </a:solidFill>
                <a:latin typeface="Roboto"/>
              </a:rPr>
              <a:t>   </a:t>
            </a:r>
            <a:r>
              <a:rPr lang="en-US" sz="1000" b="0" dirty="0">
                <a:solidFill>
                  <a:srgbClr val="2563EB"/>
                </a:solidFill>
                <a:latin typeface="Consolas"/>
              </a:rPr>
              <a:t>public class </a:t>
            </a:r>
            <a:r>
              <a:rPr lang="en-US" sz="1000" b="0" dirty="0">
                <a:solidFill>
                  <a:srgbClr val="0E7490"/>
                </a:solidFill>
                <a:latin typeface="Consolas"/>
              </a:rPr>
              <a:t>Dog </a:t>
            </a:r>
            <a:r>
              <a:rPr lang="en-US" sz="1000" b="0" dirty="0">
                <a:solidFill>
                  <a:srgbClr val="2563EB"/>
                </a:solidFill>
                <a:latin typeface="Consolas"/>
              </a:rPr>
              <a:t>extends </a:t>
            </a:r>
            <a:r>
              <a:rPr lang="en-US" sz="1000" b="0" dirty="0">
                <a:solidFill>
                  <a:srgbClr val="0E7490"/>
                </a:solidFill>
                <a:latin typeface="Consolas"/>
              </a:rPr>
              <a:t>Animal </a:t>
            </a:r>
            <a:r>
              <a:rPr lang="en-US" sz="1000" b="0" dirty="0">
                <a:solidFill>
                  <a:srgbClr val="334155"/>
                </a:solidFill>
                <a:latin typeface="Consolas"/>
              </a:rPr>
              <a:t>{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super Keyword</a:t>
            </a:r>
          </a:p>
        </p:txBody>
      </p:sp>
      <p:sp>
        <p:nvSpPr>
          <p:cNvPr id="10" name="Def"/>
          <p:cNvSpPr txBox="1"/>
          <p:nvPr/>
        </p:nvSpPr>
        <p:spPr>
          <a:xfrm>
            <a:off x="311700" y="1015000"/>
            <a:ext cx="8520600" cy="420000"/>
          </a:xfrm>
          <a:prstGeom prst="rect">
            <a:avLst/>
          </a:prstGeom>
          <a:noFill/>
        </p:spPr>
        <p:txBody>
          <a:bodyPr wrap="square" lIns="0" tIns="0" rIns="0" bIns="0" anchor="t">
            <a:noAutofit/>
          </a:bodyPr>
          <a:lstStyle/>
          <a:p>
            <a:pPr marL="0" indent="0">
              <a:spcAft>
                <a:spcPts val="0"/>
              </a:spcAft>
              <a:buNone/>
            </a:pPr>
            <a:r>
              <a:rPr lang="en-US" sz="1300" b="1">
                <a:solidFill>
                  <a:srgbClr val="2563EB"/>
                </a:solidFill>
                <a:latin typeface="Consolas"/>
              </a:rPr>
              <a:t>super</a:t>
            </a:r>
            <a:r>
              <a:rPr lang="en-US" sz="1300" b="0">
                <a:solidFill>
                  <a:srgbClr val="334155"/>
                </a:solidFill>
                <a:latin typeface="Roboto"/>
              </a:rPr>
              <a:t> gives a subclass access to its </a:t>
            </a:r>
            <a:r>
              <a:rPr lang="en-US" sz="1300" b="1">
                <a:solidFill>
                  <a:srgbClr val="334155"/>
                </a:solidFill>
                <a:latin typeface="Roboto"/>
              </a:rPr>
              <a:t>parent's constructor and methods</a:t>
            </a:r>
            <a:r>
              <a:rPr lang="en-US" sz="1300" b="0">
                <a:solidFill>
                  <a:srgbClr val="334155"/>
                </a:solidFill>
                <a:latin typeface="Roboto"/>
              </a:rPr>
              <a:t>.</a:t>
            </a:r>
          </a:p>
        </p:txBody>
      </p:sp>
      <p:sp>
        <p:nvSpPr>
          <p:cNvPr id="11" name="llab"/>
          <p:cNvSpPr txBox="1"/>
          <p:nvPr/>
        </p:nvSpPr>
        <p:spPr>
          <a:xfrm>
            <a:off x="311700" y="1470000"/>
            <a:ext cx="4160000" cy="210000"/>
          </a:xfrm>
          <a:prstGeom prst="rect">
            <a:avLst/>
          </a:prstGeom>
          <a:noFill/>
        </p:spPr>
        <p:txBody>
          <a:bodyPr wrap="square" lIns="0" tIns="0" rIns="0" bIns="0" anchor="t">
            <a:noAutofit/>
          </a:bodyPr>
          <a:lstStyle/>
          <a:p>
            <a:pPr marL="0" indent="0">
              <a:spcAft>
                <a:spcPts val="0"/>
              </a:spcAft>
              <a:buNone/>
            </a:pPr>
            <a:r>
              <a:rPr lang="en-US" sz="850" b="1">
                <a:solidFill>
                  <a:srgbClr val="EF4444"/>
                </a:solidFill>
                <a:latin typeface="Roboto"/>
              </a:rPr>
              <a:t>WITHOUT super  —  BROKEN</a:t>
            </a:r>
          </a:p>
        </p:txBody>
      </p:sp>
      <p:sp>
        <p:nvSpPr>
          <p:cNvPr id="12" name="rlab"/>
          <p:cNvSpPr txBox="1"/>
          <p:nvPr/>
        </p:nvSpPr>
        <p:spPr>
          <a:xfrm>
            <a:off x="4671700" y="1470000"/>
            <a:ext cx="4160000" cy="210000"/>
          </a:xfrm>
          <a:prstGeom prst="rect">
            <a:avLst/>
          </a:prstGeom>
          <a:noFill/>
        </p:spPr>
        <p:txBody>
          <a:bodyPr wrap="square" lIns="0" tIns="0" rIns="0" bIns="0" anchor="t">
            <a:noAutofit/>
          </a:bodyPr>
          <a:lstStyle/>
          <a:p>
            <a:pPr marL="0" indent="0">
              <a:spcAft>
                <a:spcPts val="0"/>
              </a:spcAft>
              <a:buNone/>
            </a:pPr>
            <a:r>
              <a:rPr lang="en-US" sz="850" b="1">
                <a:solidFill>
                  <a:srgbClr val="22C55E"/>
                </a:solidFill>
                <a:latin typeface="Roboto"/>
              </a:rPr>
              <a:t>WITH super  —  CORRECT</a:t>
            </a:r>
          </a:p>
        </p:txBody>
      </p:sp>
      <p:sp>
        <p:nvSpPr>
          <p:cNvPr id="13" name="lpanel"/>
          <p:cNvSpPr/>
          <p:nvPr/>
        </p:nvSpPr>
        <p:spPr>
          <a:xfrm>
            <a:off x="311700" y="1700000"/>
            <a:ext cx="4160000" cy="1660000"/>
          </a:xfrm>
          <a:prstGeom prst="roundRect">
            <a:avLst>
              <a:gd name="adj" fmla="val 5000"/>
            </a:avLst>
          </a:prstGeom>
          <a:solidFill>
            <a:srgbClr val="1E293B"/>
          </a:solidFill>
          <a:ln w="9525">
            <a:solidFill>
              <a:srgbClr val="334155"/>
            </a:solidFill>
          </a:ln>
        </p:spPr>
        <p:txBody>
          <a:bodyPr/>
          <a:lstStyle/>
          <a:p>
            <a:endParaRPr/>
          </a:p>
        </p:txBody>
      </p:sp>
      <p:sp>
        <p:nvSpPr>
          <p:cNvPr id="14" name="rpanel"/>
          <p:cNvSpPr/>
          <p:nvPr/>
        </p:nvSpPr>
        <p:spPr>
          <a:xfrm>
            <a:off x="4671700" y="1700000"/>
            <a:ext cx="4160000" cy="1660000"/>
          </a:xfrm>
          <a:prstGeom prst="roundRect">
            <a:avLst>
              <a:gd name="adj" fmla="val 5000"/>
            </a:avLst>
          </a:prstGeom>
          <a:solidFill>
            <a:srgbClr val="1E293B"/>
          </a:solidFill>
          <a:ln w="9525">
            <a:solidFill>
              <a:srgbClr val="334155"/>
            </a:solidFill>
          </a:ln>
        </p:spPr>
        <p:txBody>
          <a:bodyPr/>
          <a:lstStyle/>
          <a:p>
            <a:endParaRPr/>
          </a:p>
        </p:txBody>
      </p:sp>
      <p:sp>
        <p:nvSpPr>
          <p:cNvPr id="15" name="lcode"/>
          <p:cNvSpPr txBox="1"/>
          <p:nvPr/>
        </p:nvSpPr>
        <p:spPr>
          <a:xfrm>
            <a:off x="461700" y="1795000"/>
            <a:ext cx="3900000" cy="1500000"/>
          </a:xfrm>
          <a:prstGeom prst="rect">
            <a:avLst/>
          </a:prstGeom>
          <a:noFill/>
        </p:spPr>
        <p:txBody>
          <a:bodyPr wrap="square" lIns="0" tIns="0" rIns="0" bIns="0" anchor="t">
            <a:noAutofit/>
          </a:bodyPr>
          <a:lstStyle/>
          <a:p>
            <a:pPr marL="0" indent="0">
              <a:spcAft>
                <a:spcPts val="20"/>
              </a:spcAft>
              <a:buNone/>
            </a:pPr>
            <a:r>
              <a:rPr lang="en-US" sz="800" b="0">
                <a:solidFill>
                  <a:srgbClr val="60A5FA"/>
                </a:solidFill>
                <a:latin typeface="Consolas"/>
              </a:rPr>
              <a:t>class </a:t>
            </a:r>
            <a:r>
              <a:rPr lang="en-US" sz="800" b="0">
                <a:solidFill>
                  <a:srgbClr val="4EC9B0"/>
                </a:solidFill>
                <a:latin typeface="Consolas"/>
              </a:rPr>
              <a:t>GoldenRetriever </a:t>
            </a:r>
            <a:r>
              <a:rPr lang="en-US" sz="800" b="0">
                <a:solidFill>
                  <a:srgbClr val="60A5FA"/>
                </a:solidFill>
                <a:latin typeface="Consolas"/>
              </a:rPr>
              <a:t>extends </a:t>
            </a:r>
            <a:r>
              <a:rPr lang="en-US" sz="800" b="0">
                <a:solidFill>
                  <a:srgbClr val="4EC9B0"/>
                </a:solidFill>
                <a:latin typeface="Consolas"/>
              </a:rPr>
              <a:t>Dog </a:t>
            </a:r>
            <a:r>
              <a:rPr lang="en-US" sz="800" b="0">
                <a:solidFill>
                  <a:srgbClr val="94A3B8"/>
                </a:solidFill>
                <a:latin typeface="Consolas"/>
              </a:rPr>
              <a:t>{</a:t>
            </a:r>
          </a:p>
          <a:p>
            <a:pPr marL="0" indent="0">
              <a:spcAft>
                <a:spcPts val="20"/>
              </a:spcAft>
              <a:buNone/>
            </a:pPr>
            <a:r>
              <a:rPr lang="en-US" sz="800" b="0">
                <a:solidFill>
                  <a:srgbClr val="E2E8F0"/>
                </a:solidFill>
                <a:latin typeface="Consolas"/>
              </a:rPr>
              <a:t>  </a:t>
            </a:r>
            <a:r>
              <a:rPr lang="en-US" sz="800" b="0">
                <a:solidFill>
                  <a:srgbClr val="4EC9B0"/>
                </a:solidFill>
                <a:latin typeface="Consolas"/>
              </a:rPr>
              <a:t>GoldenRetriever</a:t>
            </a:r>
            <a:r>
              <a:rPr lang="en-US" sz="800" b="0">
                <a:solidFill>
                  <a:srgbClr val="94A3B8"/>
                </a:solidFill>
                <a:latin typeface="Consolas"/>
              </a:rPr>
              <a:t>(</a:t>
            </a:r>
            <a:r>
              <a:rPr lang="en-US" sz="800" b="0">
                <a:solidFill>
                  <a:srgbClr val="4EC9B0"/>
                </a:solidFill>
                <a:latin typeface="Consolas"/>
              </a:rPr>
              <a:t>String </a:t>
            </a:r>
            <a:r>
              <a:rPr lang="en-US" sz="800" b="0">
                <a:solidFill>
                  <a:srgbClr val="E2E8F0"/>
                </a:solidFill>
                <a:latin typeface="Consolas"/>
              </a:rPr>
              <a:t>name</a:t>
            </a:r>
            <a:r>
              <a:rPr lang="en-US" sz="800" b="0">
                <a:solidFill>
                  <a:srgbClr val="94A3B8"/>
                </a:solidFill>
                <a:latin typeface="Consolas"/>
              </a:rPr>
              <a:t>, </a:t>
            </a:r>
            <a:r>
              <a:rPr lang="en-US" sz="800" b="0">
                <a:solidFill>
                  <a:srgbClr val="60A5FA"/>
                </a:solidFill>
                <a:latin typeface="Consolas"/>
              </a:rPr>
              <a:t>int </a:t>
            </a:r>
            <a:r>
              <a:rPr lang="en-US" sz="800" b="0">
                <a:solidFill>
                  <a:srgbClr val="E2E8F0"/>
                </a:solidFill>
                <a:latin typeface="Consolas"/>
              </a:rPr>
              <a:t>age</a:t>
            </a:r>
            <a:r>
              <a:rPr lang="en-US" sz="800" b="0">
                <a:solidFill>
                  <a:srgbClr val="94A3B8"/>
                </a:solidFill>
                <a:latin typeface="Consolas"/>
              </a:rPr>
              <a:t>) {</a:t>
            </a:r>
          </a:p>
          <a:p>
            <a:pPr marL="0" indent="0">
              <a:spcAft>
                <a:spcPts val="20"/>
              </a:spcAft>
              <a:buNone/>
            </a:pPr>
            <a:r>
              <a:rPr lang="en-US" sz="800" b="0">
                <a:solidFill>
                  <a:srgbClr val="E2E8F0"/>
                </a:solidFill>
                <a:latin typeface="Consolas"/>
              </a:rPr>
              <a:t>    this</a:t>
            </a:r>
            <a:r>
              <a:rPr lang="en-US" sz="800" b="0">
                <a:solidFill>
                  <a:srgbClr val="94A3B8"/>
                </a:solidFill>
                <a:latin typeface="Consolas"/>
              </a:rPr>
              <a:t>.</a:t>
            </a:r>
            <a:r>
              <a:rPr lang="en-US" sz="800" b="0">
                <a:solidFill>
                  <a:srgbClr val="E2E8F0"/>
                </a:solidFill>
                <a:latin typeface="Consolas"/>
              </a:rPr>
              <a:t>name </a:t>
            </a:r>
            <a:r>
              <a:rPr lang="en-US" sz="800" b="0">
                <a:solidFill>
                  <a:srgbClr val="94A3B8"/>
                </a:solidFill>
                <a:latin typeface="Consolas"/>
              </a:rPr>
              <a:t>= </a:t>
            </a:r>
            <a:r>
              <a:rPr lang="en-US" sz="800" b="0">
                <a:solidFill>
                  <a:srgbClr val="E2E8F0"/>
                </a:solidFill>
                <a:latin typeface="Consolas"/>
              </a:rPr>
              <a:t>name</a:t>
            </a:r>
            <a:r>
              <a:rPr lang="en-US" sz="800" b="0">
                <a:solidFill>
                  <a:srgbClr val="94A3B8"/>
                </a:solidFill>
                <a:latin typeface="Consolas"/>
              </a:rPr>
              <a:t>;</a:t>
            </a:r>
            <a:r>
              <a:rPr lang="en-US" sz="800" b="0">
                <a:solidFill>
                  <a:srgbClr val="E2E8F0"/>
                </a:solidFill>
                <a:latin typeface="Consolas"/>
              </a:rPr>
              <a:t>   </a:t>
            </a:r>
            <a:r>
              <a:rPr lang="en-US" sz="800" b="0" i="1">
                <a:solidFill>
                  <a:srgbClr val="F87171"/>
                </a:solidFill>
                <a:latin typeface="Consolas"/>
              </a:rPr>
              <a:t>// name is private</a:t>
            </a:r>
          </a:p>
          <a:p>
            <a:pPr marL="0" indent="0">
              <a:spcAft>
                <a:spcPts val="20"/>
              </a:spcAft>
              <a:buNone/>
            </a:pPr>
            <a:r>
              <a:rPr lang="en-US" sz="800" b="0">
                <a:solidFill>
                  <a:srgbClr val="E2E8F0"/>
                </a:solidFill>
                <a:latin typeface="Consolas"/>
              </a:rPr>
              <a:t>    this</a:t>
            </a:r>
            <a:r>
              <a:rPr lang="en-US" sz="800" b="0">
                <a:solidFill>
                  <a:srgbClr val="94A3B8"/>
                </a:solidFill>
                <a:latin typeface="Consolas"/>
              </a:rPr>
              <a:t>.</a:t>
            </a:r>
            <a:r>
              <a:rPr lang="en-US" sz="800" b="0">
                <a:solidFill>
                  <a:srgbClr val="E2E8F0"/>
                </a:solidFill>
                <a:latin typeface="Consolas"/>
              </a:rPr>
              <a:t>age </a:t>
            </a:r>
            <a:r>
              <a:rPr lang="en-US" sz="800" b="0">
                <a:solidFill>
                  <a:srgbClr val="94A3B8"/>
                </a:solidFill>
                <a:latin typeface="Consolas"/>
              </a:rPr>
              <a:t>= </a:t>
            </a:r>
            <a:r>
              <a:rPr lang="en-US" sz="800" b="0">
                <a:solidFill>
                  <a:srgbClr val="E2E8F0"/>
                </a:solidFill>
                <a:latin typeface="Consolas"/>
              </a:rPr>
              <a:t>age</a:t>
            </a:r>
            <a:r>
              <a:rPr lang="en-US" sz="800" b="0">
                <a:solidFill>
                  <a:srgbClr val="94A3B8"/>
                </a:solidFill>
                <a:latin typeface="Consolas"/>
              </a:rPr>
              <a:t>;</a:t>
            </a:r>
            <a:r>
              <a:rPr lang="en-US" sz="800" b="0">
                <a:solidFill>
                  <a:srgbClr val="E2E8F0"/>
                </a:solidFill>
                <a:latin typeface="Consolas"/>
              </a:rPr>
              <a:t>     </a:t>
            </a:r>
            <a:r>
              <a:rPr lang="en-US" sz="800" b="0" i="1">
                <a:solidFill>
                  <a:srgbClr val="F87171"/>
                </a:solidFill>
                <a:latin typeface="Consolas"/>
              </a:rPr>
              <a:t>// not visible here</a:t>
            </a:r>
          </a:p>
          <a:p>
            <a:pPr marL="0" indent="0">
              <a:spcAft>
                <a:spcPts val="20"/>
              </a:spcAft>
              <a:buNone/>
            </a:pPr>
            <a:r>
              <a:rPr lang="en-US" sz="800" b="0">
                <a:solidFill>
                  <a:srgbClr val="94A3B8"/>
                </a:solidFill>
                <a:latin typeface="Consolas"/>
              </a:rPr>
              <a:t>  }</a:t>
            </a:r>
          </a:p>
          <a:p>
            <a:pPr marL="0" indent="0">
              <a:spcAft>
                <a:spcPts val="0"/>
              </a:spcAft>
              <a:buNone/>
            </a:pPr>
            <a:r>
              <a:rPr lang="en-US" sz="800" b="0">
                <a:solidFill>
                  <a:srgbClr val="94A3B8"/>
                </a:solidFill>
                <a:latin typeface="Consolas"/>
              </a:rPr>
              <a:t>}</a:t>
            </a:r>
          </a:p>
        </p:txBody>
      </p:sp>
      <p:sp>
        <p:nvSpPr>
          <p:cNvPr id="16" name="rcode"/>
          <p:cNvSpPr txBox="1"/>
          <p:nvPr/>
        </p:nvSpPr>
        <p:spPr>
          <a:xfrm>
            <a:off x="4821700" y="1795000"/>
            <a:ext cx="3900000" cy="1500000"/>
          </a:xfrm>
          <a:prstGeom prst="rect">
            <a:avLst/>
          </a:prstGeom>
          <a:noFill/>
        </p:spPr>
        <p:txBody>
          <a:bodyPr wrap="square" lIns="0" tIns="0" rIns="0" bIns="0" anchor="t">
            <a:noAutofit/>
          </a:bodyPr>
          <a:lstStyle/>
          <a:p>
            <a:pPr marL="0" indent="0">
              <a:spcAft>
                <a:spcPts val="20"/>
              </a:spcAft>
              <a:buNone/>
            </a:pPr>
            <a:r>
              <a:rPr lang="en-US" sz="800" b="0" i="1">
                <a:solidFill>
                  <a:srgbClr val="6A9955"/>
                </a:solidFill>
                <a:latin typeface="Consolas"/>
              </a:rPr>
              <a:t>// let Dog set name &amp; age</a:t>
            </a:r>
          </a:p>
          <a:p>
            <a:pPr marL="0" indent="0">
              <a:spcAft>
                <a:spcPts val="20"/>
              </a:spcAft>
              <a:buNone/>
            </a:pPr>
            <a:r>
              <a:rPr lang="en-US" sz="800" b="0">
                <a:solidFill>
                  <a:srgbClr val="60A5FA"/>
                </a:solidFill>
                <a:latin typeface="Consolas"/>
              </a:rPr>
              <a:t>class </a:t>
            </a:r>
            <a:r>
              <a:rPr lang="en-US" sz="800" b="0">
                <a:solidFill>
                  <a:srgbClr val="4EC9B0"/>
                </a:solidFill>
                <a:latin typeface="Consolas"/>
              </a:rPr>
              <a:t>GoldenRetriever </a:t>
            </a:r>
            <a:r>
              <a:rPr lang="en-US" sz="800" b="0">
                <a:solidFill>
                  <a:srgbClr val="60A5FA"/>
                </a:solidFill>
                <a:latin typeface="Consolas"/>
              </a:rPr>
              <a:t>extends </a:t>
            </a:r>
            <a:r>
              <a:rPr lang="en-US" sz="800" b="0">
                <a:solidFill>
                  <a:srgbClr val="4EC9B0"/>
                </a:solidFill>
                <a:latin typeface="Consolas"/>
              </a:rPr>
              <a:t>Dog </a:t>
            </a:r>
            <a:r>
              <a:rPr lang="en-US" sz="800" b="0">
                <a:solidFill>
                  <a:srgbClr val="94A3B8"/>
                </a:solidFill>
                <a:latin typeface="Consolas"/>
              </a:rPr>
              <a:t>{</a:t>
            </a:r>
          </a:p>
          <a:p>
            <a:pPr marL="0" indent="0">
              <a:spcAft>
                <a:spcPts val="20"/>
              </a:spcAft>
              <a:buNone/>
            </a:pPr>
            <a:r>
              <a:rPr lang="en-US" sz="800" b="0">
                <a:solidFill>
                  <a:srgbClr val="E2E8F0"/>
                </a:solidFill>
                <a:latin typeface="Consolas"/>
              </a:rPr>
              <a:t>  </a:t>
            </a:r>
            <a:r>
              <a:rPr lang="en-US" sz="800" b="0">
                <a:solidFill>
                  <a:srgbClr val="4EC9B0"/>
                </a:solidFill>
                <a:latin typeface="Consolas"/>
              </a:rPr>
              <a:t>GoldenRetriever</a:t>
            </a:r>
            <a:r>
              <a:rPr lang="en-US" sz="800" b="0">
                <a:solidFill>
                  <a:srgbClr val="94A3B8"/>
                </a:solidFill>
                <a:latin typeface="Consolas"/>
              </a:rPr>
              <a:t>() {</a:t>
            </a:r>
          </a:p>
          <a:p>
            <a:pPr marL="0" indent="0">
              <a:spcAft>
                <a:spcPts val="20"/>
              </a:spcAft>
              <a:buNone/>
            </a:pPr>
            <a:r>
              <a:rPr lang="en-US" sz="800" b="0">
                <a:solidFill>
                  <a:srgbClr val="E2E8F0"/>
                </a:solidFill>
                <a:latin typeface="Consolas"/>
              </a:rPr>
              <a:t>    </a:t>
            </a:r>
            <a:r>
              <a:rPr lang="en-US" sz="800" b="0">
                <a:solidFill>
                  <a:srgbClr val="60A5FA"/>
                </a:solidFill>
                <a:latin typeface="Consolas"/>
              </a:rPr>
              <a:t>super</a:t>
            </a:r>
            <a:r>
              <a:rPr lang="en-US" sz="800" b="0">
                <a:solidFill>
                  <a:srgbClr val="94A3B8"/>
                </a:solidFill>
                <a:latin typeface="Consolas"/>
              </a:rPr>
              <a:t>(</a:t>
            </a:r>
            <a:r>
              <a:rPr lang="en-US" sz="800" b="0">
                <a:solidFill>
                  <a:srgbClr val="CE9178"/>
                </a:solidFill>
                <a:latin typeface="Consolas"/>
              </a:rPr>
              <a:t>"Buddy"</a:t>
            </a:r>
            <a:r>
              <a:rPr lang="en-US" sz="800" b="0">
                <a:solidFill>
                  <a:srgbClr val="94A3B8"/>
                </a:solidFill>
                <a:latin typeface="Consolas"/>
              </a:rPr>
              <a:t>, </a:t>
            </a:r>
            <a:r>
              <a:rPr lang="en-US" sz="800" b="0">
                <a:solidFill>
                  <a:srgbClr val="B5CEA8"/>
                </a:solidFill>
                <a:latin typeface="Consolas"/>
              </a:rPr>
              <a:t>3</a:t>
            </a:r>
            <a:r>
              <a:rPr lang="en-US" sz="800" b="0">
                <a:solidFill>
                  <a:srgbClr val="94A3B8"/>
                </a:solidFill>
                <a:latin typeface="Consolas"/>
              </a:rPr>
              <a:t>);</a:t>
            </a:r>
            <a:r>
              <a:rPr lang="en-US" sz="800" b="0">
                <a:solidFill>
                  <a:srgbClr val="E2E8F0"/>
                </a:solidFill>
                <a:latin typeface="Consolas"/>
              </a:rPr>
              <a:t>  </a:t>
            </a:r>
            <a:r>
              <a:rPr lang="en-US" sz="800" b="0" i="1">
                <a:solidFill>
                  <a:srgbClr val="6A9955"/>
                </a:solidFill>
                <a:latin typeface="Consolas"/>
              </a:rPr>
              <a:t>// must be first line</a:t>
            </a:r>
          </a:p>
          <a:p>
            <a:pPr marL="0" indent="0">
              <a:spcAft>
                <a:spcPts val="20"/>
              </a:spcAft>
              <a:buNone/>
            </a:pPr>
            <a:r>
              <a:rPr lang="en-US" sz="800" b="0">
                <a:solidFill>
                  <a:srgbClr val="94A3B8"/>
                </a:solidFill>
                <a:latin typeface="Consolas"/>
              </a:rPr>
              <a:t>  }</a:t>
            </a:r>
          </a:p>
          <a:p>
            <a:pPr marL="0" indent="0">
              <a:spcAft>
                <a:spcPts val="0"/>
              </a:spcAft>
              <a:buNone/>
            </a:pPr>
            <a:r>
              <a:rPr lang="en-US" sz="800" b="0">
                <a:solidFill>
                  <a:srgbClr val="94A3B8"/>
                </a:solidFill>
                <a:latin typeface="Consolas"/>
              </a:rPr>
              <a:t>}</a:t>
            </a:r>
          </a:p>
        </p:txBody>
      </p:sp>
      <p:sp>
        <p:nvSpPr>
          <p:cNvPr id="20" name="cc"/>
          <p:cNvSpPr/>
          <p:nvPr/>
        </p:nvSpPr>
        <p:spPr>
          <a:xfrm>
            <a:off x="311700" y="3440000"/>
            <a:ext cx="2733000" cy="69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1" name="bdg"/>
          <p:cNvSpPr/>
          <p:nvPr/>
        </p:nvSpPr>
        <p:spPr>
          <a:xfrm>
            <a:off x="461700" y="3560000"/>
            <a:ext cx="270000" cy="270000"/>
          </a:xfrm>
          <a:prstGeom prst="ellipse">
            <a:avLst/>
          </a:prstGeom>
          <a:solidFill>
            <a:srgbClr val="2563EB"/>
          </a:solidFill>
          <a:ln>
            <a:noFill/>
          </a:ln>
        </p:spPr>
        <p:txBody>
          <a:bodyPr/>
          <a:lstStyle/>
          <a:p>
            <a:endParaRPr/>
          </a:p>
        </p:txBody>
      </p:sp>
      <p:sp>
        <p:nvSpPr>
          <p:cNvPr id="22" name="bn"/>
          <p:cNvSpPr txBox="1"/>
          <p:nvPr/>
        </p:nvSpPr>
        <p:spPr>
          <a:xfrm>
            <a:off x="461700" y="35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1</a:t>
            </a:r>
          </a:p>
        </p:txBody>
      </p:sp>
      <p:sp>
        <p:nvSpPr>
          <p:cNvPr id="23" name="hd"/>
          <p:cNvSpPr txBox="1"/>
          <p:nvPr/>
        </p:nvSpPr>
        <p:spPr>
          <a:xfrm>
            <a:off x="851700" y="3560000"/>
            <a:ext cx="2173000" cy="270000"/>
          </a:xfrm>
          <a:prstGeom prst="rect">
            <a:avLst/>
          </a:prstGeom>
          <a:noFill/>
        </p:spPr>
        <p:txBody>
          <a:bodyPr wrap="square" lIns="0" tIns="0" rIns="0" bIns="0" anchor="ctr">
            <a:noAutofit/>
          </a:bodyPr>
          <a:lstStyle/>
          <a:p>
            <a:pPr marL="0" indent="0">
              <a:spcAft>
                <a:spcPts val="0"/>
              </a:spcAft>
              <a:buNone/>
            </a:pPr>
            <a:r>
              <a:rPr lang="en-US" sz="760" b="1">
                <a:solidFill>
                  <a:srgbClr val="2563EB"/>
                </a:solidFill>
                <a:latin typeface="Roboto"/>
              </a:rPr>
              <a:t>CALLS THE PARENT CONSTRUCTOR</a:t>
            </a:r>
          </a:p>
        </p:txBody>
      </p:sp>
      <p:sp>
        <p:nvSpPr>
          <p:cNvPr id="24" name="bd"/>
          <p:cNvSpPr txBox="1"/>
          <p:nvPr/>
        </p:nvSpPr>
        <p:spPr>
          <a:xfrm>
            <a:off x="341700" y="3840000"/>
            <a:ext cx="2673000" cy="240000"/>
          </a:xfrm>
          <a:prstGeom prst="rect">
            <a:avLst/>
          </a:prstGeom>
          <a:noFill/>
        </p:spPr>
        <p:txBody>
          <a:bodyPr wrap="square" lIns="0" tIns="0" rIns="0" bIns="0" anchor="t">
            <a:noAutofit/>
          </a:bodyPr>
          <a:lstStyle/>
          <a:p>
            <a:pPr marL="0" indent="0">
              <a:spcAft>
                <a:spcPts val="0"/>
              </a:spcAft>
              <a:buNone/>
            </a:pPr>
            <a:r>
              <a:rPr lang="en-US" sz="850" b="1">
                <a:solidFill>
                  <a:srgbClr val="334155"/>
                </a:solidFill>
                <a:latin typeface="Consolas"/>
              </a:rPr>
              <a:t>super()</a:t>
            </a:r>
            <a:r>
              <a:rPr lang="en-US" sz="850" b="0">
                <a:solidFill>
                  <a:srgbClr val="334155"/>
                </a:solidFill>
                <a:latin typeface="Roboto"/>
              </a:rPr>
              <a:t> runs the parent constructor — and must be the </a:t>
            </a:r>
            <a:r>
              <a:rPr lang="en-US" sz="850" b="1">
                <a:solidFill>
                  <a:srgbClr val="334155"/>
                </a:solidFill>
                <a:latin typeface="Roboto"/>
              </a:rPr>
              <a:t>first line</a:t>
            </a:r>
            <a:r>
              <a:rPr lang="en-US" sz="850" b="0">
                <a:solidFill>
                  <a:srgbClr val="334155"/>
                </a:solidFill>
                <a:latin typeface="Roboto"/>
              </a:rPr>
              <a:t>.</a:t>
            </a:r>
          </a:p>
        </p:txBody>
      </p:sp>
      <p:sp>
        <p:nvSpPr>
          <p:cNvPr id="25" name="cc"/>
          <p:cNvSpPr/>
          <p:nvPr/>
        </p:nvSpPr>
        <p:spPr>
          <a:xfrm>
            <a:off x="3204700" y="3440000"/>
            <a:ext cx="2733000" cy="69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6" name="bdg"/>
          <p:cNvSpPr/>
          <p:nvPr/>
        </p:nvSpPr>
        <p:spPr>
          <a:xfrm>
            <a:off x="3354700" y="3560000"/>
            <a:ext cx="270000" cy="270000"/>
          </a:xfrm>
          <a:prstGeom prst="ellipse">
            <a:avLst/>
          </a:prstGeom>
          <a:solidFill>
            <a:srgbClr val="7C3AED"/>
          </a:solidFill>
          <a:ln>
            <a:noFill/>
          </a:ln>
        </p:spPr>
        <p:txBody>
          <a:bodyPr/>
          <a:lstStyle/>
          <a:p>
            <a:endParaRPr/>
          </a:p>
        </p:txBody>
      </p:sp>
      <p:sp>
        <p:nvSpPr>
          <p:cNvPr id="27" name="bn"/>
          <p:cNvSpPr txBox="1"/>
          <p:nvPr/>
        </p:nvSpPr>
        <p:spPr>
          <a:xfrm>
            <a:off x="3354700" y="35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2</a:t>
            </a:r>
          </a:p>
        </p:txBody>
      </p:sp>
      <p:sp>
        <p:nvSpPr>
          <p:cNvPr id="28" name="hd"/>
          <p:cNvSpPr txBox="1"/>
          <p:nvPr/>
        </p:nvSpPr>
        <p:spPr>
          <a:xfrm>
            <a:off x="3744700" y="3560000"/>
            <a:ext cx="2173000" cy="270000"/>
          </a:xfrm>
          <a:prstGeom prst="rect">
            <a:avLst/>
          </a:prstGeom>
          <a:noFill/>
        </p:spPr>
        <p:txBody>
          <a:bodyPr wrap="square" lIns="0" tIns="0" rIns="0" bIns="0" anchor="ctr">
            <a:noAutofit/>
          </a:bodyPr>
          <a:lstStyle/>
          <a:p>
            <a:pPr marL="0" indent="0">
              <a:spcAft>
                <a:spcPts val="0"/>
              </a:spcAft>
              <a:buNone/>
            </a:pPr>
            <a:r>
              <a:rPr lang="en-US" sz="760" b="1">
                <a:solidFill>
                  <a:srgbClr val="7C3AED"/>
                </a:solidFill>
                <a:latin typeface="Roboto"/>
              </a:rPr>
              <a:t>CALL AN OVERRIDDEN METHOD</a:t>
            </a:r>
          </a:p>
        </p:txBody>
      </p:sp>
      <p:sp>
        <p:nvSpPr>
          <p:cNvPr id="29" name="bd"/>
          <p:cNvSpPr txBox="1"/>
          <p:nvPr/>
        </p:nvSpPr>
        <p:spPr>
          <a:xfrm>
            <a:off x="3234700" y="3840000"/>
            <a:ext cx="2673000" cy="240000"/>
          </a:xfrm>
          <a:prstGeom prst="rect">
            <a:avLst/>
          </a:prstGeom>
          <a:noFill/>
        </p:spPr>
        <p:txBody>
          <a:bodyPr wrap="square" lIns="0" tIns="0" rIns="0" bIns="0" anchor="t">
            <a:noAutofit/>
          </a:bodyPr>
          <a:lstStyle/>
          <a:p>
            <a:pPr marL="0" indent="0">
              <a:spcAft>
                <a:spcPts val="0"/>
              </a:spcAft>
              <a:buNone/>
            </a:pPr>
            <a:r>
              <a:rPr lang="en-US" sz="850" b="1">
                <a:solidFill>
                  <a:srgbClr val="334155"/>
                </a:solidFill>
                <a:latin typeface="Consolas"/>
              </a:rPr>
              <a:t>super.eat()</a:t>
            </a:r>
            <a:r>
              <a:rPr lang="en-US" sz="850" b="0">
                <a:solidFill>
                  <a:srgbClr val="334155"/>
                </a:solidFill>
                <a:latin typeface="Roboto"/>
              </a:rPr>
              <a:t> calls a parent method that the subclass has overridden.</a:t>
            </a:r>
          </a:p>
        </p:txBody>
      </p:sp>
      <p:sp>
        <p:nvSpPr>
          <p:cNvPr id="30" name="cc"/>
          <p:cNvSpPr/>
          <p:nvPr/>
        </p:nvSpPr>
        <p:spPr>
          <a:xfrm>
            <a:off x="6097700" y="3440000"/>
            <a:ext cx="2733000" cy="69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1" name="bdg"/>
          <p:cNvSpPr/>
          <p:nvPr/>
        </p:nvSpPr>
        <p:spPr>
          <a:xfrm>
            <a:off x="6247700" y="3560000"/>
            <a:ext cx="270000" cy="270000"/>
          </a:xfrm>
          <a:prstGeom prst="ellipse">
            <a:avLst/>
          </a:prstGeom>
          <a:solidFill>
            <a:srgbClr val="F59E0B"/>
          </a:solidFill>
          <a:ln>
            <a:noFill/>
          </a:ln>
        </p:spPr>
        <p:txBody>
          <a:bodyPr/>
          <a:lstStyle/>
          <a:p>
            <a:endParaRPr/>
          </a:p>
        </p:txBody>
      </p:sp>
      <p:sp>
        <p:nvSpPr>
          <p:cNvPr id="32" name="bn"/>
          <p:cNvSpPr txBox="1"/>
          <p:nvPr/>
        </p:nvSpPr>
        <p:spPr>
          <a:xfrm>
            <a:off x="6247700" y="35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3</a:t>
            </a:r>
          </a:p>
        </p:txBody>
      </p:sp>
      <p:sp>
        <p:nvSpPr>
          <p:cNvPr id="33" name="hd"/>
          <p:cNvSpPr txBox="1"/>
          <p:nvPr/>
        </p:nvSpPr>
        <p:spPr>
          <a:xfrm>
            <a:off x="6637700" y="3560000"/>
            <a:ext cx="2173000" cy="270000"/>
          </a:xfrm>
          <a:prstGeom prst="rect">
            <a:avLst/>
          </a:prstGeom>
          <a:noFill/>
        </p:spPr>
        <p:txBody>
          <a:bodyPr wrap="square" lIns="0" tIns="0" rIns="0" bIns="0" anchor="ctr">
            <a:noAutofit/>
          </a:bodyPr>
          <a:lstStyle/>
          <a:p>
            <a:pPr marL="0" indent="0">
              <a:spcAft>
                <a:spcPts val="0"/>
              </a:spcAft>
              <a:buNone/>
            </a:pPr>
            <a:r>
              <a:rPr lang="en-US" sz="760" b="1">
                <a:solidFill>
                  <a:srgbClr val="F59E0B"/>
                </a:solidFill>
                <a:latin typeface="Roboto"/>
              </a:rPr>
              <a:t>INSERTED AUTOMATICALLY</a:t>
            </a:r>
          </a:p>
        </p:txBody>
      </p:sp>
      <p:sp>
        <p:nvSpPr>
          <p:cNvPr id="34" name="bd"/>
          <p:cNvSpPr txBox="1"/>
          <p:nvPr/>
        </p:nvSpPr>
        <p:spPr>
          <a:xfrm>
            <a:off x="6127700" y="3840000"/>
            <a:ext cx="2673000" cy="240000"/>
          </a:xfrm>
          <a:prstGeom prst="rect">
            <a:avLst/>
          </a:prstGeom>
          <a:noFill/>
        </p:spPr>
        <p:txBody>
          <a:bodyPr wrap="square" lIns="0" tIns="0" rIns="0" bIns="0" anchor="t">
            <a:noAutofit/>
          </a:bodyPr>
          <a:lstStyle/>
          <a:p>
            <a:pPr marL="0" indent="0">
              <a:spcAft>
                <a:spcPts val="0"/>
              </a:spcAft>
              <a:buNone/>
            </a:pPr>
            <a:r>
              <a:rPr lang="en-US" sz="850" b="0">
                <a:solidFill>
                  <a:srgbClr val="334155"/>
                </a:solidFill>
                <a:latin typeface="Roboto"/>
              </a:rPr>
              <a:t>Skip it and Java adds a no-arg </a:t>
            </a:r>
            <a:r>
              <a:rPr lang="en-US" sz="850" b="1">
                <a:solidFill>
                  <a:srgbClr val="334155"/>
                </a:solidFill>
                <a:latin typeface="Consolas"/>
              </a:rPr>
              <a:t>super()</a:t>
            </a:r>
            <a:r>
              <a:rPr lang="en-US" sz="850" b="0">
                <a:solidFill>
                  <a:srgbClr val="334155"/>
                </a:solidFill>
                <a:latin typeface="Roboto"/>
              </a:rPr>
              <a:t> — which crashes if none exists.</a:t>
            </a:r>
          </a:p>
        </p:txBody>
      </p:sp>
      <p:sp>
        <p:nvSpPr>
          <p:cNvPr id="60" name="co"/>
          <p:cNvSpPr/>
          <p:nvPr/>
        </p:nvSpPr>
        <p:spPr>
          <a:xfrm>
            <a:off x="311700" y="4180000"/>
            <a:ext cx="8520600" cy="470000"/>
          </a:xfrm>
          <a:prstGeom prst="roundRect">
            <a:avLst>
              <a:gd name="adj" fmla="val 20000"/>
            </a:avLst>
          </a:prstGeom>
          <a:solidFill>
            <a:srgbClr val="2563EB">
              <a:alpha val="12000"/>
            </a:srgbClr>
          </a:solidFill>
          <a:ln>
            <a:noFill/>
          </a:ln>
        </p:spPr>
        <p:txBody>
          <a:bodyPr/>
          <a:lstStyle/>
          <a:p>
            <a:endParaRPr/>
          </a:p>
        </p:txBody>
      </p:sp>
      <p:sp>
        <p:nvSpPr>
          <p:cNvPr id="61" name="cot"/>
          <p:cNvSpPr txBox="1"/>
          <p:nvPr/>
        </p:nvSpPr>
        <p:spPr>
          <a:xfrm>
            <a:off x="451700" y="4180000"/>
            <a:ext cx="8240600" cy="470000"/>
          </a:xfrm>
          <a:prstGeom prst="rect">
            <a:avLst/>
          </a:prstGeom>
          <a:noFill/>
        </p:spPr>
        <p:txBody>
          <a:bodyPr wrap="square" lIns="0" tIns="0" rIns="0" bIns="0" anchor="ctr">
            <a:noAutofit/>
          </a:bodyPr>
          <a:lstStyle/>
          <a:p>
            <a:pPr marL="0" indent="0" algn="ctr">
              <a:spcAft>
                <a:spcPts val="0"/>
              </a:spcAft>
              <a:buNone/>
            </a:pPr>
            <a:r>
              <a:rPr lang="en-US" sz="1000" b="1" dirty="0">
                <a:solidFill>
                  <a:srgbClr val="2563EB"/>
                </a:solidFill>
                <a:latin typeface="Consolas"/>
              </a:rPr>
              <a:t>super</a:t>
            </a:r>
            <a:r>
              <a:rPr lang="en-US" sz="1000" b="0" dirty="0">
                <a:solidFill>
                  <a:srgbClr val="334155"/>
                </a:solidFill>
                <a:latin typeface="Roboto"/>
              </a:rPr>
              <a:t> is how the inheritance chain stays connected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Inheritance In Code</a:t>
            </a:r>
          </a:p>
        </p:txBody>
      </p:sp>
      <p:sp>
        <p:nvSpPr>
          <p:cNvPr id="101" name="bridge"/>
          <p:cNvSpPr txBox="1"/>
          <p:nvPr/>
        </p:nvSpPr>
        <p:spPr>
          <a:xfrm>
            <a:off x="311700" y="965000"/>
            <a:ext cx="8520600" cy="560000"/>
          </a:xfrm>
          <a:prstGeom prst="rect">
            <a:avLst/>
          </a:prstGeom>
          <a:noFill/>
        </p:spPr>
        <p:txBody>
          <a:bodyPr wrap="square" lIns="0" tIns="0" rIns="0" bIns="0" anchor="t">
            <a:noAutofit/>
          </a:bodyPr>
          <a:lstStyle/>
          <a:p>
            <a:pPr marL="0" indent="0">
              <a:spcAft>
                <a:spcPts val="0"/>
              </a:spcAft>
              <a:buNone/>
            </a:pPr>
            <a:r>
              <a:rPr lang="en-US" sz="1500" b="0">
                <a:solidFill>
                  <a:srgbClr val="334155"/>
                </a:solidFill>
                <a:latin typeface="Roboto"/>
              </a:rPr>
              <a:t>Here is what the </a:t>
            </a:r>
            <a:r>
              <a:rPr lang="en-US" sz="1500" b="1">
                <a:solidFill>
                  <a:srgbClr val="2563EB"/>
                </a:solidFill>
                <a:latin typeface="Consolas"/>
              </a:rPr>
              <a:t>Animal</a:t>
            </a:r>
            <a:r>
              <a:rPr lang="en-US" sz="1500" b="0">
                <a:solidFill>
                  <a:srgbClr val="94A3B8"/>
                </a:solidFill>
                <a:latin typeface="Roboto"/>
              </a:rPr>
              <a:t> → </a:t>
            </a:r>
            <a:r>
              <a:rPr lang="en-US" sz="1500" b="1">
                <a:solidFill>
                  <a:srgbClr val="0891B2"/>
                </a:solidFill>
                <a:latin typeface="Consolas"/>
              </a:rPr>
              <a:t>Dog</a:t>
            </a:r>
            <a:r>
              <a:rPr lang="en-US" sz="1500" b="0">
                <a:solidFill>
                  <a:srgbClr val="94A3B8"/>
                </a:solidFill>
                <a:latin typeface="Roboto"/>
              </a:rPr>
              <a:t> → </a:t>
            </a:r>
            <a:r>
              <a:rPr lang="en-US" sz="1500" b="1">
                <a:solidFill>
                  <a:srgbClr val="7C3AED"/>
                </a:solidFill>
                <a:latin typeface="Consolas"/>
              </a:rPr>
              <a:t>GoldenRetriever</a:t>
            </a:r>
            <a:r>
              <a:rPr lang="en-US" sz="1500" b="0">
                <a:solidFill>
                  <a:srgbClr val="334155"/>
                </a:solidFill>
                <a:latin typeface="Roboto"/>
              </a:rPr>
              <a:t> hierarchy actually looks like in Java.</a:t>
            </a:r>
          </a:p>
        </p:txBody>
      </p:sp>
      <p:sp>
        <p:nvSpPr>
          <p:cNvPr id="102" name="lab"/>
          <p:cNvSpPr txBox="1"/>
          <p:nvPr/>
        </p:nvSpPr>
        <p:spPr>
          <a:xfrm>
            <a:off x="311700"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2563EB"/>
                </a:solidFill>
                <a:latin typeface="Roboto"/>
              </a:rPr>
              <a:t>Animal</a:t>
            </a:r>
          </a:p>
        </p:txBody>
      </p:sp>
      <p:sp>
        <p:nvSpPr>
          <p:cNvPr id="103" name="lab"/>
          <p:cNvSpPr txBox="1"/>
          <p:nvPr/>
        </p:nvSpPr>
        <p:spPr>
          <a:xfrm>
            <a:off x="3198566"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0891B2"/>
                </a:solidFill>
                <a:latin typeface="Roboto"/>
              </a:rPr>
              <a:t>Dog extends Animal</a:t>
            </a:r>
          </a:p>
        </p:txBody>
      </p:sp>
      <p:sp>
        <p:nvSpPr>
          <p:cNvPr id="104" name="lab"/>
          <p:cNvSpPr txBox="1"/>
          <p:nvPr/>
        </p:nvSpPr>
        <p:spPr>
          <a:xfrm>
            <a:off x="6085432"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7C3AED"/>
                </a:solidFill>
                <a:latin typeface="Roboto"/>
              </a:rPr>
              <a:t>GoldenRetriever extends Dog</a:t>
            </a:r>
          </a:p>
        </p:txBody>
      </p:sp>
      <p:sp>
        <p:nvSpPr>
          <p:cNvPr id="105" name="codepanel"/>
          <p:cNvSpPr/>
          <p:nvPr/>
        </p:nvSpPr>
        <p:spPr>
          <a:xfrm>
            <a:off x="311700" y="1820000"/>
            <a:ext cx="2746866" cy="1700000"/>
          </a:xfrm>
          <a:prstGeom prst="roundRect">
            <a:avLst>
              <a:gd name="adj" fmla="val 5000"/>
            </a:avLst>
          </a:prstGeom>
          <a:solidFill>
            <a:srgbClr val="1E293B"/>
          </a:solidFill>
          <a:ln w="9525">
            <a:solidFill>
              <a:srgbClr val="334155"/>
            </a:solidFill>
          </a:ln>
        </p:spPr>
        <p:txBody>
          <a:bodyPr/>
          <a:lstStyle/>
          <a:p>
            <a:endParaRPr/>
          </a:p>
        </p:txBody>
      </p:sp>
      <p:sp>
        <p:nvSpPr>
          <p:cNvPr id="106" name="code"/>
          <p:cNvSpPr txBox="1"/>
          <p:nvPr/>
        </p:nvSpPr>
        <p:spPr>
          <a:xfrm>
            <a:off x="431700" y="1895000"/>
            <a:ext cx="2506866" cy="161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Animal</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Animal</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name </a:t>
            </a:r>
            <a:r>
              <a:rPr lang="en-US" sz="620" b="0">
                <a:solidFill>
                  <a:srgbClr val="94A3B8"/>
                </a:solidFill>
                <a:latin typeface="Consolas"/>
              </a:rPr>
              <a:t>=</a:t>
            </a:r>
            <a:r>
              <a:rPr lang="en-US" sz="620" b="0">
                <a:solidFill>
                  <a:srgbClr val="E2E8F0"/>
                </a:solidFill>
                <a:latin typeface="Consolas"/>
              </a:rPr>
              <a:t> name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age </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a:t>
            </a:r>
            <a:r>
              <a:rPr lang="en-US" sz="620" b="0">
                <a:solidFill>
                  <a:srgbClr val="DCDCAA"/>
                </a:solidFill>
                <a:latin typeface="Consolas"/>
              </a:rPr>
              <a:t>getName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return</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t>
            </a:r>
            <a:r>
              <a:rPr lang="en-US" sz="620" b="0">
                <a:solidFill>
                  <a:srgbClr val="DCDCAA"/>
                </a:solidFill>
                <a:latin typeface="Consolas"/>
              </a:rPr>
              <a:t>getAge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return</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07" name="codepanel"/>
          <p:cNvSpPr/>
          <p:nvPr/>
        </p:nvSpPr>
        <p:spPr>
          <a:xfrm>
            <a:off x="3198566" y="1820000"/>
            <a:ext cx="2746866" cy="1700000"/>
          </a:xfrm>
          <a:prstGeom prst="roundRect">
            <a:avLst>
              <a:gd name="adj" fmla="val 5000"/>
            </a:avLst>
          </a:prstGeom>
          <a:solidFill>
            <a:srgbClr val="1E293B"/>
          </a:solidFill>
          <a:ln w="9525">
            <a:solidFill>
              <a:srgbClr val="334155"/>
            </a:solidFill>
          </a:ln>
        </p:spPr>
        <p:txBody>
          <a:bodyPr/>
          <a:lstStyle/>
          <a:p>
            <a:endParaRPr/>
          </a:p>
        </p:txBody>
      </p:sp>
      <p:sp>
        <p:nvSpPr>
          <p:cNvPr id="108" name="code"/>
          <p:cNvSpPr txBox="1"/>
          <p:nvPr/>
        </p:nvSpPr>
        <p:spPr>
          <a:xfrm>
            <a:off x="3318566" y="1895000"/>
            <a:ext cx="2506866" cy="161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Dog</a:t>
            </a:r>
            <a:r>
              <a:rPr lang="en-US" sz="620" b="0">
                <a:solidFill>
                  <a:srgbClr val="E2E8F0"/>
                </a:solidFill>
                <a:latin typeface="Consolas"/>
              </a:rPr>
              <a:t> </a:t>
            </a:r>
            <a:r>
              <a:rPr lang="en-US" sz="620" b="0">
                <a:solidFill>
                  <a:srgbClr val="60A5FA"/>
                </a:solidFill>
                <a:latin typeface="Consolas"/>
              </a:rPr>
              <a:t>extends</a:t>
            </a:r>
            <a:r>
              <a:rPr lang="en-US" sz="620" b="0">
                <a:solidFill>
                  <a:srgbClr val="E2E8F0"/>
                </a:solidFill>
                <a:latin typeface="Consolas"/>
              </a:rPr>
              <a:t> </a:t>
            </a:r>
            <a:r>
              <a:rPr lang="en-US" sz="620" b="0">
                <a:solidFill>
                  <a:srgbClr val="4EC9B0"/>
                </a:solidFill>
                <a:latin typeface="Consolas"/>
              </a:rPr>
              <a:t>Animal</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breed</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Dog</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breed</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super</a:t>
            </a:r>
            <a:r>
              <a:rPr lang="en-US" sz="620" b="0">
                <a:solidFill>
                  <a:srgbClr val="94A3B8"/>
                </a:solidFill>
                <a:latin typeface="Consolas"/>
              </a:rPr>
              <a:t>(</a:t>
            </a:r>
            <a:r>
              <a:rPr lang="en-US" sz="620" b="0">
                <a:solidFill>
                  <a:srgbClr val="E2E8F0"/>
                </a:solidFill>
                <a:latin typeface="Consolas"/>
              </a:rPr>
              <a:t>name</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i="1">
                <a:solidFill>
                  <a:srgbClr val="6A9955"/>
                </a:solidFill>
                <a:latin typeface="Consolas"/>
              </a:rPr>
              <a:t>// Animal sets name &amp; age</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breed </a:t>
            </a:r>
            <a:r>
              <a:rPr lang="en-US" sz="620" b="0">
                <a:solidFill>
                  <a:srgbClr val="94A3B8"/>
                </a:solidFill>
                <a:latin typeface="Consolas"/>
              </a:rPr>
              <a:t>=</a:t>
            </a:r>
            <a:r>
              <a:rPr lang="en-US" sz="620" b="0">
                <a:solidFill>
                  <a:srgbClr val="E2E8F0"/>
                </a:solidFill>
                <a:latin typeface="Consolas"/>
              </a:rPr>
              <a:t> breed</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a:t>
            </a:r>
            <a:r>
              <a:rPr lang="en-US" sz="620" b="0">
                <a:solidFill>
                  <a:srgbClr val="DCDCAA"/>
                </a:solidFill>
                <a:latin typeface="Consolas"/>
              </a:rPr>
              <a:t>getBreed</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return</a:t>
            </a:r>
            <a:r>
              <a:rPr lang="en-US" sz="620" b="0">
                <a:solidFill>
                  <a:srgbClr val="E2E8F0"/>
                </a:solidFill>
                <a:latin typeface="Consolas"/>
              </a:rPr>
              <a:t> breed</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void</a:t>
            </a:r>
            <a:r>
              <a:rPr lang="en-US" sz="620" b="0">
                <a:solidFill>
                  <a:srgbClr val="E2E8F0"/>
                </a:solidFill>
                <a:latin typeface="Consolas"/>
              </a:rPr>
              <a:t> </a:t>
            </a:r>
            <a:r>
              <a:rPr lang="en-US" sz="620" b="0">
                <a:solidFill>
                  <a:srgbClr val="DCDCAA"/>
                </a:solidFill>
                <a:latin typeface="Consolas"/>
              </a:rPr>
              <a:t>bark</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4EC9B0"/>
                </a:solidFill>
                <a:latin typeface="Consolas"/>
              </a:rPr>
              <a:t>System</a:t>
            </a:r>
            <a:r>
              <a:rPr lang="en-US" sz="620" b="0">
                <a:solidFill>
                  <a:srgbClr val="94A3B8"/>
                </a:solidFill>
                <a:latin typeface="Consolas"/>
              </a:rPr>
              <a:t>.</a:t>
            </a:r>
            <a:r>
              <a:rPr lang="en-US" sz="620" b="0">
                <a:solidFill>
                  <a:srgbClr val="E2E8F0"/>
                </a:solidFill>
                <a:latin typeface="Consolas"/>
              </a:rPr>
              <a:t>out</a:t>
            </a:r>
            <a:r>
              <a:rPr lang="en-US" sz="620" b="0">
                <a:solidFill>
                  <a:srgbClr val="94A3B8"/>
                </a:solidFill>
                <a:latin typeface="Consolas"/>
              </a:rPr>
              <a:t>.</a:t>
            </a:r>
            <a:r>
              <a:rPr lang="en-US" sz="620" b="0">
                <a:solidFill>
                  <a:srgbClr val="DCDCAA"/>
                </a:solidFill>
                <a:latin typeface="Consolas"/>
              </a:rPr>
              <a:t>println</a:t>
            </a:r>
            <a:r>
              <a:rPr lang="en-US" sz="620" b="0">
                <a:solidFill>
                  <a:srgbClr val="94A3B8"/>
                </a:solidFill>
                <a:latin typeface="Consolas"/>
              </a:rPr>
              <a:t>(</a:t>
            </a:r>
            <a:r>
              <a:rPr lang="en-US" sz="620" b="0">
                <a:solidFill>
                  <a:srgbClr val="CE9178"/>
                </a:solidFill>
                <a:latin typeface="Consolas"/>
              </a:rPr>
              <a:t>"Woof!"</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09" name="codepanel"/>
          <p:cNvSpPr/>
          <p:nvPr/>
        </p:nvSpPr>
        <p:spPr>
          <a:xfrm>
            <a:off x="6085432" y="1820000"/>
            <a:ext cx="2746866" cy="1700000"/>
          </a:xfrm>
          <a:prstGeom prst="roundRect">
            <a:avLst>
              <a:gd name="adj" fmla="val 5000"/>
            </a:avLst>
          </a:prstGeom>
          <a:solidFill>
            <a:srgbClr val="1E293B"/>
          </a:solidFill>
          <a:ln w="9525">
            <a:solidFill>
              <a:srgbClr val="334155"/>
            </a:solidFill>
          </a:ln>
        </p:spPr>
        <p:txBody>
          <a:bodyPr/>
          <a:lstStyle/>
          <a:p>
            <a:endParaRPr/>
          </a:p>
        </p:txBody>
      </p:sp>
      <p:sp>
        <p:nvSpPr>
          <p:cNvPr id="110" name="code"/>
          <p:cNvSpPr txBox="1"/>
          <p:nvPr/>
        </p:nvSpPr>
        <p:spPr>
          <a:xfrm>
            <a:off x="6205432" y="1895000"/>
            <a:ext cx="2506866" cy="161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GoldenRetriever</a:t>
            </a:r>
            <a:r>
              <a:rPr lang="en-US" sz="620" b="0">
                <a:solidFill>
                  <a:srgbClr val="E2E8F0"/>
                </a:solidFill>
                <a:latin typeface="Consolas"/>
              </a:rPr>
              <a:t> </a:t>
            </a:r>
            <a:r>
              <a:rPr lang="en-US" sz="620" b="0">
                <a:solidFill>
                  <a:srgbClr val="60A5FA"/>
                </a:solidFill>
                <a:latin typeface="Consolas"/>
              </a:rPr>
              <a:t>extends</a:t>
            </a:r>
            <a:r>
              <a:rPr lang="en-US" sz="620" b="0">
                <a:solidFill>
                  <a:srgbClr val="E2E8F0"/>
                </a:solidFill>
                <a:latin typeface="Consolas"/>
              </a:rPr>
              <a:t> </a:t>
            </a:r>
            <a:r>
              <a:rPr lang="en-US" sz="620" b="0">
                <a:solidFill>
                  <a:srgbClr val="4EC9B0"/>
                </a:solidFill>
                <a:latin typeface="Consolas"/>
              </a:rPr>
              <a:t>Dog</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60A5FA"/>
                </a:solidFill>
                <a:latin typeface="Consolas"/>
              </a:rPr>
              <a:t>boolean</a:t>
            </a:r>
            <a:r>
              <a:rPr lang="en-US" sz="620" b="0">
                <a:solidFill>
                  <a:srgbClr val="E2E8F0"/>
                </a:solidFill>
                <a:latin typeface="Consolas"/>
              </a:rPr>
              <a:t> isFriendly</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GoldenRetriever</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boolean</a:t>
            </a:r>
            <a:r>
              <a:rPr lang="en-US" sz="620" b="0">
                <a:solidFill>
                  <a:srgbClr val="E2E8F0"/>
                </a:solidFill>
                <a:latin typeface="Consolas"/>
              </a:rPr>
              <a:t> isFriendly</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super</a:t>
            </a:r>
            <a:r>
              <a:rPr lang="en-US" sz="620" b="0">
                <a:solidFill>
                  <a:srgbClr val="94A3B8"/>
                </a:solidFill>
                <a:latin typeface="Consolas"/>
              </a:rPr>
              <a:t>(</a:t>
            </a:r>
            <a:r>
              <a:rPr lang="en-US" sz="620" b="0">
                <a:solidFill>
                  <a:srgbClr val="E2E8F0"/>
                </a:solidFill>
                <a:latin typeface="Consolas"/>
              </a:rPr>
              <a:t>name</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CE9178"/>
                </a:solidFill>
                <a:latin typeface="Consolas"/>
              </a:rPr>
              <a:t>"Golden Retriever"</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isFriendly </a:t>
            </a:r>
            <a:r>
              <a:rPr lang="en-US" sz="620" b="0">
                <a:solidFill>
                  <a:srgbClr val="94A3B8"/>
                </a:solidFill>
                <a:latin typeface="Consolas"/>
              </a:rPr>
              <a:t>=</a:t>
            </a:r>
            <a:r>
              <a:rPr lang="en-US" sz="620" b="0">
                <a:solidFill>
                  <a:srgbClr val="E2E8F0"/>
                </a:solidFill>
                <a:latin typeface="Consolas"/>
              </a:rPr>
              <a:t> isFriendly</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void</a:t>
            </a:r>
            <a:r>
              <a:rPr lang="en-US" sz="620" b="0">
                <a:solidFill>
                  <a:srgbClr val="E2E8F0"/>
                </a:solidFill>
                <a:latin typeface="Consolas"/>
              </a:rPr>
              <a:t> </a:t>
            </a:r>
            <a:r>
              <a:rPr lang="en-US" sz="620" b="0">
                <a:solidFill>
                  <a:srgbClr val="DCDCAA"/>
                </a:solidFill>
                <a:latin typeface="Consolas"/>
              </a:rPr>
              <a:t>fetch</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4EC9B0"/>
                </a:solidFill>
                <a:latin typeface="Consolas"/>
              </a:rPr>
              <a:t>System</a:t>
            </a:r>
            <a:r>
              <a:rPr lang="en-US" sz="620" b="0">
                <a:solidFill>
                  <a:srgbClr val="94A3B8"/>
                </a:solidFill>
                <a:latin typeface="Consolas"/>
              </a:rPr>
              <a:t>.</a:t>
            </a:r>
            <a:r>
              <a:rPr lang="en-US" sz="620" b="0">
                <a:solidFill>
                  <a:srgbClr val="E2E8F0"/>
                </a:solidFill>
                <a:latin typeface="Consolas"/>
              </a:rPr>
              <a:t>out</a:t>
            </a:r>
            <a:r>
              <a:rPr lang="en-US" sz="620" b="0">
                <a:solidFill>
                  <a:srgbClr val="94A3B8"/>
                </a:solidFill>
                <a:latin typeface="Consolas"/>
              </a:rPr>
              <a:t>.</a:t>
            </a:r>
            <a:r>
              <a:rPr lang="en-US" sz="620" b="0">
                <a:solidFill>
                  <a:srgbClr val="DCDCAA"/>
                </a:solidFill>
                <a:latin typeface="Consolas"/>
              </a:rPr>
              <a:t>println</a:t>
            </a:r>
            <a:r>
              <a:rPr lang="en-US" sz="620" b="0">
                <a:solidFill>
                  <a:srgbClr val="94A3B8"/>
                </a:solidFill>
                <a:latin typeface="Consolas"/>
              </a:rPr>
              <a:t>(</a:t>
            </a:r>
            <a:r>
              <a:rPr lang="en-US" sz="620" b="0">
                <a:solidFill>
                  <a:srgbClr val="CE9178"/>
                </a:solidFill>
                <a:latin typeface="Consolas"/>
              </a:rPr>
              <a:t>"Fetching!"</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11" name="calloutbg"/>
          <p:cNvSpPr/>
          <p:nvPr/>
        </p:nvSpPr>
        <p:spPr>
          <a:xfrm>
            <a:off x="311700" y="3600000"/>
            <a:ext cx="8520600" cy="940000"/>
          </a:xfrm>
          <a:prstGeom prst="roundRect">
            <a:avLst>
              <a:gd name="adj" fmla="val 6000"/>
            </a:avLst>
          </a:prstGeom>
          <a:solidFill>
            <a:srgbClr val="1E293B"/>
          </a:solidFill>
          <a:ln w="9525">
            <a:solidFill>
              <a:srgbClr val="334155"/>
            </a:solidFill>
          </a:ln>
        </p:spPr>
        <p:txBody>
          <a:bodyPr/>
          <a:lstStyle/>
          <a:p>
            <a:endParaRPr/>
          </a:p>
        </p:txBody>
      </p:sp>
      <p:sp>
        <p:nvSpPr>
          <p:cNvPr id="112" name="callout"/>
          <p:cNvSpPr txBox="1"/>
          <p:nvPr/>
        </p:nvSpPr>
        <p:spPr>
          <a:xfrm>
            <a:off x="461700" y="3695000"/>
            <a:ext cx="8220600" cy="790000"/>
          </a:xfrm>
          <a:prstGeom prst="rect">
            <a:avLst/>
          </a:prstGeom>
          <a:noFill/>
        </p:spPr>
        <p:txBody>
          <a:bodyPr wrap="square" lIns="0" tIns="0" rIns="0" bIns="0" anchor="t">
            <a:noAutofit/>
          </a:bodyPr>
          <a:lstStyle/>
          <a:p>
            <a:pPr marL="0" indent="0">
              <a:spcAft>
                <a:spcPts val="200"/>
              </a:spcAft>
              <a:buNone/>
            </a:pPr>
            <a:r>
              <a:rPr lang="en-US" sz="900" b="0">
                <a:solidFill>
                  <a:srgbClr val="4EC9B0"/>
                </a:solidFill>
                <a:latin typeface="Consolas"/>
              </a:rPr>
              <a:t>GoldenRetriever</a:t>
            </a:r>
            <a:r>
              <a:rPr lang="en-US" sz="900" b="0">
                <a:solidFill>
                  <a:srgbClr val="E2E8F0"/>
                </a:solidFill>
                <a:latin typeface="Consolas"/>
              </a:rPr>
              <a:t> buddy </a:t>
            </a:r>
            <a:r>
              <a:rPr lang="en-US" sz="900" b="0">
                <a:solidFill>
                  <a:srgbClr val="94A3B8"/>
                </a:solidFill>
                <a:latin typeface="Consolas"/>
              </a:rPr>
              <a:t>=</a:t>
            </a:r>
            <a:r>
              <a:rPr lang="en-US" sz="900" b="0">
                <a:solidFill>
                  <a:srgbClr val="E2E8F0"/>
                </a:solidFill>
                <a:latin typeface="Consolas"/>
              </a:rPr>
              <a:t> </a:t>
            </a:r>
            <a:r>
              <a:rPr lang="en-US" sz="900" b="0">
                <a:solidFill>
                  <a:srgbClr val="60A5FA"/>
                </a:solidFill>
                <a:latin typeface="Consolas"/>
              </a:rPr>
              <a:t>new</a:t>
            </a:r>
            <a:r>
              <a:rPr lang="en-US" sz="900" b="0">
                <a:solidFill>
                  <a:srgbClr val="E2E8F0"/>
                </a:solidFill>
                <a:latin typeface="Consolas"/>
              </a:rPr>
              <a:t> </a:t>
            </a:r>
            <a:r>
              <a:rPr lang="en-US" sz="900" b="0">
                <a:solidFill>
                  <a:srgbClr val="4EC9B0"/>
                </a:solidFill>
                <a:latin typeface="Consolas"/>
              </a:rPr>
              <a:t>GoldenRetriever</a:t>
            </a:r>
            <a:r>
              <a:rPr lang="en-US" sz="900" b="0">
                <a:solidFill>
                  <a:srgbClr val="94A3B8"/>
                </a:solidFill>
                <a:latin typeface="Consolas"/>
              </a:rPr>
              <a:t>(</a:t>
            </a:r>
            <a:r>
              <a:rPr lang="en-US" sz="900" b="0">
                <a:solidFill>
                  <a:srgbClr val="CE9178"/>
                </a:solidFill>
                <a:latin typeface="Consolas"/>
              </a:rPr>
              <a:t>"Buddy"</a:t>
            </a:r>
            <a:r>
              <a:rPr lang="en-US" sz="900" b="0">
                <a:solidFill>
                  <a:srgbClr val="94A3B8"/>
                </a:solidFill>
                <a:latin typeface="Consolas"/>
              </a:rPr>
              <a:t>,</a:t>
            </a:r>
            <a:r>
              <a:rPr lang="en-US" sz="900" b="0">
                <a:solidFill>
                  <a:srgbClr val="E2E8F0"/>
                </a:solidFill>
                <a:latin typeface="Consolas"/>
              </a:rPr>
              <a:t> </a:t>
            </a:r>
            <a:r>
              <a:rPr lang="en-US" sz="900" b="0">
                <a:solidFill>
                  <a:srgbClr val="B5CEA8"/>
                </a:solidFill>
                <a:latin typeface="Consolas"/>
              </a:rPr>
              <a:t>3</a:t>
            </a:r>
            <a:r>
              <a:rPr lang="en-US" sz="900" b="0">
                <a:solidFill>
                  <a:srgbClr val="94A3B8"/>
                </a:solidFill>
                <a:latin typeface="Consolas"/>
              </a:rPr>
              <a:t>,</a:t>
            </a:r>
            <a:r>
              <a:rPr lang="en-US" sz="900" b="0">
                <a:solidFill>
                  <a:srgbClr val="E2E8F0"/>
                </a:solidFill>
                <a:latin typeface="Consolas"/>
              </a:rPr>
              <a:t> </a:t>
            </a:r>
            <a:r>
              <a:rPr lang="en-US" sz="900" b="0">
                <a:solidFill>
                  <a:srgbClr val="569CD6"/>
                </a:solidFill>
                <a:latin typeface="Consolas"/>
              </a:rPr>
              <a:t>true</a:t>
            </a:r>
            <a:r>
              <a:rPr lang="en-US" sz="900" b="0">
                <a:solidFill>
                  <a:srgbClr val="94A3B8"/>
                </a:solidFill>
                <a:latin typeface="Consolas"/>
              </a:rPr>
              <a:t>);</a:t>
            </a:r>
          </a:p>
          <a:p>
            <a:pPr marL="0" indent="0">
              <a:spcAft>
                <a:spcPts val="300"/>
              </a:spcAft>
              <a:buNone/>
            </a:pPr>
            <a:r>
              <a:rPr lang="en-US" sz="900" b="0">
                <a:solidFill>
                  <a:srgbClr val="94A3B8"/>
                </a:solidFill>
                <a:latin typeface="Consolas"/>
              </a:rPr>
              <a:t>buddy has:   </a:t>
            </a:r>
            <a:r>
              <a:rPr lang="en-US" sz="900" b="0">
                <a:solidFill>
                  <a:srgbClr val="60A5FA"/>
                </a:solidFill>
                <a:latin typeface="Consolas"/>
              </a:rPr>
              <a:t>name </a:t>
            </a:r>
            <a:r>
              <a:rPr lang="en-US" sz="850" b="0">
                <a:solidFill>
                  <a:srgbClr val="94A3B8"/>
                </a:solidFill>
                <a:latin typeface="Roboto"/>
              </a:rPr>
              <a:t>(from Animal)    </a:t>
            </a:r>
            <a:r>
              <a:rPr lang="en-US" sz="900" b="0">
                <a:solidFill>
                  <a:srgbClr val="60A5FA"/>
                </a:solidFill>
                <a:latin typeface="Consolas"/>
              </a:rPr>
              <a:t>age </a:t>
            </a:r>
            <a:r>
              <a:rPr lang="en-US" sz="850" b="0">
                <a:solidFill>
                  <a:srgbClr val="94A3B8"/>
                </a:solidFill>
                <a:latin typeface="Roboto"/>
              </a:rPr>
              <a:t>(from Animal)    </a:t>
            </a:r>
            <a:r>
              <a:rPr lang="en-US" sz="900" b="0">
                <a:solidFill>
                  <a:srgbClr val="22D3EE"/>
                </a:solidFill>
                <a:latin typeface="Consolas"/>
              </a:rPr>
              <a:t>breed </a:t>
            </a:r>
            <a:r>
              <a:rPr lang="en-US" sz="850" b="0">
                <a:solidFill>
                  <a:srgbClr val="94A3B8"/>
                </a:solidFill>
                <a:latin typeface="Roboto"/>
              </a:rPr>
              <a:t>(from Dog)    </a:t>
            </a:r>
            <a:r>
              <a:rPr lang="en-US" sz="900" b="0">
                <a:solidFill>
                  <a:srgbClr val="A78BFA"/>
                </a:solidFill>
                <a:latin typeface="Consolas"/>
              </a:rPr>
              <a:t>isFriendly </a:t>
            </a:r>
            <a:r>
              <a:rPr lang="en-US" sz="850" b="0">
                <a:solidFill>
                  <a:srgbClr val="94A3B8"/>
                </a:solidFill>
                <a:latin typeface="Roboto"/>
              </a:rPr>
              <a:t>(its own)</a:t>
            </a:r>
          </a:p>
          <a:p>
            <a:pPr marL="0" indent="0">
              <a:spcAft>
                <a:spcPts val="0"/>
              </a:spcAft>
              <a:buNone/>
            </a:pPr>
            <a:r>
              <a:rPr lang="en-US" sz="850" b="0">
                <a:solidFill>
                  <a:srgbClr val="CBD5E1"/>
                </a:solidFill>
                <a:latin typeface="Roboto"/>
              </a:rPr>
              <a:t>Inherited fields travel the full chain — buddy carries </a:t>
            </a:r>
            <a:r>
              <a:rPr lang="en-US" sz="850" b="1">
                <a:solidFill>
                  <a:srgbClr val="F59E0B"/>
                </a:solidFill>
                <a:latin typeface="Roboto"/>
              </a:rPr>
              <a:t>all four fields</a:t>
            </a:r>
            <a:r>
              <a:rPr lang="en-US" sz="850" b="0">
                <a:solidFill>
                  <a:srgbClr val="CBD5E1"/>
                </a:solidFill>
                <a:latin typeface="Roboto"/>
              </a:rPr>
              <a:t> even though it only declared 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Inheritance Tree</a:t>
            </a:r>
          </a:p>
        </p:txBody>
      </p:sp>
      <p:sp>
        <p:nvSpPr>
          <p:cNvPr id="10" name="Rule"/>
          <p:cNvSpPr txBox="1"/>
          <p:nvPr/>
        </p:nvSpPr>
        <p:spPr>
          <a:xfrm>
            <a:off x="311700" y="1010000"/>
            <a:ext cx="8520600" cy="420000"/>
          </a:xfrm>
          <a:prstGeom prst="rect">
            <a:avLst/>
          </a:prstGeom>
          <a:noFill/>
        </p:spPr>
        <p:txBody>
          <a:bodyPr wrap="square" lIns="0" tIns="0" rIns="0" bIns="0" anchor="t">
            <a:noAutofit/>
          </a:bodyPr>
          <a:lstStyle/>
          <a:p>
            <a:pPr marL="0" indent="0">
              <a:spcAft>
                <a:spcPts val="200"/>
              </a:spcAft>
              <a:buNone/>
            </a:pPr>
            <a:r>
              <a:rPr lang="en-US" sz="1300" b="0">
                <a:solidFill>
                  <a:srgbClr val="334155"/>
                </a:solidFill>
                <a:latin typeface="Roboto"/>
              </a:rPr>
              <a:t>In Java, every class has </a:t>
            </a:r>
            <a:r>
              <a:rPr lang="en-US" sz="1300" b="1">
                <a:solidFill>
                  <a:srgbClr val="334155"/>
                </a:solidFill>
                <a:latin typeface="Roboto"/>
              </a:rPr>
              <a:t>exactly one direct parent</a:t>
            </a:r>
            <a:r>
              <a:rPr lang="en-US" sz="1300" b="0">
                <a:solidFill>
                  <a:srgbClr val="334155"/>
                </a:solidFill>
                <a:latin typeface="Roboto"/>
              </a:rPr>
              <a:t> — and every class ultimately traces back to </a:t>
            </a:r>
            <a:r>
              <a:rPr lang="en-US" sz="1300" b="1">
                <a:solidFill>
                  <a:srgbClr val="B45309"/>
                </a:solidFill>
                <a:latin typeface="Consolas"/>
              </a:rPr>
              <a:t>Object</a:t>
            </a:r>
            <a:r>
              <a:rPr lang="en-US" sz="1300" b="0">
                <a:solidFill>
                  <a:srgbClr val="334155"/>
                </a:solidFill>
                <a:latin typeface="Roboto"/>
              </a:rPr>
              <a:t>.</a:t>
            </a:r>
          </a:p>
        </p:txBody>
      </p:sp>
      <p:sp>
        <p:nvSpPr>
          <p:cNvPr id="11" name="obj"/>
          <p:cNvSpPr/>
          <p:nvPr/>
        </p:nvSpPr>
        <p:spPr>
          <a:xfrm>
            <a:off x="3922000" y="1440000"/>
            <a:ext cx="1300000" cy="300000"/>
          </a:xfrm>
          <a:prstGeom prst="roundRect">
            <a:avLst>
              <a:gd name="adj" fmla="val 30000"/>
            </a:avLst>
          </a:prstGeom>
          <a:solidFill>
            <a:srgbClr val="EAB308"/>
          </a:solidFill>
          <a:ln>
            <a:noFill/>
          </a:ln>
          <a:effectLst>
            <a:outerShdw blurRad="90000" dist="38000" dir="5400000" rotWithShape="0">
              <a:srgbClr val="1E3A8A">
                <a:alpha val="16000"/>
              </a:srgbClr>
            </a:outerShdw>
          </a:effectLst>
        </p:spPr>
        <p:txBody>
          <a:bodyPr/>
          <a:lstStyle/>
          <a:p>
            <a:endParaRPr/>
          </a:p>
        </p:txBody>
      </p:sp>
      <p:sp>
        <p:nvSpPr>
          <p:cNvPr id="12" name="objt"/>
          <p:cNvSpPr txBox="1"/>
          <p:nvPr/>
        </p:nvSpPr>
        <p:spPr>
          <a:xfrm>
            <a:off x="3922000" y="1440000"/>
            <a:ext cx="1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Consolas"/>
              </a:rPr>
              <a:t>Object</a:t>
            </a:r>
          </a:p>
        </p:txBody>
      </p:sp>
      <p:sp>
        <p:nvSpPr>
          <p:cNvPr id="13" name="objl"/>
          <p:cNvSpPr txBox="1"/>
          <p:nvPr/>
        </p:nvSpPr>
        <p:spPr>
          <a:xfrm>
            <a:off x="3322000" y="1748000"/>
            <a:ext cx="2500000" cy="170000"/>
          </a:xfrm>
          <a:prstGeom prst="rect">
            <a:avLst/>
          </a:prstGeom>
          <a:noFill/>
        </p:spPr>
        <p:txBody>
          <a:bodyPr wrap="square" lIns="0" tIns="0" rIns="0" bIns="0" anchor="t">
            <a:noAutofit/>
          </a:bodyPr>
          <a:lstStyle/>
          <a:p>
            <a:pPr marL="0" indent="0" algn="ctr">
              <a:spcAft>
                <a:spcPts val="0"/>
              </a:spcAft>
              <a:buNone/>
            </a:pPr>
            <a:r>
              <a:rPr lang="en-US" sz="850" b="0" i="1">
                <a:solidFill>
                  <a:srgbClr val="64748B"/>
                </a:solidFill>
                <a:latin typeface="Roboto"/>
              </a:rPr>
              <a:t>root of every Java inheritance tree</a:t>
            </a:r>
          </a:p>
        </p:txBody>
      </p:sp>
      <p:sp>
        <p:nvSpPr>
          <p:cNvPr id="14" name="vl"/>
          <p:cNvSpPr/>
          <p:nvPr/>
        </p:nvSpPr>
        <p:spPr>
          <a:xfrm>
            <a:off x="4567000" y="1740000"/>
            <a:ext cx="10000" cy="310000"/>
          </a:xfrm>
          <a:prstGeom prst="rect">
            <a:avLst/>
          </a:prstGeom>
          <a:solidFill>
            <a:srgbClr val="64748B">
              <a:alpha val="60000"/>
            </a:srgbClr>
          </a:solidFill>
          <a:ln>
            <a:noFill/>
          </a:ln>
        </p:spPr>
        <p:txBody>
          <a:bodyPr/>
          <a:lstStyle/>
          <a:p>
            <a:endParaRPr/>
          </a:p>
        </p:txBody>
      </p:sp>
      <p:sp>
        <p:nvSpPr>
          <p:cNvPr id="15" name="hl"/>
          <p:cNvSpPr/>
          <p:nvPr/>
        </p:nvSpPr>
        <p:spPr>
          <a:xfrm>
            <a:off x="1422000" y="2050000"/>
            <a:ext cx="6300000" cy="10000"/>
          </a:xfrm>
          <a:prstGeom prst="rect">
            <a:avLst/>
          </a:prstGeom>
          <a:solidFill>
            <a:srgbClr val="64748B">
              <a:alpha val="60000"/>
            </a:srgbClr>
          </a:solidFill>
          <a:ln>
            <a:noFill/>
          </a:ln>
        </p:spPr>
        <p:txBody>
          <a:bodyPr/>
          <a:lstStyle/>
          <a:p>
            <a:endParaRPr/>
          </a:p>
        </p:txBody>
      </p:sp>
      <p:sp>
        <p:nvSpPr>
          <p:cNvPr id="16" name="vl"/>
          <p:cNvSpPr/>
          <p:nvPr/>
        </p:nvSpPr>
        <p:spPr>
          <a:xfrm>
            <a:off x="1417000" y="2050000"/>
            <a:ext cx="10000" cy="100000"/>
          </a:xfrm>
          <a:prstGeom prst="rect">
            <a:avLst/>
          </a:prstGeom>
          <a:solidFill>
            <a:srgbClr val="64748B">
              <a:alpha val="60000"/>
            </a:srgbClr>
          </a:solidFill>
          <a:ln>
            <a:noFill/>
          </a:ln>
        </p:spPr>
        <p:txBody>
          <a:bodyPr/>
          <a:lstStyle/>
          <a:p>
            <a:endParaRPr/>
          </a:p>
        </p:txBody>
      </p:sp>
      <p:sp>
        <p:nvSpPr>
          <p:cNvPr id="17" name="vl"/>
          <p:cNvSpPr/>
          <p:nvPr/>
        </p:nvSpPr>
        <p:spPr>
          <a:xfrm>
            <a:off x="3517000" y="2050000"/>
            <a:ext cx="10000" cy="100000"/>
          </a:xfrm>
          <a:prstGeom prst="rect">
            <a:avLst/>
          </a:prstGeom>
          <a:solidFill>
            <a:srgbClr val="64748B">
              <a:alpha val="60000"/>
            </a:srgbClr>
          </a:solidFill>
          <a:ln>
            <a:noFill/>
          </a:ln>
        </p:spPr>
        <p:txBody>
          <a:bodyPr/>
          <a:lstStyle/>
          <a:p>
            <a:endParaRPr/>
          </a:p>
        </p:txBody>
      </p:sp>
      <p:sp>
        <p:nvSpPr>
          <p:cNvPr id="18" name="vl"/>
          <p:cNvSpPr/>
          <p:nvPr/>
        </p:nvSpPr>
        <p:spPr>
          <a:xfrm>
            <a:off x="5617000" y="2050000"/>
            <a:ext cx="10000" cy="100000"/>
          </a:xfrm>
          <a:prstGeom prst="rect">
            <a:avLst/>
          </a:prstGeom>
          <a:solidFill>
            <a:srgbClr val="64748B">
              <a:alpha val="60000"/>
            </a:srgbClr>
          </a:solidFill>
          <a:ln>
            <a:noFill/>
          </a:ln>
        </p:spPr>
        <p:txBody>
          <a:bodyPr/>
          <a:lstStyle/>
          <a:p>
            <a:endParaRPr/>
          </a:p>
        </p:txBody>
      </p:sp>
      <p:sp>
        <p:nvSpPr>
          <p:cNvPr id="19" name="vl"/>
          <p:cNvSpPr/>
          <p:nvPr/>
        </p:nvSpPr>
        <p:spPr>
          <a:xfrm>
            <a:off x="7717000" y="2050000"/>
            <a:ext cx="10000" cy="100000"/>
          </a:xfrm>
          <a:prstGeom prst="rect">
            <a:avLst/>
          </a:prstGeom>
          <a:solidFill>
            <a:srgbClr val="64748B">
              <a:alpha val="60000"/>
            </a:srgbClr>
          </a:solidFill>
          <a:ln>
            <a:noFill/>
          </a:ln>
        </p:spPr>
        <p:txBody>
          <a:bodyPr/>
          <a:lstStyle/>
          <a:p>
            <a:endParaRPr/>
          </a:p>
        </p:txBody>
      </p:sp>
      <p:sp>
        <p:nvSpPr>
          <p:cNvPr id="20" name="tn"/>
          <p:cNvSpPr/>
          <p:nvPr/>
        </p:nvSpPr>
        <p:spPr>
          <a:xfrm>
            <a:off x="472000" y="2150000"/>
            <a:ext cx="1900000" cy="300000"/>
          </a:xfrm>
          <a:prstGeom prst="roundRect">
            <a:avLst>
              <a:gd name="adj" fmla="val 18000"/>
            </a:avLst>
          </a:prstGeom>
          <a:solidFill>
            <a:srgbClr val="FFFFFF"/>
          </a:solidFill>
          <a:ln w="15875">
            <a:solidFill>
              <a:srgbClr val="2563EB"/>
            </a:solidFill>
          </a:ln>
          <a:effectLst>
            <a:outerShdw blurRad="90000" dist="38000" dir="5400000" rotWithShape="0">
              <a:srgbClr val="1E3A8A">
                <a:alpha val="16000"/>
              </a:srgbClr>
            </a:outerShdw>
          </a:effectLst>
        </p:spPr>
        <p:txBody>
          <a:bodyPr/>
          <a:lstStyle/>
          <a:p>
            <a:endParaRPr/>
          </a:p>
        </p:txBody>
      </p:sp>
      <p:sp>
        <p:nvSpPr>
          <p:cNvPr id="21" name="tnt"/>
          <p:cNvSpPr txBox="1"/>
          <p:nvPr/>
        </p:nvSpPr>
        <p:spPr>
          <a:xfrm>
            <a:off x="472000" y="2150000"/>
            <a:ext cx="1900000" cy="300000"/>
          </a:xfrm>
          <a:prstGeom prst="rect">
            <a:avLst/>
          </a:prstGeom>
          <a:noFill/>
        </p:spPr>
        <p:txBody>
          <a:bodyPr wrap="square" lIns="0" tIns="0" rIns="0" bIns="0" anchor="ctr">
            <a:noAutofit/>
          </a:bodyPr>
          <a:lstStyle/>
          <a:p>
            <a:pPr marL="0" indent="0" algn="ctr">
              <a:spcAft>
                <a:spcPts val="0"/>
              </a:spcAft>
              <a:buNone/>
            </a:pPr>
            <a:r>
              <a:rPr lang="en-US" sz="1050" b="1">
                <a:solidFill>
                  <a:srgbClr val="2563EB"/>
                </a:solidFill>
                <a:latin typeface="Consolas"/>
              </a:rPr>
              <a:t>Animal</a:t>
            </a:r>
          </a:p>
        </p:txBody>
      </p:sp>
      <p:sp>
        <p:nvSpPr>
          <p:cNvPr id="22" name="tn"/>
          <p:cNvSpPr/>
          <p:nvPr/>
        </p:nvSpPr>
        <p:spPr>
          <a:xfrm>
            <a:off x="2572000" y="2150000"/>
            <a:ext cx="1900000" cy="300000"/>
          </a:xfrm>
          <a:prstGeom prst="roundRect">
            <a:avLst>
              <a:gd name="adj" fmla="val 18000"/>
            </a:avLst>
          </a:prstGeom>
          <a:solidFill>
            <a:srgbClr val="FFFFFF"/>
          </a:solidFill>
          <a:ln w="15875">
            <a:solidFill>
              <a:srgbClr val="64748B"/>
            </a:solidFill>
          </a:ln>
          <a:effectLst>
            <a:outerShdw blurRad="90000" dist="38000" dir="5400000" rotWithShape="0">
              <a:srgbClr val="1E3A8A">
                <a:alpha val="16000"/>
              </a:srgbClr>
            </a:outerShdw>
          </a:effectLst>
        </p:spPr>
        <p:txBody>
          <a:bodyPr/>
          <a:lstStyle/>
          <a:p>
            <a:endParaRPr/>
          </a:p>
        </p:txBody>
      </p:sp>
      <p:sp>
        <p:nvSpPr>
          <p:cNvPr id="23" name="tnt"/>
          <p:cNvSpPr txBox="1"/>
          <p:nvPr/>
        </p:nvSpPr>
        <p:spPr>
          <a:xfrm>
            <a:off x="2572000" y="2150000"/>
            <a:ext cx="1900000" cy="300000"/>
          </a:xfrm>
          <a:prstGeom prst="rect">
            <a:avLst/>
          </a:prstGeom>
          <a:noFill/>
        </p:spPr>
        <p:txBody>
          <a:bodyPr wrap="square" lIns="0" tIns="0" rIns="0" bIns="0" anchor="ctr">
            <a:noAutofit/>
          </a:bodyPr>
          <a:lstStyle/>
          <a:p>
            <a:pPr marL="0" indent="0" algn="ctr">
              <a:spcAft>
                <a:spcPts val="0"/>
              </a:spcAft>
              <a:buNone/>
            </a:pPr>
            <a:r>
              <a:rPr lang="en-US" sz="1050" b="1">
                <a:solidFill>
                  <a:srgbClr val="64748B"/>
                </a:solidFill>
                <a:latin typeface="Consolas"/>
              </a:rPr>
              <a:t>String</a:t>
            </a:r>
          </a:p>
        </p:txBody>
      </p:sp>
      <p:sp>
        <p:nvSpPr>
          <p:cNvPr id="24" name="tn"/>
          <p:cNvSpPr/>
          <p:nvPr/>
        </p:nvSpPr>
        <p:spPr>
          <a:xfrm>
            <a:off x="4672000" y="2150000"/>
            <a:ext cx="1900000" cy="300000"/>
          </a:xfrm>
          <a:prstGeom prst="roundRect">
            <a:avLst>
              <a:gd name="adj" fmla="val 18000"/>
            </a:avLst>
          </a:prstGeom>
          <a:solidFill>
            <a:srgbClr val="FFFFFF"/>
          </a:solidFill>
          <a:ln w="15875">
            <a:solidFill>
              <a:srgbClr val="64748B"/>
            </a:solidFill>
          </a:ln>
          <a:effectLst>
            <a:outerShdw blurRad="90000" dist="38000" dir="5400000" rotWithShape="0">
              <a:srgbClr val="1E3A8A">
                <a:alpha val="16000"/>
              </a:srgbClr>
            </a:outerShdw>
          </a:effectLst>
        </p:spPr>
        <p:txBody>
          <a:bodyPr/>
          <a:lstStyle/>
          <a:p>
            <a:endParaRPr/>
          </a:p>
        </p:txBody>
      </p:sp>
      <p:sp>
        <p:nvSpPr>
          <p:cNvPr id="25" name="tnt"/>
          <p:cNvSpPr txBox="1"/>
          <p:nvPr/>
        </p:nvSpPr>
        <p:spPr>
          <a:xfrm>
            <a:off x="4672000" y="2150000"/>
            <a:ext cx="1900000" cy="300000"/>
          </a:xfrm>
          <a:prstGeom prst="rect">
            <a:avLst/>
          </a:prstGeom>
          <a:noFill/>
        </p:spPr>
        <p:txBody>
          <a:bodyPr wrap="square" lIns="0" tIns="0" rIns="0" bIns="0" anchor="ctr">
            <a:noAutofit/>
          </a:bodyPr>
          <a:lstStyle/>
          <a:p>
            <a:pPr marL="0" indent="0" algn="ctr">
              <a:spcAft>
                <a:spcPts val="0"/>
              </a:spcAft>
              <a:buNone/>
            </a:pPr>
            <a:r>
              <a:rPr lang="en-US" sz="1050" b="1">
                <a:solidFill>
                  <a:srgbClr val="64748B"/>
                </a:solidFill>
                <a:latin typeface="Consolas"/>
              </a:rPr>
              <a:t>Integer</a:t>
            </a:r>
          </a:p>
        </p:txBody>
      </p:sp>
      <p:sp>
        <p:nvSpPr>
          <p:cNvPr id="26" name="tn"/>
          <p:cNvSpPr/>
          <p:nvPr/>
        </p:nvSpPr>
        <p:spPr>
          <a:xfrm>
            <a:off x="6772000" y="2150000"/>
            <a:ext cx="1900000" cy="300000"/>
          </a:xfrm>
          <a:prstGeom prst="roundRect">
            <a:avLst>
              <a:gd name="adj" fmla="val 18000"/>
            </a:avLst>
          </a:prstGeom>
          <a:solidFill>
            <a:srgbClr val="FFFFFF"/>
          </a:solidFill>
          <a:ln w="15875">
            <a:solidFill>
              <a:srgbClr val="7C3AED"/>
            </a:solidFill>
          </a:ln>
          <a:effectLst>
            <a:outerShdw blurRad="90000" dist="38000" dir="5400000" rotWithShape="0">
              <a:srgbClr val="1E3A8A">
                <a:alpha val="16000"/>
              </a:srgbClr>
            </a:outerShdw>
          </a:effectLst>
        </p:spPr>
        <p:txBody>
          <a:bodyPr/>
          <a:lstStyle/>
          <a:p>
            <a:endParaRPr/>
          </a:p>
        </p:txBody>
      </p:sp>
      <p:sp>
        <p:nvSpPr>
          <p:cNvPr id="27" name="tnt"/>
          <p:cNvSpPr txBox="1"/>
          <p:nvPr/>
        </p:nvSpPr>
        <p:spPr>
          <a:xfrm>
            <a:off x="6772000" y="2150000"/>
            <a:ext cx="1900000" cy="300000"/>
          </a:xfrm>
          <a:prstGeom prst="rect">
            <a:avLst/>
          </a:prstGeom>
          <a:noFill/>
        </p:spPr>
        <p:txBody>
          <a:bodyPr wrap="square" lIns="0" tIns="0" rIns="0" bIns="0" anchor="ctr">
            <a:noAutofit/>
          </a:bodyPr>
          <a:lstStyle/>
          <a:p>
            <a:pPr marL="0" indent="0" algn="ctr">
              <a:spcAft>
                <a:spcPts val="0"/>
              </a:spcAft>
              <a:buNone/>
            </a:pPr>
            <a:r>
              <a:rPr lang="en-US" sz="1050" b="1" i="1">
                <a:solidFill>
                  <a:srgbClr val="7C3AED"/>
                </a:solidFill>
                <a:latin typeface="Consolas"/>
              </a:rPr>
              <a:t>[YourClass]</a:t>
            </a:r>
          </a:p>
        </p:txBody>
      </p:sp>
      <p:sp>
        <p:nvSpPr>
          <p:cNvPr id="28" name="ycl"/>
          <p:cNvSpPr txBox="1"/>
          <p:nvPr/>
        </p:nvSpPr>
        <p:spPr>
          <a:xfrm>
            <a:off x="6622000" y="2470000"/>
            <a:ext cx="2200000" cy="170000"/>
          </a:xfrm>
          <a:prstGeom prst="rect">
            <a:avLst/>
          </a:prstGeom>
          <a:noFill/>
        </p:spPr>
        <p:txBody>
          <a:bodyPr wrap="square" lIns="0" tIns="0" rIns="0" bIns="0" anchor="t">
            <a:noAutofit/>
          </a:bodyPr>
          <a:lstStyle/>
          <a:p>
            <a:pPr marL="0" indent="0" algn="ctr">
              <a:spcAft>
                <a:spcPts val="0"/>
              </a:spcAft>
              <a:buNone/>
            </a:pPr>
            <a:r>
              <a:rPr lang="en-US" sz="800" b="0" i="1">
                <a:solidFill>
                  <a:srgbClr val="64748B"/>
                </a:solidFill>
                <a:latin typeface="Roboto"/>
              </a:rPr>
              <a:t>any class you write</a:t>
            </a:r>
          </a:p>
        </p:txBody>
      </p:sp>
      <p:sp>
        <p:nvSpPr>
          <p:cNvPr id="29" name="vl"/>
          <p:cNvSpPr/>
          <p:nvPr/>
        </p:nvSpPr>
        <p:spPr>
          <a:xfrm>
            <a:off x="1417000" y="2450000"/>
            <a:ext cx="10000" cy="130000"/>
          </a:xfrm>
          <a:prstGeom prst="rect">
            <a:avLst/>
          </a:prstGeom>
          <a:solidFill>
            <a:srgbClr val="64748B">
              <a:alpha val="60000"/>
            </a:srgbClr>
          </a:solidFill>
          <a:ln>
            <a:noFill/>
          </a:ln>
        </p:spPr>
        <p:txBody>
          <a:bodyPr/>
          <a:lstStyle/>
          <a:p>
            <a:endParaRPr/>
          </a:p>
        </p:txBody>
      </p:sp>
      <p:sp>
        <p:nvSpPr>
          <p:cNvPr id="30" name="tn"/>
          <p:cNvSpPr/>
          <p:nvPr/>
        </p:nvSpPr>
        <p:spPr>
          <a:xfrm>
            <a:off x="472000" y="2580000"/>
            <a:ext cx="1900000" cy="300000"/>
          </a:xfrm>
          <a:prstGeom prst="roundRect">
            <a:avLst>
              <a:gd name="adj" fmla="val 18000"/>
            </a:avLst>
          </a:prstGeom>
          <a:solidFill>
            <a:srgbClr val="FFFFFF"/>
          </a:solidFill>
          <a:ln w="15875">
            <a:solidFill>
              <a:srgbClr val="06B6D4"/>
            </a:solidFill>
          </a:ln>
          <a:effectLst>
            <a:outerShdw blurRad="90000" dist="38000" dir="5400000" rotWithShape="0">
              <a:srgbClr val="1E3A8A">
                <a:alpha val="16000"/>
              </a:srgbClr>
            </a:outerShdw>
          </a:effectLst>
        </p:spPr>
        <p:txBody>
          <a:bodyPr/>
          <a:lstStyle/>
          <a:p>
            <a:endParaRPr/>
          </a:p>
        </p:txBody>
      </p:sp>
      <p:sp>
        <p:nvSpPr>
          <p:cNvPr id="31" name="tnt"/>
          <p:cNvSpPr txBox="1"/>
          <p:nvPr/>
        </p:nvSpPr>
        <p:spPr>
          <a:xfrm>
            <a:off x="472000" y="2580000"/>
            <a:ext cx="1900000" cy="300000"/>
          </a:xfrm>
          <a:prstGeom prst="rect">
            <a:avLst/>
          </a:prstGeom>
          <a:noFill/>
        </p:spPr>
        <p:txBody>
          <a:bodyPr wrap="square" lIns="0" tIns="0" rIns="0" bIns="0" anchor="ctr">
            <a:noAutofit/>
          </a:bodyPr>
          <a:lstStyle/>
          <a:p>
            <a:pPr marL="0" indent="0" algn="ctr">
              <a:spcAft>
                <a:spcPts val="0"/>
              </a:spcAft>
              <a:buNone/>
            </a:pPr>
            <a:r>
              <a:rPr lang="en-US" sz="1050" b="1">
                <a:solidFill>
                  <a:srgbClr val="06B6D4"/>
                </a:solidFill>
                <a:latin typeface="Consolas"/>
              </a:rPr>
              <a:t>Dog</a:t>
            </a:r>
          </a:p>
        </p:txBody>
      </p:sp>
      <p:sp>
        <p:nvSpPr>
          <p:cNvPr id="32" name="vl"/>
          <p:cNvSpPr/>
          <p:nvPr/>
        </p:nvSpPr>
        <p:spPr>
          <a:xfrm>
            <a:off x="1417000" y="2880000"/>
            <a:ext cx="10000" cy="120000"/>
          </a:xfrm>
          <a:prstGeom prst="rect">
            <a:avLst/>
          </a:prstGeom>
          <a:solidFill>
            <a:srgbClr val="64748B">
              <a:alpha val="60000"/>
            </a:srgbClr>
          </a:solidFill>
          <a:ln>
            <a:noFill/>
          </a:ln>
        </p:spPr>
        <p:txBody>
          <a:bodyPr/>
          <a:lstStyle/>
          <a:p>
            <a:endParaRPr/>
          </a:p>
        </p:txBody>
      </p:sp>
      <p:sp>
        <p:nvSpPr>
          <p:cNvPr id="33" name="tn"/>
          <p:cNvSpPr/>
          <p:nvPr/>
        </p:nvSpPr>
        <p:spPr>
          <a:xfrm>
            <a:off x="472000" y="3000000"/>
            <a:ext cx="1900000" cy="300000"/>
          </a:xfrm>
          <a:prstGeom prst="roundRect">
            <a:avLst>
              <a:gd name="adj" fmla="val 18000"/>
            </a:avLst>
          </a:prstGeom>
          <a:solidFill>
            <a:srgbClr val="FFFFFF"/>
          </a:solidFill>
          <a:ln w="15875">
            <a:solidFill>
              <a:srgbClr val="7C3AED"/>
            </a:solidFill>
          </a:ln>
          <a:effectLst>
            <a:outerShdw blurRad="90000" dist="38000" dir="5400000" rotWithShape="0">
              <a:srgbClr val="1E3A8A">
                <a:alpha val="16000"/>
              </a:srgbClr>
            </a:outerShdw>
          </a:effectLst>
        </p:spPr>
        <p:txBody>
          <a:bodyPr/>
          <a:lstStyle/>
          <a:p>
            <a:endParaRPr/>
          </a:p>
        </p:txBody>
      </p:sp>
      <p:sp>
        <p:nvSpPr>
          <p:cNvPr id="34" name="tnt"/>
          <p:cNvSpPr txBox="1"/>
          <p:nvPr/>
        </p:nvSpPr>
        <p:spPr>
          <a:xfrm>
            <a:off x="472000" y="3000000"/>
            <a:ext cx="1900000" cy="300000"/>
          </a:xfrm>
          <a:prstGeom prst="rect">
            <a:avLst/>
          </a:prstGeom>
          <a:noFill/>
        </p:spPr>
        <p:txBody>
          <a:bodyPr wrap="square" lIns="0" tIns="0" rIns="0" bIns="0" anchor="ctr">
            <a:noAutofit/>
          </a:bodyPr>
          <a:lstStyle/>
          <a:p>
            <a:pPr marL="0" indent="0" algn="ctr">
              <a:spcAft>
                <a:spcPts val="0"/>
              </a:spcAft>
              <a:buNone/>
            </a:pPr>
            <a:r>
              <a:rPr lang="en-US" sz="1050" b="1">
                <a:solidFill>
                  <a:srgbClr val="7C3AED"/>
                </a:solidFill>
                <a:latin typeface="Consolas"/>
              </a:rPr>
              <a:t>GoldenRetriever</a:t>
            </a:r>
          </a:p>
        </p:txBody>
      </p:sp>
      <p:sp>
        <p:nvSpPr>
          <p:cNvPr id="35" name="c1"/>
          <p:cNvSpPr/>
          <p:nvPr/>
        </p:nvSpPr>
        <p:spPr>
          <a:xfrm>
            <a:off x="316700" y="3458655"/>
            <a:ext cx="2733000" cy="7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6" name="B36"/>
          <p:cNvSpPr/>
          <p:nvPr/>
        </p:nvSpPr>
        <p:spPr>
          <a:xfrm>
            <a:off x="461700" y="3530000"/>
            <a:ext cx="280000" cy="280000"/>
          </a:xfrm>
          <a:prstGeom prst="ellipse">
            <a:avLst/>
          </a:prstGeom>
          <a:solidFill>
            <a:srgbClr val="2563EB"/>
          </a:solidFill>
          <a:ln>
            <a:noFill/>
          </a:ln>
        </p:spPr>
        <p:txBody>
          <a:bodyPr/>
          <a:lstStyle/>
          <a:p>
            <a:endParaRPr/>
          </a:p>
        </p:txBody>
      </p:sp>
      <p:sp>
        <p:nvSpPr>
          <p:cNvPr id="37" name="BG37"/>
          <p:cNvSpPr txBox="1"/>
          <p:nvPr/>
        </p:nvSpPr>
        <p:spPr>
          <a:xfrm>
            <a:off x="461700" y="3530000"/>
            <a:ext cx="280000" cy="280000"/>
          </a:xfrm>
          <a:prstGeom prst="rect">
            <a:avLst/>
          </a:prstGeom>
          <a:noFill/>
        </p:spPr>
        <p:txBody>
          <a:bodyPr wrap="square" lIns="0" tIns="0" rIns="0" bIns="0" anchor="ctr">
            <a:noAutofit/>
          </a:bodyPr>
          <a:lstStyle/>
          <a:p>
            <a:pPr marL="0" indent="0" algn="ctr">
              <a:spcAft>
                <a:spcPts val="0"/>
              </a:spcAft>
              <a:buNone/>
            </a:pPr>
            <a:r>
              <a:rPr lang="en-US" sz="1050" b="1" dirty="0">
                <a:solidFill>
                  <a:srgbClr val="FFFFFF"/>
                </a:solidFill>
                <a:latin typeface="Arial"/>
              </a:rPr>
              <a:t>1</a:t>
            </a:r>
          </a:p>
        </p:txBody>
      </p:sp>
      <p:sp>
        <p:nvSpPr>
          <p:cNvPr id="38" name="HD"/>
          <p:cNvSpPr txBox="1"/>
          <p:nvPr/>
        </p:nvSpPr>
        <p:spPr>
          <a:xfrm>
            <a:off x="861700" y="353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2563EB"/>
                </a:solidFill>
                <a:latin typeface="Roboto"/>
              </a:rPr>
              <a:t>SINGLE INHERITANCE ONLY</a:t>
            </a:r>
          </a:p>
        </p:txBody>
      </p:sp>
      <p:sp>
        <p:nvSpPr>
          <p:cNvPr id="39" name="BD"/>
          <p:cNvSpPr txBox="1"/>
          <p:nvPr/>
        </p:nvSpPr>
        <p:spPr>
          <a:xfrm>
            <a:off x="481700" y="3920000"/>
            <a:ext cx="2413000" cy="180000"/>
          </a:xfrm>
          <a:prstGeom prst="rect">
            <a:avLst/>
          </a:prstGeom>
          <a:noFill/>
        </p:spPr>
        <p:txBody>
          <a:bodyPr wrap="square" lIns="0" tIns="0" rIns="0" bIns="0" anchor="t">
            <a:noAutofit/>
          </a:bodyPr>
          <a:lstStyle/>
          <a:p>
            <a:pPr marL="0" indent="0">
              <a:spcAft>
                <a:spcPts val="0"/>
              </a:spcAft>
              <a:buNone/>
            </a:pPr>
            <a:r>
              <a:rPr lang="en-US" sz="880" b="0">
                <a:solidFill>
                  <a:srgbClr val="334155"/>
                </a:solidFill>
                <a:latin typeface="Roboto"/>
              </a:rPr>
              <a:t>A class can extend exactly </a:t>
            </a:r>
            <a:r>
              <a:rPr lang="en-US" sz="880" b="1">
                <a:solidFill>
                  <a:srgbClr val="2563EB"/>
                </a:solidFill>
                <a:latin typeface="Roboto"/>
              </a:rPr>
              <a:t>ONE</a:t>
            </a:r>
            <a:r>
              <a:rPr lang="en-US" sz="880" b="0">
                <a:solidFill>
                  <a:srgbClr val="334155"/>
                </a:solidFill>
                <a:latin typeface="Roboto"/>
              </a:rPr>
              <a:t> other class at a time. No multiple parents.</a:t>
            </a:r>
          </a:p>
        </p:txBody>
      </p:sp>
      <p:sp>
        <p:nvSpPr>
          <p:cNvPr id="40" name="c2"/>
          <p:cNvSpPr/>
          <p:nvPr/>
        </p:nvSpPr>
        <p:spPr>
          <a:xfrm>
            <a:off x="3200500" y="3467800"/>
            <a:ext cx="2733000" cy="7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41" name="B41"/>
          <p:cNvSpPr/>
          <p:nvPr/>
        </p:nvSpPr>
        <p:spPr>
          <a:xfrm>
            <a:off x="3354700" y="3530000"/>
            <a:ext cx="280000" cy="280000"/>
          </a:xfrm>
          <a:prstGeom prst="ellipse">
            <a:avLst/>
          </a:prstGeom>
          <a:solidFill>
            <a:srgbClr val="22C55E"/>
          </a:solidFill>
          <a:ln>
            <a:noFill/>
          </a:ln>
        </p:spPr>
        <p:txBody>
          <a:bodyPr/>
          <a:lstStyle/>
          <a:p>
            <a:endParaRPr/>
          </a:p>
        </p:txBody>
      </p:sp>
      <p:sp>
        <p:nvSpPr>
          <p:cNvPr id="42" name="BG42"/>
          <p:cNvSpPr txBox="1"/>
          <p:nvPr/>
        </p:nvSpPr>
        <p:spPr>
          <a:xfrm>
            <a:off x="3354700" y="353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43" name="HD"/>
          <p:cNvSpPr txBox="1"/>
          <p:nvPr/>
        </p:nvSpPr>
        <p:spPr>
          <a:xfrm>
            <a:off x="3754700" y="353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22C55E"/>
                </a:solidFill>
                <a:latin typeface="Roboto"/>
              </a:rPr>
              <a:t>IMPLICIT ROOT</a:t>
            </a:r>
          </a:p>
        </p:txBody>
      </p:sp>
      <p:sp>
        <p:nvSpPr>
          <p:cNvPr id="44" name="BD"/>
          <p:cNvSpPr txBox="1"/>
          <p:nvPr/>
        </p:nvSpPr>
        <p:spPr>
          <a:xfrm>
            <a:off x="3374700" y="3920000"/>
            <a:ext cx="2413000" cy="180000"/>
          </a:xfrm>
          <a:prstGeom prst="rect">
            <a:avLst/>
          </a:prstGeom>
          <a:noFill/>
        </p:spPr>
        <p:txBody>
          <a:bodyPr wrap="square" lIns="0" tIns="0" rIns="0" bIns="0" anchor="t">
            <a:noAutofit/>
          </a:bodyPr>
          <a:lstStyle/>
          <a:p>
            <a:pPr marL="0" indent="0">
              <a:spcAft>
                <a:spcPts val="0"/>
              </a:spcAft>
              <a:buNone/>
            </a:pPr>
            <a:r>
              <a:rPr lang="en-US" sz="880" b="0">
                <a:solidFill>
                  <a:srgbClr val="334155"/>
                </a:solidFill>
                <a:latin typeface="Roboto"/>
              </a:rPr>
              <a:t>Any class that does not explicitly extend another automatically extends </a:t>
            </a:r>
            <a:r>
              <a:rPr lang="en-US" sz="880" b="1">
                <a:solidFill>
                  <a:srgbClr val="16A34A"/>
                </a:solidFill>
                <a:latin typeface="Consolas"/>
              </a:rPr>
              <a:t>Object</a:t>
            </a:r>
            <a:r>
              <a:rPr lang="en-US" sz="880" b="0">
                <a:solidFill>
                  <a:srgbClr val="334155"/>
                </a:solidFill>
                <a:latin typeface="Roboto"/>
              </a:rPr>
              <a:t>.</a:t>
            </a:r>
          </a:p>
        </p:txBody>
      </p:sp>
      <p:sp>
        <p:nvSpPr>
          <p:cNvPr id="45" name="c3"/>
          <p:cNvSpPr/>
          <p:nvPr/>
        </p:nvSpPr>
        <p:spPr>
          <a:xfrm>
            <a:off x="6089000" y="3467800"/>
            <a:ext cx="2733000" cy="7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46" name="B46"/>
          <p:cNvSpPr/>
          <p:nvPr/>
        </p:nvSpPr>
        <p:spPr>
          <a:xfrm>
            <a:off x="6247700" y="3530000"/>
            <a:ext cx="280000" cy="280000"/>
          </a:xfrm>
          <a:prstGeom prst="ellipse">
            <a:avLst/>
          </a:prstGeom>
          <a:solidFill>
            <a:srgbClr val="7C3AED"/>
          </a:solidFill>
          <a:ln>
            <a:noFill/>
          </a:ln>
        </p:spPr>
        <p:txBody>
          <a:bodyPr/>
          <a:lstStyle/>
          <a:p>
            <a:endParaRPr/>
          </a:p>
        </p:txBody>
      </p:sp>
      <p:sp>
        <p:nvSpPr>
          <p:cNvPr id="47" name="BG47"/>
          <p:cNvSpPr txBox="1"/>
          <p:nvPr/>
        </p:nvSpPr>
        <p:spPr>
          <a:xfrm>
            <a:off x="6247700" y="353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48" name="HD"/>
          <p:cNvSpPr txBox="1"/>
          <p:nvPr/>
        </p:nvSpPr>
        <p:spPr>
          <a:xfrm>
            <a:off x="6647700" y="353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7C3AED"/>
                </a:solidFill>
                <a:latin typeface="Roboto"/>
              </a:rPr>
              <a:t>OBJECT'S METHODS</a:t>
            </a:r>
          </a:p>
        </p:txBody>
      </p:sp>
      <p:sp>
        <p:nvSpPr>
          <p:cNvPr id="49" name="BD"/>
          <p:cNvSpPr txBox="1"/>
          <p:nvPr/>
        </p:nvSpPr>
        <p:spPr>
          <a:xfrm>
            <a:off x="6274566" y="3820000"/>
            <a:ext cx="2413000" cy="200000"/>
          </a:xfrm>
          <a:prstGeom prst="rect">
            <a:avLst/>
          </a:prstGeom>
          <a:noFill/>
        </p:spPr>
        <p:txBody>
          <a:bodyPr wrap="square" lIns="0" tIns="0" rIns="0" bIns="0" anchor="t">
            <a:noAutofit/>
          </a:bodyPr>
          <a:lstStyle/>
          <a:p>
            <a:pPr marL="0" indent="0">
              <a:spcAft>
                <a:spcPts val="30"/>
              </a:spcAft>
              <a:buNone/>
            </a:pPr>
            <a:r>
              <a:rPr lang="en-US" sz="820" b="1" dirty="0" err="1">
                <a:solidFill>
                  <a:srgbClr val="334155"/>
                </a:solidFill>
                <a:latin typeface="Consolas"/>
              </a:rPr>
              <a:t>toString</a:t>
            </a:r>
            <a:r>
              <a:rPr lang="en-US" sz="820" b="1" dirty="0">
                <a:solidFill>
                  <a:srgbClr val="334155"/>
                </a:solidFill>
                <a:latin typeface="Consolas"/>
              </a:rPr>
              <a:t>()</a:t>
            </a:r>
            <a:r>
              <a:rPr lang="en-US" sz="820" b="0" dirty="0">
                <a:solidFill>
                  <a:srgbClr val="64748B"/>
                </a:solidFill>
                <a:latin typeface="Roboto"/>
              </a:rPr>
              <a:t> — text representation</a:t>
            </a:r>
          </a:p>
          <a:p>
            <a:pPr marL="0" indent="0">
              <a:spcAft>
                <a:spcPts val="30"/>
              </a:spcAft>
              <a:buNone/>
            </a:pPr>
            <a:r>
              <a:rPr lang="en-US" sz="820" b="1" dirty="0">
                <a:solidFill>
                  <a:srgbClr val="334155"/>
                </a:solidFill>
                <a:latin typeface="Consolas"/>
              </a:rPr>
              <a:t>equals()</a:t>
            </a:r>
            <a:r>
              <a:rPr lang="en-US" sz="820" b="0" dirty="0">
                <a:solidFill>
                  <a:srgbClr val="64748B"/>
                </a:solidFill>
                <a:latin typeface="Roboto"/>
              </a:rPr>
              <a:t> — content comparison</a:t>
            </a:r>
          </a:p>
          <a:p>
            <a:pPr marL="0" indent="0">
              <a:spcAft>
                <a:spcPts val="0"/>
              </a:spcAft>
              <a:buNone/>
            </a:pPr>
            <a:r>
              <a:rPr lang="en-US" sz="820" b="1" dirty="0" err="1">
                <a:solidFill>
                  <a:srgbClr val="334155"/>
                </a:solidFill>
                <a:latin typeface="Consolas"/>
              </a:rPr>
              <a:t>hashCode</a:t>
            </a:r>
            <a:r>
              <a:rPr lang="en-US" sz="820" b="1" dirty="0">
                <a:solidFill>
                  <a:srgbClr val="334155"/>
                </a:solidFill>
                <a:latin typeface="Consolas"/>
              </a:rPr>
              <a:t>()</a:t>
            </a:r>
            <a:r>
              <a:rPr lang="en-US" sz="820" b="0" dirty="0">
                <a:solidFill>
                  <a:srgbClr val="64748B"/>
                </a:solidFill>
                <a:latin typeface="Roboto"/>
              </a:rPr>
              <a:t> — hash identity</a:t>
            </a:r>
          </a:p>
        </p:txBody>
      </p:sp>
      <p:sp>
        <p:nvSpPr>
          <p:cNvPr id="50" name="CO50"/>
          <p:cNvSpPr/>
          <p:nvPr/>
        </p:nvSpPr>
        <p:spPr>
          <a:xfrm>
            <a:off x="311700" y="4250000"/>
            <a:ext cx="8520600" cy="360000"/>
          </a:xfrm>
          <a:prstGeom prst="roundRect">
            <a:avLst>
              <a:gd name="adj" fmla="val 22000"/>
            </a:avLst>
          </a:prstGeom>
          <a:solidFill>
            <a:srgbClr val="F59E0B">
              <a:alpha val="12000"/>
            </a:srgbClr>
          </a:solidFill>
          <a:ln>
            <a:noFill/>
          </a:ln>
        </p:spPr>
        <p:txBody>
          <a:bodyPr/>
          <a:lstStyle/>
          <a:p>
            <a:endParaRPr/>
          </a:p>
        </p:txBody>
      </p:sp>
      <p:sp>
        <p:nvSpPr>
          <p:cNvPr id="51" name="COT50"/>
          <p:cNvSpPr txBox="1"/>
          <p:nvPr/>
        </p:nvSpPr>
        <p:spPr>
          <a:xfrm>
            <a:off x="451700" y="4250000"/>
            <a:ext cx="8240600" cy="360000"/>
          </a:xfrm>
          <a:prstGeom prst="rect">
            <a:avLst/>
          </a:prstGeom>
          <a:noFill/>
        </p:spPr>
        <p:txBody>
          <a:bodyPr wrap="square" lIns="0" tIns="0" rIns="0" bIns="0" anchor="ctr">
            <a:noAutofit/>
          </a:bodyPr>
          <a:lstStyle/>
          <a:p>
            <a:pPr marL="0" indent="0" algn="ctr">
              <a:spcAft>
                <a:spcPts val="0"/>
              </a:spcAft>
              <a:buNone/>
            </a:pPr>
            <a:r>
              <a:rPr lang="en-US" sz="1050" b="0" dirty="0">
                <a:solidFill>
                  <a:srgbClr val="334155"/>
                </a:solidFill>
                <a:latin typeface="Roboto"/>
              </a:rPr>
              <a:t>This is why every Java object has a </a:t>
            </a:r>
            <a:r>
              <a:rPr lang="en-US" sz="1050" b="1" dirty="0" err="1">
                <a:solidFill>
                  <a:srgbClr val="B45309"/>
                </a:solidFill>
                <a:latin typeface="Consolas"/>
              </a:rPr>
              <a:t>toString</a:t>
            </a:r>
            <a:r>
              <a:rPr lang="en-US" sz="1050" b="1" dirty="0">
                <a:solidFill>
                  <a:srgbClr val="B45309"/>
                </a:solidFill>
                <a:latin typeface="Consolas"/>
              </a:rPr>
              <a:t>()</a:t>
            </a:r>
            <a:endParaRPr lang="en-US" sz="1050" b="0" dirty="0">
              <a:solidFill>
                <a:srgbClr val="334155"/>
              </a:solidFill>
              <a:latin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Overriding,  Redefine What You Inherit</a:t>
            </a:r>
          </a:p>
        </p:txBody>
      </p:sp>
      <p:sp>
        <p:nvSpPr>
          <p:cNvPr id="10" name="Def"/>
          <p:cNvSpPr txBox="1"/>
          <p:nvPr/>
        </p:nvSpPr>
        <p:spPr>
          <a:xfrm>
            <a:off x="311700" y="1010000"/>
            <a:ext cx="8520600" cy="400000"/>
          </a:xfrm>
          <a:prstGeom prst="rect">
            <a:avLst/>
          </a:prstGeom>
          <a:noFill/>
        </p:spPr>
        <p:txBody>
          <a:bodyPr wrap="square" lIns="0" tIns="0" rIns="0" bIns="0" anchor="t">
            <a:noAutofit/>
          </a:bodyPr>
          <a:lstStyle/>
          <a:p>
            <a:pPr marL="0" indent="0">
              <a:spcAft>
                <a:spcPts val="150"/>
              </a:spcAft>
              <a:buNone/>
            </a:pPr>
            <a:r>
              <a:rPr lang="en-US" sz="1300" b="0">
                <a:solidFill>
                  <a:srgbClr val="334155"/>
                </a:solidFill>
                <a:latin typeface="Roboto"/>
              </a:rPr>
              <a:t>Overriding </a:t>
            </a:r>
            <a:r>
              <a:rPr lang="en-US" sz="1300" b="1">
                <a:solidFill>
                  <a:srgbClr val="334155"/>
                </a:solidFill>
                <a:latin typeface="Roboto"/>
              </a:rPr>
              <a:t>replaces an inherited method</a:t>
            </a:r>
            <a:r>
              <a:rPr lang="en-US" sz="1300" b="0">
                <a:solidFill>
                  <a:srgbClr val="334155"/>
                </a:solidFill>
                <a:latin typeface="Roboto"/>
              </a:rPr>
              <a:t> with a new implementation tailored to the subclass.</a:t>
            </a:r>
          </a:p>
        </p:txBody>
      </p:sp>
      <p:sp>
        <p:nvSpPr>
          <p:cNvPr id="11" name="CP11"/>
          <p:cNvSpPr/>
          <p:nvPr/>
        </p:nvSpPr>
        <p:spPr>
          <a:xfrm>
            <a:off x="311700" y="1450000"/>
            <a:ext cx="4080000" cy="1470000"/>
          </a:xfrm>
          <a:prstGeom prst="roundRect">
            <a:avLst>
              <a:gd name="adj" fmla="val 5000"/>
            </a:avLst>
          </a:prstGeom>
          <a:solidFill>
            <a:srgbClr val="1E293B"/>
          </a:solidFill>
          <a:ln w="9525">
            <a:solidFill>
              <a:srgbClr val="334155"/>
            </a:solidFill>
          </a:ln>
        </p:spPr>
        <p:txBody>
          <a:bodyPr/>
          <a:lstStyle/>
          <a:p>
            <a:endParaRPr/>
          </a:p>
        </p:txBody>
      </p:sp>
      <p:sp>
        <p:nvSpPr>
          <p:cNvPr id="12" name="CL12"/>
          <p:cNvSpPr txBox="1"/>
          <p:nvPr/>
        </p:nvSpPr>
        <p:spPr>
          <a:xfrm>
            <a:off x="461700" y="1520000"/>
            <a:ext cx="3780000" cy="240000"/>
          </a:xfrm>
          <a:prstGeom prst="rect">
            <a:avLst/>
          </a:prstGeom>
          <a:noFill/>
        </p:spPr>
        <p:txBody>
          <a:bodyPr wrap="square" lIns="0" tIns="0" rIns="0" bIns="0" anchor="t">
            <a:noAutofit/>
          </a:bodyPr>
          <a:lstStyle/>
          <a:p>
            <a:pPr marL="0" indent="0">
              <a:spcAft>
                <a:spcPts val="0"/>
              </a:spcAft>
              <a:buNone/>
            </a:pPr>
            <a:r>
              <a:rPr lang="en-US" sz="950" b="1">
                <a:solidFill>
                  <a:srgbClr val="EF4444"/>
                </a:solidFill>
                <a:latin typeface="Roboto"/>
              </a:rPr>
              <a:t>Default toString() from Object</a:t>
            </a:r>
          </a:p>
        </p:txBody>
      </p:sp>
      <p:sp>
        <p:nvSpPr>
          <p:cNvPr id="13" name="CD13"/>
          <p:cNvSpPr txBox="1"/>
          <p:nvPr/>
        </p:nvSpPr>
        <p:spPr>
          <a:xfrm>
            <a:off x="491700" y="1810000"/>
            <a:ext cx="3750000" cy="1050000"/>
          </a:xfrm>
          <a:prstGeom prst="rect">
            <a:avLst/>
          </a:prstGeom>
          <a:noFill/>
        </p:spPr>
        <p:txBody>
          <a:bodyPr wrap="square" lIns="0" tIns="0" rIns="0" bIns="0" anchor="t">
            <a:noAutofit/>
          </a:bodyPr>
          <a:lstStyle/>
          <a:p>
            <a:pPr marL="0" indent="0">
              <a:spcAft>
                <a:spcPts val="20"/>
              </a:spcAft>
              <a:buNone/>
            </a:pPr>
            <a:r>
              <a:rPr lang="en-US" sz="880" b="0">
                <a:solidFill>
                  <a:srgbClr val="4EC9B0"/>
                </a:solidFill>
                <a:latin typeface="Consolas"/>
              </a:rPr>
              <a:t>Dog</a:t>
            </a:r>
            <a:r>
              <a:rPr lang="en-US" sz="880" b="0">
                <a:solidFill>
                  <a:srgbClr val="E2E8F0"/>
                </a:solidFill>
                <a:latin typeface="Consolas"/>
              </a:rPr>
              <a:t> rex </a:t>
            </a:r>
            <a:r>
              <a:rPr lang="en-US" sz="880" b="0">
                <a:solidFill>
                  <a:srgbClr val="94A3B8"/>
                </a:solidFill>
                <a:latin typeface="Consolas"/>
              </a:rPr>
              <a:t>=</a:t>
            </a:r>
            <a:r>
              <a:rPr lang="en-US" sz="880" b="0">
                <a:solidFill>
                  <a:srgbClr val="E2E8F0"/>
                </a:solidFill>
                <a:latin typeface="Consolas"/>
              </a:rPr>
              <a:t> </a:t>
            </a:r>
            <a:r>
              <a:rPr lang="en-US" sz="880" b="0">
                <a:solidFill>
                  <a:srgbClr val="60A5FA"/>
                </a:solidFill>
                <a:latin typeface="Consolas"/>
              </a:rPr>
              <a:t>new</a:t>
            </a:r>
            <a:r>
              <a:rPr lang="en-US" sz="880" b="0">
                <a:solidFill>
                  <a:srgbClr val="E2E8F0"/>
                </a:solidFill>
                <a:latin typeface="Consolas"/>
              </a:rPr>
              <a:t> </a:t>
            </a:r>
            <a:r>
              <a:rPr lang="en-US" sz="880" b="0">
                <a:solidFill>
                  <a:srgbClr val="4EC9B0"/>
                </a:solidFill>
                <a:latin typeface="Consolas"/>
              </a:rPr>
              <a:t>Dog</a:t>
            </a:r>
            <a:r>
              <a:rPr lang="en-US" sz="880" b="0">
                <a:solidFill>
                  <a:srgbClr val="94A3B8"/>
                </a:solidFill>
                <a:latin typeface="Consolas"/>
              </a:rPr>
              <a:t>(</a:t>
            </a:r>
            <a:r>
              <a:rPr lang="en-US" sz="880" b="0">
                <a:solidFill>
                  <a:srgbClr val="CE9178"/>
                </a:solidFill>
                <a:latin typeface="Consolas"/>
              </a:rPr>
              <a:t>"Rex"</a:t>
            </a:r>
            <a:r>
              <a:rPr lang="en-US" sz="880" b="0">
                <a:solidFill>
                  <a:srgbClr val="94A3B8"/>
                </a:solidFill>
                <a:latin typeface="Consolas"/>
              </a:rPr>
              <a:t>);</a:t>
            </a:r>
          </a:p>
          <a:p>
            <a:pPr marL="0" indent="0">
              <a:spcAft>
                <a:spcPts val="20"/>
              </a:spcAft>
              <a:buNone/>
            </a:pPr>
            <a:r>
              <a:rPr lang="en-US" sz="880" b="0">
                <a:solidFill>
                  <a:srgbClr val="4EC9B0"/>
                </a:solidFill>
                <a:latin typeface="Consolas"/>
              </a:rPr>
              <a:t>System</a:t>
            </a:r>
            <a:r>
              <a:rPr lang="en-US" sz="880" b="0">
                <a:solidFill>
                  <a:srgbClr val="94A3B8"/>
                </a:solidFill>
                <a:latin typeface="Consolas"/>
              </a:rPr>
              <a:t>.</a:t>
            </a:r>
            <a:r>
              <a:rPr lang="en-US" sz="880" b="0">
                <a:solidFill>
                  <a:srgbClr val="E2E8F0"/>
                </a:solidFill>
                <a:latin typeface="Consolas"/>
              </a:rPr>
              <a:t>out</a:t>
            </a:r>
            <a:r>
              <a:rPr lang="en-US" sz="880" b="0">
                <a:solidFill>
                  <a:srgbClr val="94A3B8"/>
                </a:solidFill>
                <a:latin typeface="Consolas"/>
              </a:rPr>
              <a:t>.</a:t>
            </a:r>
            <a:r>
              <a:rPr lang="en-US" sz="880" b="0">
                <a:solidFill>
                  <a:srgbClr val="DCDCAA"/>
                </a:solidFill>
                <a:latin typeface="Consolas"/>
              </a:rPr>
              <a:t>println</a:t>
            </a:r>
            <a:r>
              <a:rPr lang="en-US" sz="880" b="0">
                <a:solidFill>
                  <a:srgbClr val="94A3B8"/>
                </a:solidFill>
                <a:latin typeface="Consolas"/>
              </a:rPr>
              <a:t>(</a:t>
            </a:r>
            <a:r>
              <a:rPr lang="en-US" sz="880" b="0">
                <a:solidFill>
                  <a:srgbClr val="E2E8F0"/>
                </a:solidFill>
                <a:latin typeface="Consolas"/>
              </a:rPr>
              <a:t>rex</a:t>
            </a:r>
            <a:r>
              <a:rPr lang="en-US" sz="880" b="0">
                <a:solidFill>
                  <a:srgbClr val="94A3B8"/>
                </a:solidFill>
                <a:latin typeface="Consolas"/>
              </a:rPr>
              <a:t>);</a:t>
            </a:r>
          </a:p>
          <a:p>
            <a:pPr marL="0" indent="0">
              <a:spcAft>
                <a:spcPts val="20"/>
              </a:spcAft>
              <a:buNone/>
            </a:pPr>
            <a:r>
              <a:rPr lang="en-US" sz="880" b="0" i="1">
                <a:solidFill>
                  <a:srgbClr val="6A9955"/>
                </a:solidFill>
                <a:latin typeface="Consolas"/>
              </a:rPr>
              <a:t>// Output: Dog@3764951d</a:t>
            </a:r>
          </a:p>
          <a:p>
            <a:pPr marL="0" indent="0">
              <a:spcAft>
                <a:spcPts val="20"/>
              </a:spcAft>
              <a:buNone/>
            </a:pPr>
            <a:r>
              <a:rPr lang="en-US" sz="880" b="0" i="1">
                <a:solidFill>
                  <a:srgbClr val="6A9955"/>
                </a:solidFill>
                <a:latin typeface="Consolas"/>
              </a:rPr>
              <a:t>// ⚠ Not useful for debugging</a:t>
            </a:r>
          </a:p>
        </p:txBody>
      </p:sp>
      <p:sp>
        <p:nvSpPr>
          <p:cNvPr id="14" name="ln"/>
          <p:cNvSpPr txBox="1"/>
          <p:nvPr/>
        </p:nvSpPr>
        <p:spPr>
          <a:xfrm>
            <a:off x="331700" y="2960000"/>
            <a:ext cx="4040000" cy="360000"/>
          </a:xfrm>
          <a:prstGeom prst="rect">
            <a:avLst/>
          </a:prstGeom>
          <a:noFill/>
        </p:spPr>
        <p:txBody>
          <a:bodyPr wrap="square" lIns="0" tIns="0" rIns="0" bIns="0" anchor="t">
            <a:noAutofit/>
          </a:bodyPr>
          <a:lstStyle/>
          <a:p>
            <a:pPr marL="0" indent="0">
              <a:spcAft>
                <a:spcPts val="0"/>
              </a:spcAft>
              <a:buNone/>
            </a:pPr>
            <a:r>
              <a:rPr lang="en-US" sz="880" b="0" i="1">
                <a:solidFill>
                  <a:srgbClr val="64748B"/>
                </a:solidFill>
                <a:latin typeface="Roboto"/>
              </a:rPr>
              <a:t>The default prints a class name + memory address. Meaningless to a human.</a:t>
            </a:r>
          </a:p>
        </p:txBody>
      </p:sp>
      <p:sp>
        <p:nvSpPr>
          <p:cNvPr id="15" name="CP15"/>
          <p:cNvSpPr/>
          <p:nvPr/>
        </p:nvSpPr>
        <p:spPr>
          <a:xfrm>
            <a:off x="4752300" y="1450000"/>
            <a:ext cx="4080000" cy="1470000"/>
          </a:xfrm>
          <a:prstGeom prst="roundRect">
            <a:avLst>
              <a:gd name="adj" fmla="val 5000"/>
            </a:avLst>
          </a:prstGeom>
          <a:solidFill>
            <a:srgbClr val="1E293B"/>
          </a:solidFill>
          <a:ln w="9525">
            <a:solidFill>
              <a:srgbClr val="334155"/>
            </a:solidFill>
          </a:ln>
        </p:spPr>
        <p:txBody>
          <a:bodyPr/>
          <a:lstStyle/>
          <a:p>
            <a:endParaRPr/>
          </a:p>
        </p:txBody>
      </p:sp>
      <p:sp>
        <p:nvSpPr>
          <p:cNvPr id="16" name="CL16"/>
          <p:cNvSpPr txBox="1"/>
          <p:nvPr/>
        </p:nvSpPr>
        <p:spPr>
          <a:xfrm>
            <a:off x="4902300" y="1520000"/>
            <a:ext cx="3780000" cy="240000"/>
          </a:xfrm>
          <a:prstGeom prst="rect">
            <a:avLst/>
          </a:prstGeom>
          <a:noFill/>
        </p:spPr>
        <p:txBody>
          <a:bodyPr wrap="square" lIns="0" tIns="0" rIns="0" bIns="0" anchor="t">
            <a:noAutofit/>
          </a:bodyPr>
          <a:lstStyle/>
          <a:p>
            <a:pPr marL="0" indent="0">
              <a:spcAft>
                <a:spcPts val="0"/>
              </a:spcAft>
              <a:buNone/>
            </a:pPr>
            <a:r>
              <a:rPr lang="en-US" sz="950" b="1">
                <a:solidFill>
                  <a:srgbClr val="22C55E"/>
                </a:solidFill>
                <a:latin typeface="Roboto"/>
              </a:rPr>
              <a:t>Overriding toString() in Dog</a:t>
            </a:r>
          </a:p>
        </p:txBody>
      </p:sp>
      <p:sp>
        <p:nvSpPr>
          <p:cNvPr id="17" name="CD17"/>
          <p:cNvSpPr txBox="1"/>
          <p:nvPr/>
        </p:nvSpPr>
        <p:spPr>
          <a:xfrm>
            <a:off x="4932300" y="1810000"/>
            <a:ext cx="3750000" cy="1050000"/>
          </a:xfrm>
          <a:prstGeom prst="rect">
            <a:avLst/>
          </a:prstGeom>
          <a:noFill/>
        </p:spPr>
        <p:txBody>
          <a:bodyPr wrap="square" lIns="0" tIns="0" rIns="0" bIns="0" anchor="t">
            <a:noAutofit/>
          </a:bodyPr>
          <a:lstStyle/>
          <a:p>
            <a:pPr marL="0" indent="0">
              <a:spcAft>
                <a:spcPts val="20"/>
              </a:spcAft>
              <a:buNone/>
            </a:pPr>
            <a:r>
              <a:rPr lang="en-US" sz="800" b="0">
                <a:solidFill>
                  <a:srgbClr val="60A5FA"/>
                </a:solidFill>
                <a:latin typeface="Consolas"/>
              </a:rPr>
              <a:t>@Override</a:t>
            </a:r>
          </a:p>
          <a:p>
            <a:pPr marL="0" indent="0">
              <a:spcAft>
                <a:spcPts val="20"/>
              </a:spcAft>
              <a:buNone/>
            </a:pPr>
            <a:r>
              <a:rPr lang="en-US" sz="800" b="0">
                <a:solidFill>
                  <a:srgbClr val="60A5FA"/>
                </a:solidFill>
                <a:latin typeface="Consolas"/>
              </a:rPr>
              <a:t>public</a:t>
            </a:r>
            <a:r>
              <a:rPr lang="en-US" sz="800" b="0">
                <a:solidFill>
                  <a:srgbClr val="E2E8F0"/>
                </a:solidFill>
                <a:latin typeface="Consolas"/>
              </a:rPr>
              <a:t> </a:t>
            </a:r>
            <a:r>
              <a:rPr lang="en-US" sz="800" b="0">
                <a:solidFill>
                  <a:srgbClr val="4EC9B0"/>
                </a:solidFill>
                <a:latin typeface="Consolas"/>
              </a:rPr>
              <a:t>String</a:t>
            </a:r>
            <a:r>
              <a:rPr lang="en-US" sz="800" b="0">
                <a:solidFill>
                  <a:srgbClr val="E2E8F0"/>
                </a:solidFill>
                <a:latin typeface="Consolas"/>
              </a:rPr>
              <a:t> </a:t>
            </a:r>
            <a:r>
              <a:rPr lang="en-US" sz="800" b="0">
                <a:solidFill>
                  <a:srgbClr val="DCDCAA"/>
                </a:solidFill>
                <a:latin typeface="Consolas"/>
              </a:rPr>
              <a:t>toString</a:t>
            </a:r>
            <a:r>
              <a:rPr lang="en-US" sz="800" b="0">
                <a:solidFill>
                  <a:srgbClr val="94A3B8"/>
                </a:solidFill>
                <a:latin typeface="Consolas"/>
              </a:rPr>
              <a:t>()</a:t>
            </a:r>
            <a:r>
              <a:rPr lang="en-US" sz="800" b="0">
                <a:solidFill>
                  <a:srgbClr val="E2E8F0"/>
                </a:solidFill>
                <a:latin typeface="Consolas"/>
              </a:rPr>
              <a:t> </a:t>
            </a:r>
            <a:r>
              <a:rPr lang="en-US" sz="800" b="0">
                <a:solidFill>
                  <a:srgbClr val="94A3B8"/>
                </a:solidFill>
                <a:latin typeface="Consolas"/>
              </a:rPr>
              <a:t>{</a:t>
            </a:r>
          </a:p>
          <a:p>
            <a:pPr marL="0" indent="0">
              <a:spcAft>
                <a:spcPts val="20"/>
              </a:spcAft>
              <a:buNone/>
            </a:pPr>
            <a:r>
              <a:rPr lang="en-US" sz="800" b="0">
                <a:solidFill>
                  <a:srgbClr val="E2E8F0"/>
                </a:solidFill>
                <a:latin typeface="Consolas"/>
              </a:rPr>
              <a:t>    </a:t>
            </a:r>
            <a:r>
              <a:rPr lang="en-US" sz="800" b="0">
                <a:solidFill>
                  <a:srgbClr val="60A5FA"/>
                </a:solidFill>
                <a:latin typeface="Consolas"/>
              </a:rPr>
              <a:t>return</a:t>
            </a:r>
            <a:r>
              <a:rPr lang="en-US" sz="800" b="0">
                <a:solidFill>
                  <a:srgbClr val="E2E8F0"/>
                </a:solidFill>
                <a:latin typeface="Consolas"/>
              </a:rPr>
              <a:t> </a:t>
            </a:r>
            <a:r>
              <a:rPr lang="en-US" sz="800" b="0">
                <a:solidFill>
                  <a:srgbClr val="CE9178"/>
                </a:solidFill>
                <a:latin typeface="Consolas"/>
              </a:rPr>
              <a:t>"Dog{name="</a:t>
            </a:r>
            <a:r>
              <a:rPr lang="en-US" sz="800" b="0">
                <a:solidFill>
                  <a:srgbClr val="E2E8F0"/>
                </a:solidFill>
                <a:latin typeface="Consolas"/>
              </a:rPr>
              <a:t> </a:t>
            </a:r>
            <a:r>
              <a:rPr lang="en-US" sz="800" b="0">
                <a:solidFill>
                  <a:srgbClr val="94A3B8"/>
                </a:solidFill>
                <a:latin typeface="Consolas"/>
              </a:rPr>
              <a:t>+</a:t>
            </a:r>
            <a:r>
              <a:rPr lang="en-US" sz="800" b="0">
                <a:solidFill>
                  <a:srgbClr val="E2E8F0"/>
                </a:solidFill>
                <a:latin typeface="Consolas"/>
              </a:rPr>
              <a:t> name </a:t>
            </a:r>
            <a:r>
              <a:rPr lang="en-US" sz="800" b="0">
                <a:solidFill>
                  <a:srgbClr val="94A3B8"/>
                </a:solidFill>
                <a:latin typeface="Consolas"/>
              </a:rPr>
              <a:t>+</a:t>
            </a:r>
          </a:p>
          <a:p>
            <a:pPr marL="0" indent="0">
              <a:spcAft>
                <a:spcPts val="20"/>
              </a:spcAft>
              <a:buNone/>
            </a:pPr>
            <a:r>
              <a:rPr lang="en-US" sz="800" b="0">
                <a:solidFill>
                  <a:srgbClr val="E2E8F0"/>
                </a:solidFill>
                <a:latin typeface="Consolas"/>
              </a:rPr>
              <a:t>           </a:t>
            </a:r>
            <a:r>
              <a:rPr lang="en-US" sz="800" b="0">
                <a:solidFill>
                  <a:srgbClr val="CE9178"/>
                </a:solidFill>
                <a:latin typeface="Consolas"/>
              </a:rPr>
              <a:t>", breed="</a:t>
            </a:r>
            <a:r>
              <a:rPr lang="en-US" sz="800" b="0">
                <a:solidFill>
                  <a:srgbClr val="E2E8F0"/>
                </a:solidFill>
                <a:latin typeface="Consolas"/>
              </a:rPr>
              <a:t> </a:t>
            </a:r>
            <a:r>
              <a:rPr lang="en-US" sz="800" b="0">
                <a:solidFill>
                  <a:srgbClr val="94A3B8"/>
                </a:solidFill>
                <a:latin typeface="Consolas"/>
              </a:rPr>
              <a:t>+</a:t>
            </a:r>
            <a:r>
              <a:rPr lang="en-US" sz="800" b="0">
                <a:solidFill>
                  <a:srgbClr val="E2E8F0"/>
                </a:solidFill>
                <a:latin typeface="Consolas"/>
              </a:rPr>
              <a:t> breed </a:t>
            </a:r>
            <a:r>
              <a:rPr lang="en-US" sz="800" b="0">
                <a:solidFill>
                  <a:srgbClr val="94A3B8"/>
                </a:solidFill>
                <a:latin typeface="Consolas"/>
              </a:rPr>
              <a:t>+</a:t>
            </a:r>
            <a:r>
              <a:rPr lang="en-US" sz="800" b="0">
                <a:solidFill>
                  <a:srgbClr val="E2E8F0"/>
                </a:solidFill>
                <a:latin typeface="Consolas"/>
              </a:rPr>
              <a:t> </a:t>
            </a:r>
            <a:r>
              <a:rPr lang="en-US" sz="800" b="0">
                <a:solidFill>
                  <a:srgbClr val="CE9178"/>
                </a:solidFill>
                <a:latin typeface="Consolas"/>
              </a:rPr>
              <a:t>"}"</a:t>
            </a:r>
            <a:r>
              <a:rPr lang="en-US" sz="800" b="0">
                <a:solidFill>
                  <a:srgbClr val="94A3B8"/>
                </a:solidFill>
                <a:latin typeface="Consolas"/>
              </a:rPr>
              <a:t>;</a:t>
            </a:r>
          </a:p>
          <a:p>
            <a:pPr marL="0" indent="0">
              <a:spcAft>
                <a:spcPts val="20"/>
              </a:spcAft>
              <a:buNone/>
            </a:pPr>
            <a:r>
              <a:rPr lang="en-US" sz="800" b="0">
                <a:solidFill>
                  <a:srgbClr val="94A3B8"/>
                </a:solidFill>
                <a:latin typeface="Consolas"/>
              </a:rPr>
              <a:t>}</a:t>
            </a:r>
          </a:p>
          <a:p>
            <a:pPr marL="0" indent="0">
              <a:spcAft>
                <a:spcPts val="20"/>
              </a:spcAft>
              <a:buNone/>
            </a:pPr>
            <a:r>
              <a:rPr lang="en-US" sz="800" b="0">
                <a:solidFill>
                  <a:srgbClr val="4EC9B0"/>
                </a:solidFill>
                <a:latin typeface="Consolas"/>
              </a:rPr>
              <a:t>System</a:t>
            </a:r>
            <a:r>
              <a:rPr lang="en-US" sz="800" b="0">
                <a:solidFill>
                  <a:srgbClr val="94A3B8"/>
                </a:solidFill>
                <a:latin typeface="Consolas"/>
              </a:rPr>
              <a:t>.</a:t>
            </a:r>
            <a:r>
              <a:rPr lang="en-US" sz="800" b="0">
                <a:solidFill>
                  <a:srgbClr val="E2E8F0"/>
                </a:solidFill>
                <a:latin typeface="Consolas"/>
              </a:rPr>
              <a:t>out</a:t>
            </a:r>
            <a:r>
              <a:rPr lang="en-US" sz="800" b="0">
                <a:solidFill>
                  <a:srgbClr val="94A3B8"/>
                </a:solidFill>
                <a:latin typeface="Consolas"/>
              </a:rPr>
              <a:t>.</a:t>
            </a:r>
            <a:r>
              <a:rPr lang="en-US" sz="800" b="0">
                <a:solidFill>
                  <a:srgbClr val="DCDCAA"/>
                </a:solidFill>
                <a:latin typeface="Consolas"/>
              </a:rPr>
              <a:t>println</a:t>
            </a:r>
            <a:r>
              <a:rPr lang="en-US" sz="800" b="0">
                <a:solidFill>
                  <a:srgbClr val="94A3B8"/>
                </a:solidFill>
                <a:latin typeface="Consolas"/>
              </a:rPr>
              <a:t>(</a:t>
            </a:r>
            <a:r>
              <a:rPr lang="en-US" sz="800" b="0">
                <a:solidFill>
                  <a:srgbClr val="E2E8F0"/>
                </a:solidFill>
                <a:latin typeface="Consolas"/>
              </a:rPr>
              <a:t>rex</a:t>
            </a:r>
            <a:r>
              <a:rPr lang="en-US" sz="800" b="0">
                <a:solidFill>
                  <a:srgbClr val="94A3B8"/>
                </a:solidFill>
                <a:latin typeface="Consolas"/>
              </a:rPr>
              <a:t>);</a:t>
            </a:r>
          </a:p>
          <a:p>
            <a:pPr marL="0" indent="0">
              <a:spcAft>
                <a:spcPts val="20"/>
              </a:spcAft>
              <a:buNone/>
            </a:pPr>
            <a:r>
              <a:rPr lang="en-US" sz="800" b="0" i="1">
                <a:solidFill>
                  <a:srgbClr val="6A9955"/>
                </a:solidFill>
                <a:latin typeface="Consolas"/>
              </a:rPr>
              <a:t>// Output: Dog{name=Rex, breed=Boxer}</a:t>
            </a:r>
          </a:p>
          <a:p>
            <a:pPr marL="0" indent="0">
              <a:spcAft>
                <a:spcPts val="20"/>
              </a:spcAft>
              <a:buNone/>
            </a:pPr>
            <a:r>
              <a:rPr lang="en-US" sz="800" b="0" i="1">
                <a:solidFill>
                  <a:srgbClr val="6A9955"/>
                </a:solidFill>
                <a:latin typeface="Consolas"/>
              </a:rPr>
              <a:t>// ✓ Readable and useful</a:t>
            </a:r>
          </a:p>
        </p:txBody>
      </p:sp>
      <p:sp>
        <p:nvSpPr>
          <p:cNvPr id="18" name="rn"/>
          <p:cNvSpPr txBox="1"/>
          <p:nvPr/>
        </p:nvSpPr>
        <p:spPr>
          <a:xfrm>
            <a:off x="4772300" y="2960000"/>
            <a:ext cx="4040000" cy="360000"/>
          </a:xfrm>
          <a:prstGeom prst="rect">
            <a:avLst/>
          </a:prstGeom>
          <a:noFill/>
        </p:spPr>
        <p:txBody>
          <a:bodyPr wrap="square" lIns="0" tIns="0" rIns="0" bIns="0" anchor="t">
            <a:noAutofit/>
          </a:bodyPr>
          <a:lstStyle/>
          <a:p>
            <a:pPr marL="0" indent="0">
              <a:spcAft>
                <a:spcPts val="0"/>
              </a:spcAft>
              <a:buNone/>
            </a:pPr>
            <a:r>
              <a:rPr lang="en-US" sz="880" b="0" i="1">
                <a:solidFill>
                  <a:srgbClr val="64748B"/>
                </a:solidFill>
                <a:latin typeface="Roboto"/>
              </a:rPr>
              <a:t>The </a:t>
            </a:r>
            <a:r>
              <a:rPr lang="en-US" sz="880" b="1" i="1">
                <a:solidFill>
                  <a:srgbClr val="64748B"/>
                </a:solidFill>
                <a:latin typeface="Consolas"/>
              </a:rPr>
              <a:t>@Override</a:t>
            </a:r>
            <a:r>
              <a:rPr lang="en-US" sz="880" b="0" i="1">
                <a:solidFill>
                  <a:srgbClr val="64748B"/>
                </a:solidFill>
                <a:latin typeface="Roboto"/>
              </a:rPr>
              <a:t> annotation tells the compiler you intend to replace the parent method — it will catch typos.</a:t>
            </a:r>
          </a:p>
        </p:txBody>
      </p:sp>
      <p:sp>
        <p:nvSpPr>
          <p:cNvPr id="19" name="tc"/>
          <p:cNvSpPr/>
          <p:nvPr/>
        </p:nvSpPr>
        <p:spPr>
          <a:xfrm>
            <a:off x="311700" y="3360000"/>
            <a:ext cx="2733000" cy="9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0" name="B20"/>
          <p:cNvSpPr/>
          <p:nvPr/>
        </p:nvSpPr>
        <p:spPr>
          <a:xfrm>
            <a:off x="461700" y="3480000"/>
            <a:ext cx="280000" cy="280000"/>
          </a:xfrm>
          <a:prstGeom prst="ellipse">
            <a:avLst/>
          </a:prstGeom>
          <a:solidFill>
            <a:srgbClr val="2563EB"/>
          </a:solidFill>
          <a:ln>
            <a:noFill/>
          </a:ln>
        </p:spPr>
        <p:txBody>
          <a:bodyPr/>
          <a:lstStyle/>
          <a:p>
            <a:endParaRPr/>
          </a:p>
        </p:txBody>
      </p:sp>
      <p:sp>
        <p:nvSpPr>
          <p:cNvPr id="21" name="BG21"/>
          <p:cNvSpPr txBox="1"/>
          <p:nvPr/>
        </p:nvSpPr>
        <p:spPr>
          <a:xfrm>
            <a:off x="461700" y="348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22" name="HD"/>
          <p:cNvSpPr txBox="1"/>
          <p:nvPr/>
        </p:nvSpPr>
        <p:spPr>
          <a:xfrm>
            <a:off x="861700" y="348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2563EB"/>
                </a:solidFill>
                <a:latin typeface="Roboto"/>
              </a:rPr>
              <a:t>@OVERRIDE ANNOTATION</a:t>
            </a:r>
          </a:p>
        </p:txBody>
      </p:sp>
      <p:sp>
        <p:nvSpPr>
          <p:cNvPr id="23" name="BD"/>
          <p:cNvSpPr txBox="1"/>
          <p:nvPr/>
        </p:nvSpPr>
        <p:spPr>
          <a:xfrm>
            <a:off x="481700" y="3820000"/>
            <a:ext cx="2413000" cy="460000"/>
          </a:xfrm>
          <a:prstGeom prst="rect">
            <a:avLst/>
          </a:prstGeom>
          <a:noFill/>
        </p:spPr>
        <p:txBody>
          <a:bodyPr wrap="square" lIns="0" tIns="0" rIns="0" bIns="0" anchor="t">
            <a:noAutofit/>
          </a:bodyPr>
          <a:lstStyle/>
          <a:p>
            <a:pPr marL="0" indent="0">
              <a:spcAft>
                <a:spcPts val="0"/>
              </a:spcAft>
              <a:buNone/>
            </a:pPr>
            <a:r>
              <a:rPr lang="en-US" sz="880" b="0">
                <a:solidFill>
                  <a:srgbClr val="334155"/>
                </a:solidFill>
                <a:latin typeface="Roboto"/>
              </a:rPr>
              <a:t>Not required, but always use it. The compiler will error if you accidentally mis-spell the method name.</a:t>
            </a:r>
          </a:p>
        </p:txBody>
      </p:sp>
      <p:sp>
        <p:nvSpPr>
          <p:cNvPr id="24" name="tc"/>
          <p:cNvSpPr/>
          <p:nvPr/>
        </p:nvSpPr>
        <p:spPr>
          <a:xfrm>
            <a:off x="3204700" y="3360000"/>
            <a:ext cx="2733000" cy="9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5" name="B25"/>
          <p:cNvSpPr/>
          <p:nvPr/>
        </p:nvSpPr>
        <p:spPr>
          <a:xfrm>
            <a:off x="3354700" y="3480000"/>
            <a:ext cx="280000" cy="280000"/>
          </a:xfrm>
          <a:prstGeom prst="ellipse">
            <a:avLst/>
          </a:prstGeom>
          <a:solidFill>
            <a:srgbClr val="22C55E"/>
          </a:solidFill>
          <a:ln>
            <a:noFill/>
          </a:ln>
        </p:spPr>
        <p:txBody>
          <a:bodyPr/>
          <a:lstStyle/>
          <a:p>
            <a:endParaRPr/>
          </a:p>
        </p:txBody>
      </p:sp>
      <p:sp>
        <p:nvSpPr>
          <p:cNvPr id="26" name="BG26"/>
          <p:cNvSpPr txBox="1"/>
          <p:nvPr/>
        </p:nvSpPr>
        <p:spPr>
          <a:xfrm>
            <a:off x="3354700" y="348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27" name="HD"/>
          <p:cNvSpPr txBox="1"/>
          <p:nvPr/>
        </p:nvSpPr>
        <p:spPr>
          <a:xfrm>
            <a:off x="3754700" y="348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22C55E"/>
                </a:solidFill>
                <a:latin typeface="Roboto"/>
              </a:rPr>
              <a:t>SAME SIGNATURE</a:t>
            </a:r>
          </a:p>
        </p:txBody>
      </p:sp>
      <p:sp>
        <p:nvSpPr>
          <p:cNvPr id="28" name="BD"/>
          <p:cNvSpPr txBox="1"/>
          <p:nvPr/>
        </p:nvSpPr>
        <p:spPr>
          <a:xfrm>
            <a:off x="3374700" y="3820000"/>
            <a:ext cx="2413000" cy="460000"/>
          </a:xfrm>
          <a:prstGeom prst="rect">
            <a:avLst/>
          </a:prstGeom>
          <a:noFill/>
        </p:spPr>
        <p:txBody>
          <a:bodyPr wrap="square" lIns="0" tIns="0" rIns="0" bIns="0" anchor="t">
            <a:noAutofit/>
          </a:bodyPr>
          <a:lstStyle/>
          <a:p>
            <a:pPr marL="0" indent="0">
              <a:spcAft>
                <a:spcPts val="0"/>
              </a:spcAft>
              <a:buNone/>
            </a:pPr>
            <a:r>
              <a:rPr lang="en-US" sz="880" b="0">
                <a:solidFill>
                  <a:srgbClr val="334155"/>
                </a:solidFill>
                <a:latin typeface="Roboto"/>
              </a:rPr>
              <a:t>The overriding method must match the parent method's name and parameter list </a:t>
            </a:r>
            <a:r>
              <a:rPr lang="en-US" sz="880" b="1">
                <a:solidFill>
                  <a:srgbClr val="16A34A"/>
                </a:solidFill>
                <a:latin typeface="Roboto"/>
              </a:rPr>
              <a:t>exactly</a:t>
            </a:r>
            <a:r>
              <a:rPr lang="en-US" sz="880" b="0">
                <a:solidFill>
                  <a:srgbClr val="334155"/>
                </a:solidFill>
                <a:latin typeface="Roboto"/>
              </a:rPr>
              <a:t>.</a:t>
            </a:r>
          </a:p>
        </p:txBody>
      </p:sp>
      <p:sp>
        <p:nvSpPr>
          <p:cNvPr id="29" name="tc"/>
          <p:cNvSpPr/>
          <p:nvPr/>
        </p:nvSpPr>
        <p:spPr>
          <a:xfrm>
            <a:off x="6097700" y="3360000"/>
            <a:ext cx="2733000" cy="94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0" name="B30"/>
          <p:cNvSpPr/>
          <p:nvPr/>
        </p:nvSpPr>
        <p:spPr>
          <a:xfrm>
            <a:off x="6247700" y="3480000"/>
            <a:ext cx="280000" cy="280000"/>
          </a:xfrm>
          <a:prstGeom prst="ellipse">
            <a:avLst/>
          </a:prstGeom>
          <a:solidFill>
            <a:srgbClr val="F59E0B"/>
          </a:solidFill>
          <a:ln>
            <a:noFill/>
          </a:ln>
        </p:spPr>
        <p:txBody>
          <a:bodyPr/>
          <a:lstStyle/>
          <a:p>
            <a:endParaRPr/>
          </a:p>
        </p:txBody>
      </p:sp>
      <p:sp>
        <p:nvSpPr>
          <p:cNvPr id="31" name="BG31"/>
          <p:cNvSpPr txBox="1"/>
          <p:nvPr/>
        </p:nvSpPr>
        <p:spPr>
          <a:xfrm>
            <a:off x="6247700" y="3480000"/>
            <a:ext cx="280000" cy="280000"/>
          </a:xfrm>
          <a:prstGeom prst="rect">
            <a:avLst/>
          </a:prstGeom>
          <a:noFill/>
        </p:spPr>
        <p:txBody>
          <a:bodyPr wrap="square" lIns="0" tIns="0" rIns="0" bIns="0" anchor="ctr">
            <a:noAutofit/>
          </a:bodyPr>
          <a:lstStyle/>
          <a:p>
            <a:pPr marL="0" indent="0" algn="ctr">
              <a:spcAft>
                <a:spcPts val="0"/>
              </a:spcAft>
              <a:buNone/>
            </a:pPr>
            <a:r>
              <a:rPr lang="en-US" sz="1050" b="1">
                <a:solidFill>
                  <a:srgbClr val="FFFFFF"/>
                </a:solidFill>
                <a:latin typeface="Arial"/>
              </a:rPr>
              <a:t>↻</a:t>
            </a:r>
          </a:p>
        </p:txBody>
      </p:sp>
      <p:sp>
        <p:nvSpPr>
          <p:cNvPr id="32" name="HD"/>
          <p:cNvSpPr txBox="1"/>
          <p:nvPr/>
        </p:nvSpPr>
        <p:spPr>
          <a:xfrm>
            <a:off x="6647700" y="3480000"/>
            <a:ext cx="2233000" cy="280000"/>
          </a:xfrm>
          <a:prstGeom prst="rect">
            <a:avLst/>
          </a:prstGeom>
          <a:noFill/>
        </p:spPr>
        <p:txBody>
          <a:bodyPr wrap="square" lIns="0" tIns="0" rIns="0" bIns="0" anchor="ctr">
            <a:noAutofit/>
          </a:bodyPr>
          <a:lstStyle/>
          <a:p>
            <a:pPr marL="0" indent="0">
              <a:spcAft>
                <a:spcPts val="0"/>
              </a:spcAft>
              <a:buNone/>
            </a:pPr>
            <a:r>
              <a:rPr lang="en-US" sz="780" b="1" spc="140">
                <a:solidFill>
                  <a:srgbClr val="F59E0B"/>
                </a:solidFill>
                <a:latin typeface="Roboto"/>
              </a:rPr>
              <a:t>ANY INHERITED METHOD</a:t>
            </a:r>
          </a:p>
        </p:txBody>
      </p:sp>
      <p:sp>
        <p:nvSpPr>
          <p:cNvPr id="33" name="BD"/>
          <p:cNvSpPr txBox="1"/>
          <p:nvPr/>
        </p:nvSpPr>
        <p:spPr>
          <a:xfrm>
            <a:off x="6267700" y="3820000"/>
            <a:ext cx="2413000" cy="460000"/>
          </a:xfrm>
          <a:prstGeom prst="rect">
            <a:avLst/>
          </a:prstGeom>
          <a:noFill/>
        </p:spPr>
        <p:txBody>
          <a:bodyPr wrap="square" lIns="0" tIns="0" rIns="0" bIns="0" anchor="t">
            <a:noAutofit/>
          </a:bodyPr>
          <a:lstStyle/>
          <a:p>
            <a:pPr marL="0" indent="0">
              <a:spcAft>
                <a:spcPts val="0"/>
              </a:spcAft>
              <a:buNone/>
            </a:pPr>
            <a:r>
              <a:rPr lang="en-US" sz="880" b="1">
                <a:solidFill>
                  <a:srgbClr val="334155"/>
                </a:solidFill>
                <a:latin typeface="Consolas"/>
              </a:rPr>
              <a:t>toString()</a:t>
            </a:r>
            <a:r>
              <a:rPr lang="en-US" sz="880" b="0">
                <a:solidFill>
                  <a:srgbClr val="334155"/>
                </a:solidFill>
                <a:latin typeface="Roboto"/>
              </a:rPr>
              <a:t>, </a:t>
            </a:r>
            <a:r>
              <a:rPr lang="en-US" sz="880" b="1">
                <a:solidFill>
                  <a:srgbClr val="334155"/>
                </a:solidFill>
                <a:latin typeface="Consolas"/>
              </a:rPr>
              <a:t>equals()</a:t>
            </a:r>
            <a:r>
              <a:rPr lang="en-US" sz="880" b="0">
                <a:solidFill>
                  <a:srgbClr val="334155"/>
                </a:solidFill>
                <a:latin typeface="Roboto"/>
              </a:rPr>
              <a:t>, and any method from a parent class can be overridden.</a:t>
            </a:r>
          </a:p>
        </p:txBody>
      </p:sp>
      <p:sp>
        <p:nvSpPr>
          <p:cNvPr id="34" name="CO34"/>
          <p:cNvSpPr/>
          <p:nvPr/>
        </p:nvSpPr>
        <p:spPr>
          <a:xfrm>
            <a:off x="311700" y="4420000"/>
            <a:ext cx="8520600" cy="360000"/>
          </a:xfrm>
          <a:prstGeom prst="roundRect">
            <a:avLst>
              <a:gd name="adj" fmla="val 22000"/>
            </a:avLst>
          </a:prstGeom>
          <a:solidFill>
            <a:srgbClr val="22C55E">
              <a:alpha val="12000"/>
            </a:srgbClr>
          </a:solidFill>
          <a:ln>
            <a:noFill/>
          </a:ln>
        </p:spPr>
        <p:txBody>
          <a:bodyPr/>
          <a:lstStyle/>
          <a:p>
            <a:endParaRPr/>
          </a:p>
        </p:txBody>
      </p:sp>
      <p:sp>
        <p:nvSpPr>
          <p:cNvPr id="35" name="COT34"/>
          <p:cNvSpPr txBox="1"/>
          <p:nvPr/>
        </p:nvSpPr>
        <p:spPr>
          <a:xfrm>
            <a:off x="451700" y="4420000"/>
            <a:ext cx="8240600" cy="360000"/>
          </a:xfrm>
          <a:prstGeom prst="rect">
            <a:avLst/>
          </a:prstGeom>
          <a:noFill/>
        </p:spPr>
        <p:txBody>
          <a:bodyPr wrap="square" lIns="0" tIns="0" rIns="0" bIns="0" anchor="ctr">
            <a:noAutofit/>
          </a:bodyPr>
          <a:lstStyle/>
          <a:p>
            <a:pPr marL="0" indent="0" algn="ctr">
              <a:spcAft>
                <a:spcPts val="0"/>
              </a:spcAft>
              <a:buNone/>
            </a:pPr>
            <a:r>
              <a:rPr lang="en-US" sz="1050" b="1">
                <a:solidFill>
                  <a:srgbClr val="16A34A"/>
                </a:solidFill>
                <a:latin typeface="Roboto"/>
              </a:rPr>
              <a:t>Rule of thumb: </a:t>
            </a:r>
            <a:r>
              <a:rPr lang="en-US" sz="1050" b="0">
                <a:solidFill>
                  <a:srgbClr val="334155"/>
                </a:solidFill>
                <a:latin typeface="Roboto"/>
              </a:rPr>
              <a:t>if the default behavior from a parent class doesn't fit your class, override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Polymorphism</a:t>
            </a:r>
          </a:p>
        </p:txBody>
      </p:sp>
      <p:sp>
        <p:nvSpPr>
          <p:cNvPr id="10" name="DefinitionBar"/>
          <p:cNvSpPr/>
          <p:nvPr/>
        </p:nvSpPr>
        <p:spPr>
          <a:xfrm>
            <a:off x="311700" y="1080000"/>
            <a:ext cx="8520600" cy="470000"/>
          </a:xfrm>
          <a:prstGeom prst="roundRect">
            <a:avLst>
              <a:gd name="adj" fmla="val 12000"/>
            </a:avLst>
          </a:prstGeom>
          <a:solidFill>
            <a:srgbClr val="1E293B"/>
          </a:solidFill>
          <a:ln>
            <a:noFill/>
          </a:ln>
        </p:spPr>
        <p:txBody>
          <a:bodyPr wrap="square" lIns="200000" tIns="30000" rIns="140000" bIns="30000" anchor="ctr"/>
          <a:lstStyle/>
          <a:p>
            <a:pPr algn="l"/>
            <a:r>
              <a:rPr lang="en-US" sz="1250" b="1">
                <a:solidFill>
                  <a:srgbClr val="60A5FA"/>
                </a:solidFill>
              </a:rPr>
              <a:t>Polymorphism — </a:t>
            </a:r>
            <a:r>
              <a:rPr lang="en-US" sz="1250">
                <a:solidFill>
                  <a:srgbClr val="F1F5F9"/>
                </a:solidFill>
              </a:rPr>
              <a:t>the ability of different objects to respond uniquely to the same method call.</a:t>
            </a:r>
          </a:p>
        </p:txBody>
      </p:sp>
      <p:sp>
        <p:nvSpPr>
          <p:cNvPr id="11" name="DefAccent"/>
          <p:cNvSpPr/>
          <p:nvPr/>
        </p:nvSpPr>
        <p:spPr>
          <a:xfrm>
            <a:off x="311700" y="1080000"/>
            <a:ext cx="90000" cy="470000"/>
          </a:xfrm>
          <a:prstGeom prst="roundRect">
            <a:avLst>
              <a:gd name="adj" fmla="val 40000"/>
            </a:avLst>
          </a:prstGeom>
          <a:solidFill>
            <a:srgbClr val="2563EB"/>
          </a:solidFill>
          <a:ln>
            <a:noFill/>
          </a:ln>
        </p:spPr>
        <p:txBody>
          <a:bodyPr/>
          <a:lstStyle/>
          <a:p>
            <a:endParaRPr lang="en-US"/>
          </a:p>
        </p:txBody>
      </p:sp>
      <p:cxnSp>
        <p:nvCxnSpPr>
          <p:cNvPr id="20" name="ConnStub"/>
          <p:cNvCxnSpPr/>
          <p:nvPr/>
        </p:nvCxnSpPr>
        <p:spPr>
          <a:xfrm>
            <a:off x="4566000" y="1550000"/>
            <a:ext cx="0" cy="80000"/>
          </a:xfrm>
          <a:prstGeom prst="line">
            <a:avLst/>
          </a:prstGeom>
          <a:ln w="19050" cap="rnd">
            <a:solidFill>
              <a:srgbClr val="94A3B8"/>
            </a:solidFill>
          </a:ln>
        </p:spPr>
      </p:cxnSp>
      <p:cxnSp>
        <p:nvCxnSpPr>
          <p:cNvPr id="21" name="ConnBar"/>
          <p:cNvCxnSpPr/>
          <p:nvPr/>
        </p:nvCxnSpPr>
        <p:spPr>
          <a:xfrm>
            <a:off x="2381850" y="1630000"/>
            <a:ext cx="4380300" cy="0"/>
          </a:xfrm>
          <a:prstGeom prst="line">
            <a:avLst/>
          </a:prstGeom>
          <a:ln w="19050" cap="rnd">
            <a:solidFill>
              <a:srgbClr val="94A3B8"/>
            </a:solidFill>
          </a:ln>
        </p:spPr>
      </p:cxnSp>
      <p:cxnSp>
        <p:nvCxnSpPr>
          <p:cNvPr id="22" name="ConnLeft"/>
          <p:cNvCxnSpPr/>
          <p:nvPr/>
        </p:nvCxnSpPr>
        <p:spPr>
          <a:xfrm>
            <a:off x="2381850" y="1630000"/>
            <a:ext cx="0" cy="90000"/>
          </a:xfrm>
          <a:prstGeom prst="line">
            <a:avLst/>
          </a:prstGeom>
          <a:ln w="19050" cap="rnd">
            <a:solidFill>
              <a:srgbClr val="2563EB"/>
            </a:solidFill>
          </a:ln>
        </p:spPr>
      </p:cxnSp>
      <p:cxnSp>
        <p:nvCxnSpPr>
          <p:cNvPr id="23" name="ConnRight"/>
          <p:cNvCxnSpPr/>
          <p:nvPr/>
        </p:nvCxnSpPr>
        <p:spPr>
          <a:xfrm>
            <a:off x="6762150" y="1630000"/>
            <a:ext cx="0" cy="90000"/>
          </a:xfrm>
          <a:prstGeom prst="line">
            <a:avLst/>
          </a:prstGeom>
          <a:ln w="19050" cap="rnd">
            <a:solidFill>
              <a:srgbClr val="EA580C"/>
            </a:solidFill>
          </a:ln>
        </p:spPr>
      </p:cxnSp>
      <p:sp>
        <p:nvSpPr>
          <p:cNvPr id="30" name="LeftHeader"/>
          <p:cNvSpPr/>
          <p:nvPr/>
        </p:nvSpPr>
        <p:spPr>
          <a:xfrm>
            <a:off x="311700" y="1720000"/>
            <a:ext cx="4140300" cy="450000"/>
          </a:xfrm>
          <a:prstGeom prst="roundRect">
            <a:avLst>
              <a:gd name="adj" fmla="val 14000"/>
            </a:avLst>
          </a:prstGeom>
          <a:solidFill>
            <a:srgbClr val="2563EB"/>
          </a:solidFill>
          <a:ln>
            <a:noFill/>
          </a:ln>
        </p:spPr>
        <p:txBody>
          <a:bodyPr lIns="140000" tIns="20000" rIns="120000" bIns="20000" anchor="ctr"/>
          <a:lstStyle/>
          <a:p>
            <a:pPr algn="l"/>
            <a:r>
              <a:rPr lang="en-US" sz="1400" b="1">
                <a:solidFill>
                  <a:srgbClr val="FFFFFF"/>
                </a:solidFill>
              </a:rPr>
              <a:t>Compile-Time Polymorphism</a:t>
            </a:r>
          </a:p>
        </p:txBody>
      </p:sp>
      <p:sp>
        <p:nvSpPr>
          <p:cNvPr id="31" name="LeftPanel"/>
          <p:cNvSpPr/>
          <p:nvPr/>
        </p:nvSpPr>
        <p:spPr>
          <a:xfrm>
            <a:off x="311700" y="2225000"/>
            <a:ext cx="4140300" cy="1470000"/>
          </a:xfrm>
          <a:prstGeom prst="roundRect">
            <a:avLst>
              <a:gd name="adj" fmla="val 6000"/>
            </a:avLst>
          </a:prstGeom>
          <a:solidFill>
            <a:srgbClr val="F1F5F9"/>
          </a:solidFill>
          <a:ln w="12700">
            <a:solidFill>
              <a:srgbClr val="BFDBFE"/>
            </a:solidFill>
          </a:ln>
        </p:spPr>
        <p:txBody>
          <a:bodyPr lIns="170000" tIns="130000" rIns="150000" bIns="120000" anchor="ctr"/>
          <a:lstStyle/>
          <a:p>
            <a:pPr marL="228600" indent="-228600">
              <a:spcBef>
                <a:spcPts val="300"/>
              </a:spcBef>
              <a:buClr>
                <a:srgbClr val="2563EB"/>
              </a:buClr>
              <a:buFont typeface="Arial"/>
              <a:buChar char="•"/>
            </a:pPr>
            <a:r>
              <a:rPr lang="en-US" sz="1100" dirty="0">
                <a:solidFill>
                  <a:srgbClr val="1E293B"/>
                </a:solidFill>
              </a:rPr>
              <a:t>Static binding(resolved at compile time)</a:t>
            </a:r>
          </a:p>
          <a:p>
            <a:pPr marL="228600" indent="-228600">
              <a:spcBef>
                <a:spcPts val="600"/>
              </a:spcBef>
              <a:buClr>
                <a:srgbClr val="2563EB"/>
              </a:buClr>
              <a:buFont typeface="Arial"/>
              <a:buChar char="•"/>
            </a:pPr>
            <a:r>
              <a:rPr lang="en-US" sz="1100" dirty="0">
                <a:solidFill>
                  <a:srgbClr val="1E293B"/>
                </a:solidFill>
              </a:rPr>
              <a:t>Same method name, different parameter lists</a:t>
            </a:r>
          </a:p>
          <a:p>
            <a:pPr marL="228600" indent="-228600">
              <a:spcBef>
                <a:spcPts val="600"/>
              </a:spcBef>
              <a:buClr>
                <a:srgbClr val="2563EB"/>
              </a:buClr>
              <a:buFont typeface="Arial"/>
              <a:buChar char="•"/>
            </a:pPr>
            <a:r>
              <a:rPr lang="en-US" sz="1100" dirty="0">
                <a:solidFill>
                  <a:srgbClr val="1E293B"/>
                </a:solidFill>
              </a:rPr>
              <a:t>The compiler decides which method runs</a:t>
            </a:r>
          </a:p>
        </p:txBody>
      </p:sp>
      <p:sp>
        <p:nvSpPr>
          <p:cNvPr id="32" name="LeftChip1"/>
          <p:cNvSpPr/>
          <p:nvPr/>
        </p:nvSpPr>
        <p:spPr>
          <a:xfrm>
            <a:off x="311700" y="3755000"/>
            <a:ext cx="1950000" cy="400000"/>
          </a:xfrm>
          <a:prstGeom prst="roundRect">
            <a:avLst>
              <a:gd name="adj" fmla="val 50000"/>
            </a:avLst>
          </a:prstGeom>
          <a:solidFill>
            <a:srgbClr val="FFFFFF"/>
          </a:solidFill>
          <a:ln w="15875">
            <a:solidFill>
              <a:srgbClr val="2563EB"/>
            </a:solidFill>
          </a:ln>
        </p:spPr>
        <p:txBody>
          <a:bodyPr lIns="40000" tIns="20000" rIns="40000" bIns="20000" anchor="ctr"/>
          <a:lstStyle/>
          <a:p>
            <a:pPr algn="ctr"/>
            <a:r>
              <a:rPr lang="en-US" sz="1000" b="1">
                <a:solidFill>
                  <a:srgbClr val="2563EB"/>
                </a:solidFill>
              </a:rPr>
              <a:t>Method Overloading</a:t>
            </a:r>
          </a:p>
        </p:txBody>
      </p:sp>
      <p:sp>
        <p:nvSpPr>
          <p:cNvPr id="33" name="LeftChip2"/>
          <p:cNvSpPr/>
          <p:nvPr/>
        </p:nvSpPr>
        <p:spPr>
          <a:xfrm>
            <a:off x="2502000" y="3755000"/>
            <a:ext cx="1950000" cy="400000"/>
          </a:xfrm>
          <a:prstGeom prst="roundRect">
            <a:avLst>
              <a:gd name="adj" fmla="val 50000"/>
            </a:avLst>
          </a:prstGeom>
          <a:solidFill>
            <a:srgbClr val="FFFFFF"/>
          </a:solidFill>
          <a:ln w="15875">
            <a:solidFill>
              <a:srgbClr val="2563EB"/>
            </a:solidFill>
          </a:ln>
        </p:spPr>
        <p:txBody>
          <a:bodyPr lIns="40000" tIns="20000" rIns="40000" bIns="20000" anchor="ctr"/>
          <a:lstStyle/>
          <a:p>
            <a:pPr algn="ctr"/>
            <a:r>
              <a:rPr lang="en-US" sz="1000" b="1">
                <a:solidFill>
                  <a:srgbClr val="2563EB"/>
                </a:solidFill>
              </a:rPr>
              <a:t>Operator Overloading</a:t>
            </a:r>
          </a:p>
        </p:txBody>
      </p:sp>
      <p:sp>
        <p:nvSpPr>
          <p:cNvPr id="40" name="RightHeader"/>
          <p:cNvSpPr/>
          <p:nvPr/>
        </p:nvSpPr>
        <p:spPr>
          <a:xfrm>
            <a:off x="4692000" y="1720000"/>
            <a:ext cx="4140300" cy="450000"/>
          </a:xfrm>
          <a:prstGeom prst="roundRect">
            <a:avLst>
              <a:gd name="adj" fmla="val 14000"/>
            </a:avLst>
          </a:prstGeom>
          <a:solidFill>
            <a:srgbClr val="EA580C"/>
          </a:solidFill>
          <a:ln>
            <a:noFill/>
          </a:ln>
        </p:spPr>
        <p:txBody>
          <a:bodyPr lIns="140000" tIns="20000" rIns="120000" bIns="20000" anchor="ctr"/>
          <a:lstStyle/>
          <a:p>
            <a:pPr algn="l"/>
            <a:r>
              <a:rPr lang="en-US" sz="1400" b="1">
                <a:solidFill>
                  <a:srgbClr val="FFFFFF"/>
                </a:solidFill>
              </a:rPr>
              <a:t>Runtime Polymorphism</a:t>
            </a:r>
          </a:p>
        </p:txBody>
      </p:sp>
      <p:sp>
        <p:nvSpPr>
          <p:cNvPr id="41" name="RightPanel"/>
          <p:cNvSpPr/>
          <p:nvPr/>
        </p:nvSpPr>
        <p:spPr>
          <a:xfrm>
            <a:off x="4692000" y="2225000"/>
            <a:ext cx="4140300" cy="1470000"/>
          </a:xfrm>
          <a:prstGeom prst="roundRect">
            <a:avLst>
              <a:gd name="adj" fmla="val 6000"/>
            </a:avLst>
          </a:prstGeom>
          <a:solidFill>
            <a:srgbClr val="FFF3ED"/>
          </a:solidFill>
          <a:ln w="12700">
            <a:solidFill>
              <a:srgbClr val="FED7AA"/>
            </a:solidFill>
          </a:ln>
        </p:spPr>
        <p:txBody>
          <a:bodyPr lIns="170000" tIns="130000" rIns="150000" bIns="120000" anchor="ctr"/>
          <a:lstStyle/>
          <a:p>
            <a:pPr marL="228600" indent="-228600">
              <a:spcBef>
                <a:spcPts val="300"/>
              </a:spcBef>
              <a:buClr>
                <a:srgbClr val="EA580C"/>
              </a:buClr>
              <a:buFont typeface="Arial"/>
              <a:buChar char="•"/>
            </a:pPr>
            <a:r>
              <a:rPr lang="en-US" sz="1100" dirty="0">
                <a:solidFill>
                  <a:srgbClr val="1E293B"/>
                </a:solidFill>
              </a:rPr>
              <a:t>Uses dynamic method dispatch(Resolved at Runtime)</a:t>
            </a:r>
          </a:p>
          <a:p>
            <a:pPr marL="228600" indent="-228600">
              <a:spcBef>
                <a:spcPts val="600"/>
              </a:spcBef>
              <a:buClr>
                <a:srgbClr val="EA580C"/>
              </a:buClr>
              <a:buFont typeface="Arial"/>
              <a:buChar char="•"/>
            </a:pPr>
            <a:r>
              <a:rPr lang="en-US" sz="1100" dirty="0">
                <a:solidFill>
                  <a:srgbClr val="1E293B"/>
                </a:solidFill>
              </a:rPr>
              <a:t>Overridden method resolved at runtime</a:t>
            </a:r>
          </a:p>
          <a:p>
            <a:pPr marL="228600" indent="-228600">
              <a:spcBef>
                <a:spcPts val="600"/>
              </a:spcBef>
              <a:buClr>
                <a:srgbClr val="EA580C"/>
              </a:buClr>
              <a:buFont typeface="Arial"/>
              <a:buChar char="•"/>
            </a:pPr>
            <a:r>
              <a:rPr lang="en-US" sz="1100" dirty="0">
                <a:solidFill>
                  <a:srgbClr val="1E293B"/>
                </a:solidFill>
              </a:rPr>
              <a:t>Behavior depends on the actual object type</a:t>
            </a:r>
          </a:p>
        </p:txBody>
      </p:sp>
      <p:sp>
        <p:nvSpPr>
          <p:cNvPr id="42" name="RightChip"/>
          <p:cNvSpPr/>
          <p:nvPr/>
        </p:nvSpPr>
        <p:spPr>
          <a:xfrm>
            <a:off x="5462150" y="3755000"/>
            <a:ext cx="2600000" cy="400000"/>
          </a:xfrm>
          <a:prstGeom prst="roundRect">
            <a:avLst>
              <a:gd name="adj" fmla="val 50000"/>
            </a:avLst>
          </a:prstGeom>
          <a:solidFill>
            <a:srgbClr val="FFFFFF"/>
          </a:solidFill>
          <a:ln w="15875">
            <a:solidFill>
              <a:srgbClr val="EA580C"/>
            </a:solidFill>
          </a:ln>
        </p:spPr>
        <p:txBody>
          <a:bodyPr lIns="40000" tIns="20000" rIns="40000" bIns="20000" anchor="ctr"/>
          <a:lstStyle/>
          <a:p>
            <a:pPr algn="ctr"/>
            <a:r>
              <a:rPr lang="en-US" sz="1000" b="1">
                <a:solidFill>
                  <a:srgbClr val="EA580C"/>
                </a:solidFill>
              </a:rPr>
              <a:t>Method Overriding</a:t>
            </a:r>
          </a:p>
        </p:txBody>
      </p:sp>
    </p:spTree>
    <p:extLst>
      <p:ext uri="{BB962C8B-B14F-4D97-AF65-F5344CB8AC3E}">
        <p14:creationId xmlns:p14="http://schemas.microsoft.com/office/powerpoint/2010/main" val="70034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Polymorphism — One Type, Many Forms</a:t>
            </a:r>
          </a:p>
        </p:txBody>
      </p:sp>
      <p:sp>
        <p:nvSpPr>
          <p:cNvPr id="10" name="Def"/>
          <p:cNvSpPr txBox="1"/>
          <p:nvPr/>
        </p:nvSpPr>
        <p:spPr>
          <a:xfrm>
            <a:off x="311700" y="1010000"/>
            <a:ext cx="8520600" cy="400000"/>
          </a:xfrm>
          <a:prstGeom prst="rect">
            <a:avLst/>
          </a:prstGeom>
          <a:noFill/>
        </p:spPr>
        <p:txBody>
          <a:bodyPr wrap="square" lIns="0" tIns="0" rIns="0" bIns="0" anchor="t">
            <a:noAutofit/>
          </a:bodyPr>
          <a:lstStyle/>
          <a:p>
            <a:pPr marL="0" indent="0">
              <a:spcAft>
                <a:spcPts val="150"/>
              </a:spcAft>
              <a:buNone/>
            </a:pPr>
            <a:r>
              <a:rPr lang="en-US" sz="1300" b="0">
                <a:solidFill>
                  <a:srgbClr val="334155"/>
                </a:solidFill>
                <a:latin typeface="Roboto"/>
              </a:rPr>
              <a:t>Polymorphism lets one variable hold </a:t>
            </a:r>
            <a:r>
              <a:rPr lang="en-US" sz="1300" b="1">
                <a:solidFill>
                  <a:srgbClr val="334155"/>
                </a:solidFill>
                <a:latin typeface="Roboto"/>
              </a:rPr>
              <a:t>objects of different types</a:t>
            </a:r>
            <a:r>
              <a:rPr lang="en-US" sz="1300" b="0">
                <a:solidFill>
                  <a:srgbClr val="334155"/>
                </a:solidFill>
                <a:latin typeface="Roboto"/>
              </a:rPr>
              <a:t> — as long as they share a common parent.</a:t>
            </a:r>
          </a:p>
        </p:txBody>
      </p:sp>
      <p:sp>
        <p:nvSpPr>
          <p:cNvPr id="11" name="lset"/>
          <p:cNvSpPr txBox="1"/>
          <p:nvPr/>
        </p:nvSpPr>
        <p:spPr>
          <a:xfrm>
            <a:off x="311700" y="1400000"/>
            <a:ext cx="4080000" cy="220000"/>
          </a:xfrm>
          <a:prstGeom prst="rect">
            <a:avLst/>
          </a:prstGeom>
          <a:noFill/>
        </p:spPr>
        <p:txBody>
          <a:bodyPr wrap="square" lIns="0" tIns="0" rIns="0" bIns="0" anchor="t">
            <a:noAutofit/>
          </a:bodyPr>
          <a:lstStyle/>
          <a:p>
            <a:pPr marL="0" indent="0">
              <a:spcAft>
                <a:spcPts val="0"/>
              </a:spcAft>
              <a:buNone/>
            </a:pPr>
            <a:r>
              <a:rPr lang="en-US" sz="900" b="1" spc="160">
                <a:solidFill>
                  <a:srgbClr val="2563EB"/>
                </a:solidFill>
                <a:latin typeface="Roboto"/>
              </a:rPr>
              <a:t>THE SETUP</a:t>
            </a:r>
          </a:p>
        </p:txBody>
      </p:sp>
      <p:sp>
        <p:nvSpPr>
          <p:cNvPr id="12" name="CP12"/>
          <p:cNvSpPr/>
          <p:nvPr/>
        </p:nvSpPr>
        <p:spPr>
          <a:xfrm>
            <a:off x="311700" y="1640000"/>
            <a:ext cx="4080000" cy="1300000"/>
          </a:xfrm>
          <a:prstGeom prst="roundRect">
            <a:avLst>
              <a:gd name="adj" fmla="val 5000"/>
            </a:avLst>
          </a:prstGeom>
          <a:solidFill>
            <a:srgbClr val="1E293B"/>
          </a:solidFill>
          <a:ln w="9525">
            <a:solidFill>
              <a:srgbClr val="334155"/>
            </a:solidFill>
          </a:ln>
        </p:spPr>
        <p:txBody>
          <a:bodyPr/>
          <a:lstStyle/>
          <a:p>
            <a:endParaRPr/>
          </a:p>
        </p:txBody>
      </p:sp>
      <p:sp>
        <p:nvSpPr>
          <p:cNvPr id="13" name="CL13"/>
          <p:cNvSpPr txBox="1"/>
          <p:nvPr/>
        </p:nvSpPr>
        <p:spPr>
          <a:xfrm>
            <a:off x="461700" y="1710000"/>
            <a:ext cx="3780000" cy="240000"/>
          </a:xfrm>
          <a:prstGeom prst="rect">
            <a:avLst/>
          </a:prstGeom>
          <a:noFill/>
        </p:spPr>
        <p:txBody>
          <a:bodyPr wrap="square" lIns="0" tIns="0" rIns="0" bIns="0" anchor="t">
            <a:noAutofit/>
          </a:bodyPr>
          <a:lstStyle/>
          <a:p>
            <a:pPr marL="0" indent="0">
              <a:spcAft>
                <a:spcPts val="0"/>
              </a:spcAft>
              <a:buNone/>
            </a:pPr>
            <a:r>
              <a:rPr lang="en-US" sz="950" b="1">
                <a:solidFill>
                  <a:srgbClr val="2563EB"/>
                </a:solidFill>
                <a:latin typeface="Roboto"/>
              </a:rPr>
              <a:t>Animal references, any subclass</a:t>
            </a:r>
          </a:p>
        </p:txBody>
      </p:sp>
      <p:sp>
        <p:nvSpPr>
          <p:cNvPr id="14" name="CD14"/>
          <p:cNvSpPr txBox="1"/>
          <p:nvPr/>
        </p:nvSpPr>
        <p:spPr>
          <a:xfrm>
            <a:off x="491700" y="2000000"/>
            <a:ext cx="3750000" cy="880000"/>
          </a:xfrm>
          <a:prstGeom prst="rect">
            <a:avLst/>
          </a:prstGeom>
          <a:noFill/>
        </p:spPr>
        <p:txBody>
          <a:bodyPr wrap="square" lIns="0" tIns="0" rIns="0" bIns="0" anchor="t">
            <a:noAutofit/>
          </a:bodyPr>
          <a:lstStyle/>
          <a:p>
            <a:pPr marL="0" indent="0">
              <a:spcAft>
                <a:spcPts val="20"/>
              </a:spcAft>
              <a:buNone/>
            </a:pPr>
            <a:r>
              <a:rPr lang="en-US" sz="820" b="0">
                <a:solidFill>
                  <a:srgbClr val="4EC9B0"/>
                </a:solidFill>
                <a:latin typeface="Consolas"/>
              </a:rPr>
              <a:t>Animal</a:t>
            </a:r>
            <a:r>
              <a:rPr lang="en-US" sz="820" b="0">
                <a:solidFill>
                  <a:srgbClr val="E2E8F0"/>
                </a:solidFill>
                <a:latin typeface="Consolas"/>
              </a:rPr>
              <a:t> a1 </a:t>
            </a:r>
            <a:r>
              <a:rPr lang="en-US" sz="820" b="0">
                <a:solidFill>
                  <a:srgbClr val="94A3B8"/>
                </a:solidFill>
                <a:latin typeface="Consolas"/>
              </a:rPr>
              <a:t>=</a:t>
            </a:r>
            <a:r>
              <a:rPr lang="en-US" sz="820" b="0">
                <a:solidFill>
                  <a:srgbClr val="E2E8F0"/>
                </a:solidFill>
                <a:latin typeface="Consolas"/>
              </a:rPr>
              <a:t> </a:t>
            </a:r>
            <a:r>
              <a:rPr lang="en-US" sz="820" b="0">
                <a:solidFill>
                  <a:srgbClr val="60A5FA"/>
                </a:solidFill>
                <a:latin typeface="Consolas"/>
              </a:rPr>
              <a:t>new</a:t>
            </a:r>
            <a:r>
              <a:rPr lang="en-US" sz="820" b="0">
                <a:solidFill>
                  <a:srgbClr val="E2E8F0"/>
                </a:solidFill>
                <a:latin typeface="Consolas"/>
              </a:rPr>
              <a:t> </a:t>
            </a:r>
            <a:r>
              <a:rPr lang="en-US" sz="820" b="0">
                <a:solidFill>
                  <a:srgbClr val="4EC9B0"/>
                </a:solidFill>
                <a:latin typeface="Consolas"/>
              </a:rPr>
              <a:t>Dog</a:t>
            </a:r>
            <a:r>
              <a:rPr lang="en-US" sz="820" b="0">
                <a:solidFill>
                  <a:srgbClr val="94A3B8"/>
                </a:solidFill>
                <a:latin typeface="Consolas"/>
              </a:rPr>
              <a:t>(</a:t>
            </a:r>
            <a:r>
              <a:rPr lang="en-US" sz="820" b="0">
                <a:solidFill>
                  <a:srgbClr val="CE9178"/>
                </a:solidFill>
                <a:latin typeface="Consolas"/>
              </a:rPr>
              <a:t>"Rex"</a:t>
            </a:r>
            <a:r>
              <a:rPr lang="en-US" sz="820" b="0">
                <a:solidFill>
                  <a:srgbClr val="94A3B8"/>
                </a:solidFill>
                <a:latin typeface="Consolas"/>
              </a:rPr>
              <a:t>);</a:t>
            </a:r>
          </a:p>
          <a:p>
            <a:pPr marL="0" indent="0">
              <a:spcAft>
                <a:spcPts val="20"/>
              </a:spcAft>
              <a:buNone/>
            </a:pPr>
            <a:r>
              <a:rPr lang="en-US" sz="820" b="0">
                <a:solidFill>
                  <a:srgbClr val="4EC9B0"/>
                </a:solidFill>
                <a:latin typeface="Consolas"/>
              </a:rPr>
              <a:t>Animal</a:t>
            </a:r>
            <a:r>
              <a:rPr lang="en-US" sz="820" b="0">
                <a:solidFill>
                  <a:srgbClr val="E2E8F0"/>
                </a:solidFill>
                <a:latin typeface="Consolas"/>
              </a:rPr>
              <a:t> a2 </a:t>
            </a:r>
            <a:r>
              <a:rPr lang="en-US" sz="820" b="0">
                <a:solidFill>
                  <a:srgbClr val="94A3B8"/>
                </a:solidFill>
                <a:latin typeface="Consolas"/>
              </a:rPr>
              <a:t>=</a:t>
            </a:r>
            <a:r>
              <a:rPr lang="en-US" sz="820" b="0">
                <a:solidFill>
                  <a:srgbClr val="E2E8F0"/>
                </a:solidFill>
                <a:latin typeface="Consolas"/>
              </a:rPr>
              <a:t> </a:t>
            </a:r>
            <a:r>
              <a:rPr lang="en-US" sz="820" b="0">
                <a:solidFill>
                  <a:srgbClr val="60A5FA"/>
                </a:solidFill>
                <a:latin typeface="Consolas"/>
              </a:rPr>
              <a:t>new</a:t>
            </a:r>
            <a:r>
              <a:rPr lang="en-US" sz="820" b="0">
                <a:solidFill>
                  <a:srgbClr val="E2E8F0"/>
                </a:solidFill>
                <a:latin typeface="Consolas"/>
              </a:rPr>
              <a:t> </a:t>
            </a:r>
            <a:r>
              <a:rPr lang="en-US" sz="820" b="0">
                <a:solidFill>
                  <a:srgbClr val="4EC9B0"/>
                </a:solidFill>
                <a:latin typeface="Consolas"/>
              </a:rPr>
              <a:t>Cat</a:t>
            </a:r>
            <a:r>
              <a:rPr lang="en-US" sz="820" b="0">
                <a:solidFill>
                  <a:srgbClr val="94A3B8"/>
                </a:solidFill>
                <a:latin typeface="Consolas"/>
              </a:rPr>
              <a:t>(</a:t>
            </a:r>
            <a:r>
              <a:rPr lang="en-US" sz="820" b="0">
                <a:solidFill>
                  <a:srgbClr val="CE9178"/>
                </a:solidFill>
                <a:latin typeface="Consolas"/>
              </a:rPr>
              <a:t>"Whiskers"</a:t>
            </a:r>
            <a:r>
              <a:rPr lang="en-US" sz="820" b="0">
                <a:solidFill>
                  <a:srgbClr val="94A3B8"/>
                </a:solidFill>
                <a:latin typeface="Consolas"/>
              </a:rPr>
              <a:t>);</a:t>
            </a:r>
          </a:p>
          <a:p>
            <a:pPr marL="0" indent="0">
              <a:spcAft>
                <a:spcPts val="20"/>
              </a:spcAft>
              <a:buNone/>
            </a:pPr>
            <a:r>
              <a:rPr lang="en-US" sz="820" b="0">
                <a:solidFill>
                  <a:srgbClr val="4EC9B0"/>
                </a:solidFill>
                <a:latin typeface="Consolas"/>
              </a:rPr>
              <a:t>Animal</a:t>
            </a:r>
            <a:r>
              <a:rPr lang="en-US" sz="820" b="0">
                <a:solidFill>
                  <a:srgbClr val="E2E8F0"/>
                </a:solidFill>
                <a:latin typeface="Consolas"/>
              </a:rPr>
              <a:t> a3 </a:t>
            </a:r>
            <a:r>
              <a:rPr lang="en-US" sz="820" b="0">
                <a:solidFill>
                  <a:srgbClr val="94A3B8"/>
                </a:solidFill>
                <a:latin typeface="Consolas"/>
              </a:rPr>
              <a:t>=</a:t>
            </a:r>
            <a:r>
              <a:rPr lang="en-US" sz="820" b="0">
                <a:solidFill>
                  <a:srgbClr val="E2E8F0"/>
                </a:solidFill>
                <a:latin typeface="Consolas"/>
              </a:rPr>
              <a:t> </a:t>
            </a:r>
            <a:r>
              <a:rPr lang="en-US" sz="820" b="0">
                <a:solidFill>
                  <a:srgbClr val="60A5FA"/>
                </a:solidFill>
                <a:latin typeface="Consolas"/>
              </a:rPr>
              <a:t>new</a:t>
            </a:r>
            <a:r>
              <a:rPr lang="en-US" sz="820" b="0">
                <a:solidFill>
                  <a:srgbClr val="E2E8F0"/>
                </a:solidFill>
                <a:latin typeface="Consolas"/>
              </a:rPr>
              <a:t> </a:t>
            </a:r>
            <a:r>
              <a:rPr lang="en-US" sz="820" b="0">
                <a:solidFill>
                  <a:srgbClr val="4EC9B0"/>
                </a:solidFill>
                <a:latin typeface="Consolas"/>
              </a:rPr>
              <a:t>GoldenRetriever</a:t>
            </a:r>
            <a:r>
              <a:rPr lang="en-US" sz="820" b="0">
                <a:solidFill>
                  <a:srgbClr val="94A3B8"/>
                </a:solidFill>
                <a:latin typeface="Consolas"/>
              </a:rPr>
              <a:t>(</a:t>
            </a:r>
            <a:r>
              <a:rPr lang="en-US" sz="820" b="0">
                <a:solidFill>
                  <a:srgbClr val="CE9178"/>
                </a:solidFill>
                <a:latin typeface="Consolas"/>
              </a:rPr>
              <a:t>"Buddy"</a:t>
            </a:r>
            <a:r>
              <a:rPr lang="en-US" sz="820" b="0">
                <a:solidFill>
                  <a:srgbClr val="94A3B8"/>
                </a:solidFill>
                <a:latin typeface="Consolas"/>
              </a:rPr>
              <a:t>);</a:t>
            </a:r>
          </a:p>
          <a:p>
            <a:pPr marL="0" indent="0">
              <a:spcAft>
                <a:spcPts val="20"/>
              </a:spcAft>
              <a:buNone/>
            </a:pPr>
            <a:r>
              <a:rPr lang="en-US" sz="820" b="0">
                <a:solidFill>
                  <a:srgbClr val="E2E8F0"/>
                </a:solidFill>
                <a:latin typeface="Consolas"/>
              </a:rPr>
              <a:t>a1</a:t>
            </a:r>
            <a:r>
              <a:rPr lang="en-US" sz="820" b="0">
                <a:solidFill>
                  <a:srgbClr val="94A3B8"/>
                </a:solidFill>
                <a:latin typeface="Consolas"/>
              </a:rPr>
              <a:t>.</a:t>
            </a:r>
            <a:r>
              <a:rPr lang="en-US" sz="820" b="0">
                <a:solidFill>
                  <a:srgbClr val="DCDCAA"/>
                </a:solidFill>
                <a:latin typeface="Consolas"/>
              </a:rPr>
              <a:t>speak</a:t>
            </a:r>
            <a:r>
              <a:rPr lang="en-US" sz="820" b="0">
                <a:solidFill>
                  <a:srgbClr val="94A3B8"/>
                </a:solidFill>
                <a:latin typeface="Consolas"/>
              </a:rPr>
              <a:t>();</a:t>
            </a:r>
            <a:r>
              <a:rPr lang="en-US" sz="820" b="0">
                <a:solidFill>
                  <a:srgbClr val="E2E8F0"/>
                </a:solidFill>
                <a:latin typeface="Consolas"/>
              </a:rPr>
              <a:t>   </a:t>
            </a:r>
            <a:r>
              <a:rPr lang="en-US" sz="820" b="0" i="1">
                <a:solidFill>
                  <a:srgbClr val="6A9955"/>
                </a:solidFill>
                <a:latin typeface="Consolas"/>
              </a:rPr>
              <a:t>// "Woof!"</a:t>
            </a:r>
          </a:p>
          <a:p>
            <a:pPr marL="0" indent="0">
              <a:spcAft>
                <a:spcPts val="20"/>
              </a:spcAft>
              <a:buNone/>
            </a:pPr>
            <a:r>
              <a:rPr lang="en-US" sz="820" b="0">
                <a:solidFill>
                  <a:srgbClr val="E2E8F0"/>
                </a:solidFill>
                <a:latin typeface="Consolas"/>
              </a:rPr>
              <a:t>a2</a:t>
            </a:r>
            <a:r>
              <a:rPr lang="en-US" sz="820" b="0">
                <a:solidFill>
                  <a:srgbClr val="94A3B8"/>
                </a:solidFill>
                <a:latin typeface="Consolas"/>
              </a:rPr>
              <a:t>.</a:t>
            </a:r>
            <a:r>
              <a:rPr lang="en-US" sz="820" b="0">
                <a:solidFill>
                  <a:srgbClr val="DCDCAA"/>
                </a:solidFill>
                <a:latin typeface="Consolas"/>
              </a:rPr>
              <a:t>speak</a:t>
            </a:r>
            <a:r>
              <a:rPr lang="en-US" sz="820" b="0">
                <a:solidFill>
                  <a:srgbClr val="94A3B8"/>
                </a:solidFill>
                <a:latin typeface="Consolas"/>
              </a:rPr>
              <a:t>();</a:t>
            </a:r>
            <a:r>
              <a:rPr lang="en-US" sz="820" b="0">
                <a:solidFill>
                  <a:srgbClr val="E2E8F0"/>
                </a:solidFill>
                <a:latin typeface="Consolas"/>
              </a:rPr>
              <a:t>   </a:t>
            </a:r>
            <a:r>
              <a:rPr lang="en-US" sz="820" b="0" i="1">
                <a:solidFill>
                  <a:srgbClr val="6A9955"/>
                </a:solidFill>
                <a:latin typeface="Consolas"/>
              </a:rPr>
              <a:t>// "Meow!"</a:t>
            </a:r>
          </a:p>
          <a:p>
            <a:pPr marL="0" indent="0">
              <a:spcAft>
                <a:spcPts val="20"/>
              </a:spcAft>
              <a:buNone/>
            </a:pPr>
            <a:r>
              <a:rPr lang="en-US" sz="820" b="0">
                <a:solidFill>
                  <a:srgbClr val="E2E8F0"/>
                </a:solidFill>
                <a:latin typeface="Consolas"/>
              </a:rPr>
              <a:t>a3</a:t>
            </a:r>
            <a:r>
              <a:rPr lang="en-US" sz="820" b="0">
                <a:solidFill>
                  <a:srgbClr val="94A3B8"/>
                </a:solidFill>
                <a:latin typeface="Consolas"/>
              </a:rPr>
              <a:t>.</a:t>
            </a:r>
            <a:r>
              <a:rPr lang="en-US" sz="820" b="0">
                <a:solidFill>
                  <a:srgbClr val="DCDCAA"/>
                </a:solidFill>
                <a:latin typeface="Consolas"/>
              </a:rPr>
              <a:t>speak</a:t>
            </a:r>
            <a:r>
              <a:rPr lang="en-US" sz="820" b="0">
                <a:solidFill>
                  <a:srgbClr val="94A3B8"/>
                </a:solidFill>
                <a:latin typeface="Consolas"/>
              </a:rPr>
              <a:t>();</a:t>
            </a:r>
            <a:r>
              <a:rPr lang="en-US" sz="820" b="0">
                <a:solidFill>
                  <a:srgbClr val="E2E8F0"/>
                </a:solidFill>
                <a:latin typeface="Consolas"/>
              </a:rPr>
              <a:t>   </a:t>
            </a:r>
            <a:r>
              <a:rPr lang="en-US" sz="820" b="0" i="1">
                <a:solidFill>
                  <a:srgbClr val="6A9955"/>
                </a:solidFill>
                <a:latin typeface="Consolas"/>
              </a:rPr>
              <a:t>// "Woof woof!"</a:t>
            </a:r>
          </a:p>
        </p:txBody>
      </p:sp>
      <p:sp>
        <p:nvSpPr>
          <p:cNvPr id="15" name="BD"/>
          <p:cNvSpPr txBox="1"/>
          <p:nvPr/>
        </p:nvSpPr>
        <p:spPr>
          <a:xfrm>
            <a:off x="331700" y="2990000"/>
            <a:ext cx="4040000" cy="480000"/>
          </a:xfrm>
          <a:prstGeom prst="rect">
            <a:avLst/>
          </a:prstGeom>
          <a:noFill/>
        </p:spPr>
        <p:txBody>
          <a:bodyPr wrap="square" lIns="0" tIns="0" rIns="0" bIns="0" anchor="t">
            <a:noAutofit/>
          </a:bodyPr>
          <a:lstStyle/>
          <a:p>
            <a:pPr marL="180000" indent="-180000">
              <a:spcAft>
                <a:spcPts val="200"/>
              </a:spcAft>
              <a:buNone/>
            </a:pPr>
            <a:r>
              <a:rPr lang="en-US" sz="1000" b="1">
                <a:solidFill>
                  <a:srgbClr val="2563EB"/>
                </a:solidFill>
                <a:latin typeface="Roboto"/>
              </a:rPr>
              <a:t>•  </a:t>
            </a:r>
            <a:r>
              <a:rPr lang="en-US" sz="950" b="0">
                <a:solidFill>
                  <a:srgbClr val="334155"/>
                </a:solidFill>
                <a:latin typeface="Roboto"/>
              </a:rPr>
              <a:t>The variable type is </a:t>
            </a:r>
            <a:r>
              <a:rPr lang="en-US" sz="950" b="1">
                <a:solidFill>
                  <a:srgbClr val="2563EB"/>
                </a:solidFill>
                <a:latin typeface="Consolas"/>
              </a:rPr>
              <a:t>Animal</a:t>
            </a:r>
            <a:r>
              <a:rPr lang="en-US" sz="950" b="0">
                <a:solidFill>
                  <a:srgbClr val="334155"/>
                </a:solidFill>
                <a:latin typeface="Roboto"/>
              </a:rPr>
              <a:t> (parent)</a:t>
            </a:r>
          </a:p>
          <a:p>
            <a:pPr marL="180000" indent="-180000">
              <a:spcAft>
                <a:spcPts val="0"/>
              </a:spcAft>
              <a:buNone/>
            </a:pPr>
            <a:r>
              <a:rPr lang="en-US" sz="1000" b="1">
                <a:solidFill>
                  <a:srgbClr val="2563EB"/>
                </a:solidFill>
                <a:latin typeface="Roboto"/>
              </a:rPr>
              <a:t>•  </a:t>
            </a:r>
            <a:r>
              <a:rPr lang="en-US" sz="950" b="0">
                <a:solidFill>
                  <a:srgbClr val="334155"/>
                </a:solidFill>
                <a:latin typeface="Roboto"/>
              </a:rPr>
              <a:t>The actual object can be </a:t>
            </a:r>
            <a:r>
              <a:rPr lang="en-US" sz="950" b="1">
                <a:solidFill>
                  <a:srgbClr val="334155"/>
                </a:solidFill>
                <a:latin typeface="Roboto"/>
              </a:rPr>
              <a:t>any subclass</a:t>
            </a:r>
          </a:p>
        </p:txBody>
      </p:sp>
      <p:sp>
        <p:nvSpPr>
          <p:cNvPr id="16" name="rset"/>
          <p:cNvSpPr txBox="1"/>
          <p:nvPr/>
        </p:nvSpPr>
        <p:spPr>
          <a:xfrm>
            <a:off x="4752300" y="1400000"/>
            <a:ext cx="4080000" cy="220000"/>
          </a:xfrm>
          <a:prstGeom prst="rect">
            <a:avLst/>
          </a:prstGeom>
          <a:noFill/>
        </p:spPr>
        <p:txBody>
          <a:bodyPr wrap="square" lIns="0" tIns="0" rIns="0" bIns="0" anchor="t">
            <a:noAutofit/>
          </a:bodyPr>
          <a:lstStyle/>
          <a:p>
            <a:pPr marL="0" indent="0">
              <a:spcAft>
                <a:spcPts val="0"/>
              </a:spcAft>
              <a:buNone/>
            </a:pPr>
            <a:r>
              <a:rPr lang="en-US" sz="900" b="1" spc="120">
                <a:solidFill>
                  <a:srgbClr val="7C3AED"/>
                </a:solidFill>
                <a:latin typeface="Roboto"/>
              </a:rPr>
              <a:t>HOW IT WORKS: DYNAMIC DISPATCH</a:t>
            </a:r>
          </a:p>
        </p:txBody>
      </p:sp>
      <p:sp>
        <p:nvSpPr>
          <p:cNvPr id="17" name="st0"/>
          <p:cNvSpPr/>
          <p:nvPr/>
        </p:nvSpPr>
        <p:spPr>
          <a:xfrm>
            <a:off x="4752300" y="1640000"/>
            <a:ext cx="4080000" cy="43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8" name="sts0"/>
          <p:cNvSpPr/>
          <p:nvPr/>
        </p:nvSpPr>
        <p:spPr>
          <a:xfrm>
            <a:off x="4752300" y="1640000"/>
            <a:ext cx="60000" cy="430000"/>
          </a:xfrm>
          <a:prstGeom prst="roundRect">
            <a:avLst>
              <a:gd name="adj" fmla="val 40000"/>
            </a:avLst>
          </a:prstGeom>
          <a:solidFill>
            <a:srgbClr val="7C3AED"/>
          </a:solidFill>
          <a:ln>
            <a:noFill/>
          </a:ln>
        </p:spPr>
        <p:txBody>
          <a:bodyPr/>
          <a:lstStyle/>
          <a:p>
            <a:endParaRPr/>
          </a:p>
        </p:txBody>
      </p:sp>
      <p:sp>
        <p:nvSpPr>
          <p:cNvPr id="19" name="stt0"/>
          <p:cNvSpPr txBox="1"/>
          <p:nvPr/>
        </p:nvSpPr>
        <p:spPr>
          <a:xfrm>
            <a:off x="4922300" y="1695000"/>
            <a:ext cx="3820000" cy="320000"/>
          </a:xfrm>
          <a:prstGeom prst="rect">
            <a:avLst/>
          </a:prstGeom>
          <a:noFill/>
        </p:spPr>
        <p:txBody>
          <a:bodyPr wrap="square" lIns="0" tIns="0" rIns="0" bIns="0" anchor="ctr">
            <a:noAutofit/>
          </a:bodyPr>
          <a:lstStyle/>
          <a:p>
            <a:pPr marL="0" indent="0">
              <a:spcAft>
                <a:spcPts val="35"/>
              </a:spcAft>
              <a:buNone/>
            </a:pPr>
            <a:r>
              <a:rPr lang="en-US" sz="850" b="1" spc="60">
                <a:solidFill>
                  <a:srgbClr val="7C3AED"/>
                </a:solidFill>
                <a:latin typeface="Roboto"/>
              </a:rPr>
              <a:t>STEP 1  ·  At compile time</a:t>
            </a:r>
          </a:p>
          <a:p>
            <a:pPr marL="0" indent="0">
              <a:spcAft>
                <a:spcPts val="0"/>
              </a:spcAft>
              <a:buNone/>
            </a:pPr>
            <a:r>
              <a:rPr lang="en-US" sz="900" b="0">
                <a:solidFill>
                  <a:srgbClr val="334155"/>
                </a:solidFill>
                <a:latin typeface="Roboto"/>
              </a:rPr>
              <a:t>Java only checks that </a:t>
            </a:r>
            <a:r>
              <a:rPr lang="en-US" sz="900" b="1">
                <a:solidFill>
                  <a:srgbClr val="334155"/>
                </a:solidFill>
                <a:latin typeface="Consolas"/>
              </a:rPr>
              <a:t>speak()</a:t>
            </a:r>
            <a:r>
              <a:rPr lang="en-US" sz="900" b="0">
                <a:solidFill>
                  <a:srgbClr val="334155"/>
                </a:solidFill>
                <a:latin typeface="Roboto"/>
              </a:rPr>
              <a:t> exists on Animal.</a:t>
            </a:r>
          </a:p>
        </p:txBody>
      </p:sp>
      <p:sp>
        <p:nvSpPr>
          <p:cNvPr id="20" name="st1"/>
          <p:cNvSpPr/>
          <p:nvPr/>
        </p:nvSpPr>
        <p:spPr>
          <a:xfrm>
            <a:off x="4752300" y="2125000"/>
            <a:ext cx="4080000" cy="43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1" name="sts1"/>
          <p:cNvSpPr/>
          <p:nvPr/>
        </p:nvSpPr>
        <p:spPr>
          <a:xfrm>
            <a:off x="4752300" y="2125000"/>
            <a:ext cx="60000" cy="430000"/>
          </a:xfrm>
          <a:prstGeom prst="roundRect">
            <a:avLst>
              <a:gd name="adj" fmla="val 40000"/>
            </a:avLst>
          </a:prstGeom>
          <a:solidFill>
            <a:srgbClr val="7C3AED"/>
          </a:solidFill>
          <a:ln>
            <a:noFill/>
          </a:ln>
        </p:spPr>
        <p:txBody>
          <a:bodyPr/>
          <a:lstStyle/>
          <a:p>
            <a:endParaRPr/>
          </a:p>
        </p:txBody>
      </p:sp>
      <p:sp>
        <p:nvSpPr>
          <p:cNvPr id="22" name="stt1"/>
          <p:cNvSpPr txBox="1"/>
          <p:nvPr/>
        </p:nvSpPr>
        <p:spPr>
          <a:xfrm>
            <a:off x="4922300" y="2180000"/>
            <a:ext cx="3820000" cy="320000"/>
          </a:xfrm>
          <a:prstGeom prst="rect">
            <a:avLst/>
          </a:prstGeom>
          <a:noFill/>
        </p:spPr>
        <p:txBody>
          <a:bodyPr wrap="square" lIns="0" tIns="0" rIns="0" bIns="0" anchor="ctr">
            <a:noAutofit/>
          </a:bodyPr>
          <a:lstStyle/>
          <a:p>
            <a:pPr marL="0" indent="0">
              <a:spcAft>
                <a:spcPts val="35"/>
              </a:spcAft>
              <a:buNone/>
            </a:pPr>
            <a:r>
              <a:rPr lang="en-US" sz="850" b="1" spc="60">
                <a:solidFill>
                  <a:srgbClr val="7C3AED"/>
                </a:solidFill>
                <a:latin typeface="Roboto"/>
              </a:rPr>
              <a:t>STEP 2  ·  At runtime</a:t>
            </a:r>
          </a:p>
          <a:p>
            <a:pPr marL="0" indent="0">
              <a:spcAft>
                <a:spcPts val="0"/>
              </a:spcAft>
              <a:buNone/>
            </a:pPr>
            <a:r>
              <a:rPr lang="en-US" sz="900" b="0">
                <a:solidFill>
                  <a:srgbClr val="334155"/>
                </a:solidFill>
                <a:latin typeface="Roboto"/>
              </a:rPr>
              <a:t>Java looks at the </a:t>
            </a:r>
            <a:r>
              <a:rPr lang="en-US" sz="900" b="1">
                <a:solidFill>
                  <a:srgbClr val="334155"/>
                </a:solidFill>
                <a:latin typeface="Roboto"/>
              </a:rPr>
              <a:t>actual object type</a:t>
            </a:r>
            <a:r>
              <a:rPr lang="en-US" sz="900" b="0">
                <a:solidFill>
                  <a:srgbClr val="334155"/>
                </a:solidFill>
                <a:latin typeface="Roboto"/>
              </a:rPr>
              <a:t> — Dog, Cat, or GoldenRetriever.</a:t>
            </a:r>
          </a:p>
        </p:txBody>
      </p:sp>
      <p:sp>
        <p:nvSpPr>
          <p:cNvPr id="23" name="st2"/>
          <p:cNvSpPr/>
          <p:nvPr/>
        </p:nvSpPr>
        <p:spPr>
          <a:xfrm>
            <a:off x="4752300" y="2610000"/>
            <a:ext cx="4080000" cy="43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4" name="sts2"/>
          <p:cNvSpPr/>
          <p:nvPr/>
        </p:nvSpPr>
        <p:spPr>
          <a:xfrm>
            <a:off x="4752300" y="2610000"/>
            <a:ext cx="60000" cy="430000"/>
          </a:xfrm>
          <a:prstGeom prst="roundRect">
            <a:avLst>
              <a:gd name="adj" fmla="val 40000"/>
            </a:avLst>
          </a:prstGeom>
          <a:solidFill>
            <a:srgbClr val="7C3AED"/>
          </a:solidFill>
          <a:ln>
            <a:noFill/>
          </a:ln>
        </p:spPr>
        <p:txBody>
          <a:bodyPr/>
          <a:lstStyle/>
          <a:p>
            <a:endParaRPr/>
          </a:p>
        </p:txBody>
      </p:sp>
      <p:sp>
        <p:nvSpPr>
          <p:cNvPr id="25" name="stt2"/>
          <p:cNvSpPr txBox="1"/>
          <p:nvPr/>
        </p:nvSpPr>
        <p:spPr>
          <a:xfrm>
            <a:off x="4922300" y="2665000"/>
            <a:ext cx="3820000" cy="320000"/>
          </a:xfrm>
          <a:prstGeom prst="rect">
            <a:avLst/>
          </a:prstGeom>
          <a:noFill/>
        </p:spPr>
        <p:txBody>
          <a:bodyPr wrap="square" lIns="0" tIns="0" rIns="0" bIns="0" anchor="ctr">
            <a:noAutofit/>
          </a:bodyPr>
          <a:lstStyle/>
          <a:p>
            <a:pPr marL="0" indent="0">
              <a:spcAft>
                <a:spcPts val="35"/>
              </a:spcAft>
              <a:buNone/>
            </a:pPr>
            <a:r>
              <a:rPr lang="en-US" sz="850" b="1" spc="60">
                <a:solidFill>
                  <a:srgbClr val="7C3AED"/>
                </a:solidFill>
                <a:latin typeface="Roboto"/>
              </a:rPr>
              <a:t>STEP 3  ·  Calls the right version</a:t>
            </a:r>
          </a:p>
          <a:p>
            <a:pPr marL="0" indent="0">
              <a:spcAft>
                <a:spcPts val="0"/>
              </a:spcAft>
              <a:buNone/>
            </a:pPr>
            <a:r>
              <a:rPr lang="en-US" sz="900" b="0">
                <a:solidFill>
                  <a:srgbClr val="334155"/>
                </a:solidFill>
                <a:latin typeface="Roboto"/>
              </a:rPr>
              <a:t>The overridden </a:t>
            </a:r>
            <a:r>
              <a:rPr lang="en-US" sz="900" b="1">
                <a:solidFill>
                  <a:srgbClr val="334155"/>
                </a:solidFill>
                <a:latin typeface="Consolas"/>
              </a:rPr>
              <a:t>speak()</a:t>
            </a:r>
            <a:r>
              <a:rPr lang="en-US" sz="900" b="0">
                <a:solidFill>
                  <a:srgbClr val="334155"/>
                </a:solidFill>
                <a:latin typeface="Roboto"/>
              </a:rPr>
              <a:t> in the real class runs — not Animal's.</a:t>
            </a:r>
          </a:p>
        </p:txBody>
      </p:sp>
      <p:sp>
        <p:nvSpPr>
          <p:cNvPr id="26" name="dd"/>
          <p:cNvSpPr txBox="1"/>
          <p:nvPr/>
        </p:nvSpPr>
        <p:spPr>
          <a:xfrm>
            <a:off x="4752300" y="3100000"/>
            <a:ext cx="4080000" cy="220000"/>
          </a:xfrm>
          <a:prstGeom prst="rect">
            <a:avLst/>
          </a:prstGeom>
          <a:noFill/>
        </p:spPr>
        <p:txBody>
          <a:bodyPr wrap="square" lIns="0" tIns="0" rIns="0" bIns="0" anchor="t">
            <a:noAutofit/>
          </a:bodyPr>
          <a:lstStyle/>
          <a:p>
            <a:pPr marL="0" indent="0" algn="ctr">
              <a:spcAft>
                <a:spcPts val="0"/>
              </a:spcAft>
              <a:buNone/>
            </a:pPr>
            <a:r>
              <a:rPr lang="en-US" sz="1000" b="0" i="1">
                <a:solidFill>
                  <a:srgbClr val="334155"/>
                </a:solidFill>
                <a:latin typeface="Roboto"/>
              </a:rPr>
              <a:t>This is </a:t>
            </a:r>
            <a:r>
              <a:rPr lang="en-US" sz="1000" b="1" i="1">
                <a:solidFill>
                  <a:srgbClr val="7C3AED"/>
                </a:solidFill>
                <a:latin typeface="Roboto"/>
              </a:rPr>
              <a:t>dynamic dispatch</a:t>
            </a:r>
            <a:r>
              <a:rPr lang="en-US" sz="1000" b="0" i="1">
                <a:solidFill>
                  <a:srgbClr val="334155"/>
                </a:solidFill>
                <a:latin typeface="Roboto"/>
              </a:rPr>
              <a:t>.</a:t>
            </a:r>
          </a:p>
        </p:txBody>
      </p:sp>
      <p:sp>
        <p:nvSpPr>
          <p:cNvPr id="27" name="tc"/>
          <p:cNvSpPr/>
          <p:nvPr/>
        </p:nvSpPr>
        <p:spPr>
          <a:xfrm>
            <a:off x="311700" y="3540000"/>
            <a:ext cx="2733000" cy="8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8" name="B28"/>
          <p:cNvSpPr/>
          <p:nvPr/>
        </p:nvSpPr>
        <p:spPr>
          <a:xfrm>
            <a:off x="461700" y="3660000"/>
            <a:ext cx="270000" cy="270000"/>
          </a:xfrm>
          <a:prstGeom prst="ellipse">
            <a:avLst/>
          </a:prstGeom>
          <a:solidFill>
            <a:srgbClr val="2563EB"/>
          </a:solidFill>
          <a:ln>
            <a:noFill/>
          </a:ln>
        </p:spPr>
        <p:txBody>
          <a:bodyPr/>
          <a:lstStyle/>
          <a:p>
            <a:endParaRPr/>
          </a:p>
        </p:txBody>
      </p:sp>
      <p:sp>
        <p:nvSpPr>
          <p:cNvPr id="29" name="BG29"/>
          <p:cNvSpPr txBox="1"/>
          <p:nvPr/>
        </p:nvSpPr>
        <p:spPr>
          <a:xfrm>
            <a:off x="461700" y="36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a:t>
            </a:r>
          </a:p>
        </p:txBody>
      </p:sp>
      <p:sp>
        <p:nvSpPr>
          <p:cNvPr id="30" name="HD"/>
          <p:cNvSpPr txBox="1"/>
          <p:nvPr/>
        </p:nvSpPr>
        <p:spPr>
          <a:xfrm>
            <a:off x="851700" y="3660000"/>
            <a:ext cx="2253000" cy="270000"/>
          </a:xfrm>
          <a:prstGeom prst="rect">
            <a:avLst/>
          </a:prstGeom>
          <a:noFill/>
        </p:spPr>
        <p:txBody>
          <a:bodyPr wrap="square" lIns="0" tIns="0" rIns="0" bIns="0" anchor="ctr">
            <a:noAutofit/>
          </a:bodyPr>
          <a:lstStyle/>
          <a:p>
            <a:pPr marL="0" indent="0">
              <a:spcAft>
                <a:spcPts val="0"/>
              </a:spcAft>
              <a:buNone/>
            </a:pPr>
            <a:r>
              <a:rPr lang="en-US" sz="760" b="1" spc="140">
                <a:solidFill>
                  <a:srgbClr val="2563EB"/>
                </a:solidFill>
                <a:latin typeface="Roboto"/>
              </a:rPr>
              <a:t>IS-A IS REQUIRED</a:t>
            </a:r>
          </a:p>
        </p:txBody>
      </p:sp>
      <p:sp>
        <p:nvSpPr>
          <p:cNvPr id="31" name="BD"/>
          <p:cNvSpPr txBox="1"/>
          <p:nvPr/>
        </p:nvSpPr>
        <p:spPr>
          <a:xfrm>
            <a:off x="481700" y="3970000"/>
            <a:ext cx="2413000" cy="420000"/>
          </a:xfrm>
          <a:prstGeom prst="rect">
            <a:avLst/>
          </a:prstGeom>
          <a:noFill/>
        </p:spPr>
        <p:txBody>
          <a:bodyPr wrap="square" lIns="0" tIns="0" rIns="0" bIns="0" anchor="t">
            <a:noAutofit/>
          </a:bodyPr>
          <a:lstStyle/>
          <a:p>
            <a:pPr marL="0" indent="0">
              <a:spcAft>
                <a:spcPts val="0"/>
              </a:spcAft>
              <a:buNone/>
            </a:pPr>
            <a:r>
              <a:rPr lang="en-US" sz="860" b="0">
                <a:solidFill>
                  <a:srgbClr val="334155"/>
                </a:solidFill>
                <a:latin typeface="Roboto"/>
              </a:rPr>
              <a:t>Works only because </a:t>
            </a:r>
            <a:r>
              <a:rPr lang="en-US" sz="860" b="1">
                <a:solidFill>
                  <a:srgbClr val="334155"/>
                </a:solidFill>
                <a:latin typeface="Roboto"/>
              </a:rPr>
              <a:t>Dog</a:t>
            </a:r>
            <a:r>
              <a:rPr lang="en-US" sz="860" b="1">
                <a:solidFill>
                  <a:srgbClr val="2563EB"/>
                </a:solidFill>
                <a:latin typeface="Roboto"/>
              </a:rPr>
              <a:t> IS-AN </a:t>
            </a:r>
            <a:r>
              <a:rPr lang="en-US" sz="860" b="1">
                <a:solidFill>
                  <a:srgbClr val="334155"/>
                </a:solidFill>
                <a:latin typeface="Roboto"/>
              </a:rPr>
              <a:t>Animal</a:t>
            </a:r>
            <a:r>
              <a:rPr lang="en-US" sz="860" b="0">
                <a:solidFill>
                  <a:srgbClr val="334155"/>
                </a:solidFill>
                <a:latin typeface="Roboto"/>
              </a:rPr>
              <a:t>. The is-a relationship must hold.</a:t>
            </a:r>
          </a:p>
        </p:txBody>
      </p:sp>
      <p:sp>
        <p:nvSpPr>
          <p:cNvPr id="32" name="tc"/>
          <p:cNvSpPr/>
          <p:nvPr/>
        </p:nvSpPr>
        <p:spPr>
          <a:xfrm>
            <a:off x="3204700" y="3540000"/>
            <a:ext cx="2733000" cy="8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3" name="B33"/>
          <p:cNvSpPr/>
          <p:nvPr/>
        </p:nvSpPr>
        <p:spPr>
          <a:xfrm>
            <a:off x="3354700" y="3660000"/>
            <a:ext cx="270000" cy="270000"/>
          </a:xfrm>
          <a:prstGeom prst="ellipse">
            <a:avLst/>
          </a:prstGeom>
          <a:solidFill>
            <a:srgbClr val="7C3AED"/>
          </a:solidFill>
          <a:ln>
            <a:noFill/>
          </a:ln>
        </p:spPr>
        <p:txBody>
          <a:bodyPr/>
          <a:lstStyle/>
          <a:p>
            <a:endParaRPr/>
          </a:p>
        </p:txBody>
      </p:sp>
      <p:sp>
        <p:nvSpPr>
          <p:cNvPr id="34" name="BG34"/>
          <p:cNvSpPr txBox="1"/>
          <p:nvPr/>
        </p:nvSpPr>
        <p:spPr>
          <a:xfrm>
            <a:off x="3354700" y="36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a:t>
            </a:r>
          </a:p>
        </p:txBody>
      </p:sp>
      <p:sp>
        <p:nvSpPr>
          <p:cNvPr id="35" name="HD"/>
          <p:cNvSpPr txBox="1"/>
          <p:nvPr/>
        </p:nvSpPr>
        <p:spPr>
          <a:xfrm>
            <a:off x="3744700" y="3660000"/>
            <a:ext cx="2253000" cy="270000"/>
          </a:xfrm>
          <a:prstGeom prst="rect">
            <a:avLst/>
          </a:prstGeom>
          <a:noFill/>
        </p:spPr>
        <p:txBody>
          <a:bodyPr wrap="square" lIns="0" tIns="0" rIns="0" bIns="0" anchor="ctr">
            <a:noAutofit/>
          </a:bodyPr>
          <a:lstStyle/>
          <a:p>
            <a:pPr marL="0" indent="0">
              <a:spcAft>
                <a:spcPts val="0"/>
              </a:spcAft>
              <a:buNone/>
            </a:pPr>
            <a:r>
              <a:rPr lang="en-US" sz="760" b="1" spc="140">
                <a:solidFill>
                  <a:srgbClr val="7C3AED"/>
                </a:solidFill>
                <a:latin typeface="Roboto"/>
              </a:rPr>
              <a:t>FLEXIBLE, REUSABLE CODE</a:t>
            </a:r>
          </a:p>
        </p:txBody>
      </p:sp>
      <p:sp>
        <p:nvSpPr>
          <p:cNvPr id="36" name="BD"/>
          <p:cNvSpPr txBox="1"/>
          <p:nvPr/>
        </p:nvSpPr>
        <p:spPr>
          <a:xfrm>
            <a:off x="3374700" y="3970000"/>
            <a:ext cx="2413000" cy="420000"/>
          </a:xfrm>
          <a:prstGeom prst="rect">
            <a:avLst/>
          </a:prstGeom>
          <a:noFill/>
        </p:spPr>
        <p:txBody>
          <a:bodyPr wrap="square" lIns="0" tIns="0" rIns="0" bIns="0" anchor="t">
            <a:noAutofit/>
          </a:bodyPr>
          <a:lstStyle/>
          <a:p>
            <a:pPr marL="0" indent="0">
              <a:spcAft>
                <a:spcPts val="0"/>
              </a:spcAft>
              <a:buNone/>
            </a:pPr>
            <a:r>
              <a:rPr lang="en-US" sz="860" b="0">
                <a:solidFill>
                  <a:srgbClr val="334155"/>
                </a:solidFill>
                <a:latin typeface="Roboto"/>
              </a:rPr>
              <a:t>Write one method that accepts </a:t>
            </a:r>
            <a:r>
              <a:rPr lang="en-US" sz="860" b="1">
                <a:solidFill>
                  <a:srgbClr val="7C3AED"/>
                </a:solidFill>
                <a:latin typeface="Consolas"/>
              </a:rPr>
              <a:t>Animal</a:t>
            </a:r>
            <a:r>
              <a:rPr lang="en-US" sz="860" b="0">
                <a:solidFill>
                  <a:srgbClr val="334155"/>
                </a:solidFill>
                <a:latin typeface="Roboto"/>
              </a:rPr>
              <a:t> — it works on every current and future subclass.</a:t>
            </a:r>
          </a:p>
        </p:txBody>
      </p:sp>
      <p:sp>
        <p:nvSpPr>
          <p:cNvPr id="37" name="tc"/>
          <p:cNvSpPr/>
          <p:nvPr/>
        </p:nvSpPr>
        <p:spPr>
          <a:xfrm>
            <a:off x="6097700" y="3540000"/>
            <a:ext cx="2733000" cy="8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38" name="B38"/>
          <p:cNvSpPr/>
          <p:nvPr/>
        </p:nvSpPr>
        <p:spPr>
          <a:xfrm>
            <a:off x="6247700" y="3660000"/>
            <a:ext cx="270000" cy="270000"/>
          </a:xfrm>
          <a:prstGeom prst="ellipse">
            <a:avLst/>
          </a:prstGeom>
          <a:solidFill>
            <a:srgbClr val="22C55E"/>
          </a:solidFill>
          <a:ln>
            <a:noFill/>
          </a:ln>
        </p:spPr>
        <p:txBody>
          <a:bodyPr/>
          <a:lstStyle/>
          <a:p>
            <a:endParaRPr/>
          </a:p>
        </p:txBody>
      </p:sp>
      <p:sp>
        <p:nvSpPr>
          <p:cNvPr id="39" name="BG39"/>
          <p:cNvSpPr txBox="1"/>
          <p:nvPr/>
        </p:nvSpPr>
        <p:spPr>
          <a:xfrm>
            <a:off x="6247700" y="3660000"/>
            <a:ext cx="270000" cy="270000"/>
          </a:xfrm>
          <a:prstGeom prst="rect">
            <a:avLst/>
          </a:prstGeom>
          <a:noFill/>
        </p:spPr>
        <p:txBody>
          <a:bodyPr wrap="square" lIns="0" tIns="0" rIns="0" bIns="0" anchor="ctr">
            <a:noAutofit/>
          </a:bodyPr>
          <a:lstStyle/>
          <a:p>
            <a:pPr marL="0" indent="0" algn="ctr">
              <a:spcAft>
                <a:spcPts val="0"/>
              </a:spcAft>
              <a:buNone/>
            </a:pPr>
            <a:r>
              <a:rPr lang="en-US" sz="1020" b="1">
                <a:solidFill>
                  <a:srgbClr val="FFFFFF"/>
                </a:solidFill>
                <a:latin typeface="Arial"/>
              </a:rPr>
              <a:t>▶</a:t>
            </a:r>
          </a:p>
        </p:txBody>
      </p:sp>
      <p:sp>
        <p:nvSpPr>
          <p:cNvPr id="40" name="HD"/>
          <p:cNvSpPr txBox="1"/>
          <p:nvPr/>
        </p:nvSpPr>
        <p:spPr>
          <a:xfrm>
            <a:off x="6637700" y="3660000"/>
            <a:ext cx="2253000" cy="270000"/>
          </a:xfrm>
          <a:prstGeom prst="rect">
            <a:avLst/>
          </a:prstGeom>
          <a:noFill/>
        </p:spPr>
        <p:txBody>
          <a:bodyPr wrap="square" lIns="0" tIns="0" rIns="0" bIns="0" anchor="ctr">
            <a:noAutofit/>
          </a:bodyPr>
          <a:lstStyle/>
          <a:p>
            <a:pPr marL="0" indent="0">
              <a:spcAft>
                <a:spcPts val="0"/>
              </a:spcAft>
              <a:buNone/>
            </a:pPr>
            <a:r>
              <a:rPr lang="en-US" sz="760" b="1" spc="140">
                <a:solidFill>
                  <a:srgbClr val="22C55E"/>
                </a:solidFill>
                <a:latin typeface="Roboto"/>
              </a:rPr>
              <a:t>RUNTIME, NOT COMPILE TIME</a:t>
            </a:r>
          </a:p>
        </p:txBody>
      </p:sp>
      <p:sp>
        <p:nvSpPr>
          <p:cNvPr id="41" name="BD"/>
          <p:cNvSpPr txBox="1"/>
          <p:nvPr/>
        </p:nvSpPr>
        <p:spPr>
          <a:xfrm>
            <a:off x="6267700" y="3970000"/>
            <a:ext cx="2413000" cy="420000"/>
          </a:xfrm>
          <a:prstGeom prst="rect">
            <a:avLst/>
          </a:prstGeom>
          <a:noFill/>
        </p:spPr>
        <p:txBody>
          <a:bodyPr wrap="square" lIns="0" tIns="0" rIns="0" bIns="0" anchor="t">
            <a:noAutofit/>
          </a:bodyPr>
          <a:lstStyle/>
          <a:p>
            <a:pPr marL="0" indent="0">
              <a:spcAft>
                <a:spcPts val="0"/>
              </a:spcAft>
              <a:buNone/>
            </a:pPr>
            <a:r>
              <a:rPr lang="en-US" sz="860" b="0">
                <a:solidFill>
                  <a:srgbClr val="334155"/>
                </a:solidFill>
                <a:latin typeface="Roboto"/>
              </a:rPr>
              <a:t>The method to call is chosen when the program </a:t>
            </a:r>
            <a:r>
              <a:rPr lang="en-US" sz="860" b="1">
                <a:solidFill>
                  <a:srgbClr val="16A34A"/>
                </a:solidFill>
                <a:latin typeface="Roboto"/>
              </a:rPr>
              <a:t>runs</a:t>
            </a:r>
            <a:r>
              <a:rPr lang="en-US" sz="860" b="0">
                <a:solidFill>
                  <a:srgbClr val="334155"/>
                </a:solidFill>
                <a:latin typeface="Roboto"/>
              </a:rPr>
              <a:t>, not when it compiles.</a:t>
            </a:r>
          </a:p>
        </p:txBody>
      </p:sp>
      <p:sp>
        <p:nvSpPr>
          <p:cNvPr id="42" name="CO42"/>
          <p:cNvSpPr/>
          <p:nvPr/>
        </p:nvSpPr>
        <p:spPr>
          <a:xfrm>
            <a:off x="311700" y="4500000"/>
            <a:ext cx="8520600" cy="330000"/>
          </a:xfrm>
          <a:prstGeom prst="roundRect">
            <a:avLst>
              <a:gd name="adj" fmla="val 22000"/>
            </a:avLst>
          </a:prstGeom>
          <a:solidFill>
            <a:srgbClr val="7C3AED">
              <a:alpha val="12000"/>
            </a:srgbClr>
          </a:solidFill>
          <a:ln>
            <a:noFill/>
          </a:ln>
        </p:spPr>
        <p:txBody>
          <a:bodyPr/>
          <a:lstStyle/>
          <a:p>
            <a:endParaRPr/>
          </a:p>
        </p:txBody>
      </p:sp>
      <p:sp>
        <p:nvSpPr>
          <p:cNvPr id="43" name="COT42"/>
          <p:cNvSpPr txBox="1"/>
          <p:nvPr/>
        </p:nvSpPr>
        <p:spPr>
          <a:xfrm>
            <a:off x="451700" y="4500000"/>
            <a:ext cx="8240600" cy="330000"/>
          </a:xfrm>
          <a:prstGeom prst="rect">
            <a:avLst/>
          </a:prstGeom>
          <a:noFill/>
        </p:spPr>
        <p:txBody>
          <a:bodyPr wrap="square" lIns="0" tIns="0" rIns="0" bIns="0" anchor="ctr">
            <a:noAutofit/>
          </a:bodyPr>
          <a:lstStyle/>
          <a:p>
            <a:pPr marL="0" indent="0" algn="ctr">
              <a:spcAft>
                <a:spcPts val="0"/>
              </a:spcAft>
              <a:buNone/>
            </a:pPr>
            <a:r>
              <a:rPr lang="en-US" sz="1050" b="0">
                <a:solidFill>
                  <a:srgbClr val="334155"/>
                </a:solidFill>
                <a:latin typeface="Roboto"/>
              </a:rPr>
              <a:t>Polymorphism is the payoff of the last four slides — </a:t>
            </a:r>
            <a:r>
              <a:rPr lang="en-US" sz="1050" b="1">
                <a:solidFill>
                  <a:srgbClr val="7C3AED"/>
                </a:solidFill>
                <a:latin typeface="Roboto"/>
              </a:rPr>
              <a:t>inheritance, the tree, and overriding</a:t>
            </a:r>
            <a:r>
              <a:rPr lang="en-US" sz="1050" b="0">
                <a:solidFill>
                  <a:srgbClr val="334155"/>
                </a:solidFill>
                <a:latin typeface="Roboto"/>
              </a:rPr>
              <a:t> all make it possible.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Setting Up Polymorphism — Defining speak()</a:t>
            </a:r>
          </a:p>
        </p:txBody>
      </p:sp>
      <p:sp>
        <p:nvSpPr>
          <p:cNvPr id="101" name="bridge"/>
          <p:cNvSpPr txBox="1"/>
          <p:nvPr/>
        </p:nvSpPr>
        <p:spPr>
          <a:xfrm>
            <a:off x="311700" y="965000"/>
            <a:ext cx="8520600" cy="560000"/>
          </a:xfrm>
          <a:prstGeom prst="rect">
            <a:avLst/>
          </a:prstGeom>
          <a:noFill/>
        </p:spPr>
        <p:txBody>
          <a:bodyPr wrap="square" lIns="0" tIns="0" rIns="0" bIns="0" anchor="t">
            <a:noAutofit/>
          </a:bodyPr>
          <a:lstStyle/>
          <a:p>
            <a:pPr marL="0" indent="0">
              <a:spcAft>
                <a:spcPts val="0"/>
              </a:spcAft>
              <a:buNone/>
            </a:pPr>
            <a:r>
              <a:rPr lang="en-US" sz="1500" b="0">
                <a:solidFill>
                  <a:srgbClr val="334155"/>
                </a:solidFill>
                <a:latin typeface="Roboto"/>
              </a:rPr>
              <a:t>Before polymorphism can work, the parent class must </a:t>
            </a:r>
            <a:r>
              <a:rPr lang="en-US" sz="1500" b="1">
                <a:solidFill>
                  <a:srgbClr val="2563EB"/>
                </a:solidFill>
                <a:latin typeface="Roboto"/>
              </a:rPr>
              <a:t>declare</a:t>
            </a:r>
            <a:r>
              <a:rPr lang="en-US" sz="1500" b="0">
                <a:solidFill>
                  <a:srgbClr val="334155"/>
                </a:solidFill>
                <a:latin typeface="Roboto"/>
              </a:rPr>
              <a:t> the method — and each subclass must </a:t>
            </a:r>
            <a:r>
              <a:rPr lang="en-US" sz="1500" b="1">
                <a:solidFill>
                  <a:srgbClr val="7C3AED"/>
                </a:solidFill>
                <a:latin typeface="Roboto"/>
              </a:rPr>
              <a:t>override</a:t>
            </a:r>
            <a:r>
              <a:rPr lang="en-US" sz="1500" b="0">
                <a:solidFill>
                  <a:srgbClr val="334155"/>
                </a:solidFill>
                <a:latin typeface="Roboto"/>
              </a:rPr>
              <a:t> it.</a:t>
            </a:r>
          </a:p>
        </p:txBody>
      </p:sp>
      <p:sp>
        <p:nvSpPr>
          <p:cNvPr id="102" name="lab"/>
          <p:cNvSpPr txBox="1"/>
          <p:nvPr/>
        </p:nvSpPr>
        <p:spPr>
          <a:xfrm>
            <a:off x="311700"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2563EB"/>
                </a:solidFill>
                <a:latin typeface="Roboto"/>
              </a:rPr>
              <a:t>Animal declares speak()</a:t>
            </a:r>
          </a:p>
        </p:txBody>
      </p:sp>
      <p:sp>
        <p:nvSpPr>
          <p:cNvPr id="103" name="lab"/>
          <p:cNvSpPr txBox="1"/>
          <p:nvPr/>
        </p:nvSpPr>
        <p:spPr>
          <a:xfrm>
            <a:off x="3198566"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0891B2"/>
                </a:solidFill>
                <a:latin typeface="Roboto"/>
              </a:rPr>
              <a:t>Dog overrides speak()</a:t>
            </a:r>
          </a:p>
        </p:txBody>
      </p:sp>
      <p:sp>
        <p:nvSpPr>
          <p:cNvPr id="104" name="lab"/>
          <p:cNvSpPr txBox="1"/>
          <p:nvPr/>
        </p:nvSpPr>
        <p:spPr>
          <a:xfrm>
            <a:off x="6085432" y="1600000"/>
            <a:ext cx="2746866" cy="210000"/>
          </a:xfrm>
          <a:prstGeom prst="rect">
            <a:avLst/>
          </a:prstGeom>
          <a:noFill/>
        </p:spPr>
        <p:txBody>
          <a:bodyPr wrap="square" lIns="0" tIns="0" rIns="0" bIns="0" anchor="ctr">
            <a:noAutofit/>
          </a:bodyPr>
          <a:lstStyle/>
          <a:p>
            <a:pPr marL="0" indent="0">
              <a:spcAft>
                <a:spcPts val="0"/>
              </a:spcAft>
              <a:buNone/>
            </a:pPr>
            <a:r>
              <a:rPr lang="en-US" sz="850" b="1">
                <a:solidFill>
                  <a:srgbClr val="EA580C"/>
                </a:solidFill>
                <a:latin typeface="Roboto"/>
              </a:rPr>
              <a:t>Cat overrides speak()</a:t>
            </a:r>
          </a:p>
        </p:txBody>
      </p:sp>
      <p:sp>
        <p:nvSpPr>
          <p:cNvPr id="105" name="codepanel"/>
          <p:cNvSpPr/>
          <p:nvPr/>
        </p:nvSpPr>
        <p:spPr>
          <a:xfrm>
            <a:off x="311700" y="1820000"/>
            <a:ext cx="2746866" cy="1660000"/>
          </a:xfrm>
          <a:prstGeom prst="roundRect">
            <a:avLst>
              <a:gd name="adj" fmla="val 5000"/>
            </a:avLst>
          </a:prstGeom>
          <a:solidFill>
            <a:srgbClr val="1E293B"/>
          </a:solidFill>
          <a:ln w="9525">
            <a:solidFill>
              <a:srgbClr val="334155"/>
            </a:solidFill>
          </a:ln>
        </p:spPr>
        <p:txBody>
          <a:bodyPr/>
          <a:lstStyle/>
          <a:p>
            <a:endParaRPr/>
          </a:p>
        </p:txBody>
      </p:sp>
      <p:sp>
        <p:nvSpPr>
          <p:cNvPr id="106" name="code"/>
          <p:cNvSpPr txBox="1"/>
          <p:nvPr/>
        </p:nvSpPr>
        <p:spPr>
          <a:xfrm>
            <a:off x="431700" y="1895000"/>
            <a:ext cx="2506866" cy="157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Animal</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Animal</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name </a:t>
            </a:r>
            <a:r>
              <a:rPr lang="en-US" sz="620" b="0">
                <a:solidFill>
                  <a:srgbClr val="94A3B8"/>
                </a:solidFill>
                <a:latin typeface="Consolas"/>
              </a:rPr>
              <a:t>=</a:t>
            </a:r>
            <a:r>
              <a:rPr lang="en-US" sz="620" b="0">
                <a:solidFill>
                  <a:srgbClr val="E2E8F0"/>
                </a:solidFill>
                <a:latin typeface="Consolas"/>
              </a:rPr>
              <a:t> name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age </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void</a:t>
            </a:r>
            <a:r>
              <a:rPr lang="en-US" sz="620" b="0">
                <a:solidFill>
                  <a:srgbClr val="E2E8F0"/>
                </a:solidFill>
                <a:latin typeface="Consolas"/>
              </a:rPr>
              <a:t> </a:t>
            </a:r>
            <a:r>
              <a:rPr lang="en-US" sz="620" b="0">
                <a:solidFill>
                  <a:srgbClr val="DCDCAA"/>
                </a:solidFill>
                <a:latin typeface="Consolas"/>
              </a:rPr>
              <a:t>speak</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4EC9B0"/>
                </a:solidFill>
                <a:latin typeface="Consolas"/>
              </a:rPr>
              <a:t>System</a:t>
            </a:r>
            <a:r>
              <a:rPr lang="en-US" sz="620" b="0">
                <a:solidFill>
                  <a:srgbClr val="94A3B8"/>
                </a:solidFill>
                <a:latin typeface="Consolas"/>
              </a:rPr>
              <a:t>.</a:t>
            </a:r>
            <a:r>
              <a:rPr lang="en-US" sz="620" b="0">
                <a:solidFill>
                  <a:srgbClr val="E2E8F0"/>
                </a:solidFill>
                <a:latin typeface="Consolas"/>
              </a:rPr>
              <a:t>out</a:t>
            </a:r>
            <a:r>
              <a:rPr lang="en-US" sz="620" b="0">
                <a:solidFill>
                  <a:srgbClr val="94A3B8"/>
                </a:solidFill>
                <a:latin typeface="Consolas"/>
              </a:rPr>
              <a:t>.</a:t>
            </a:r>
            <a:r>
              <a:rPr lang="en-US" sz="620" b="0">
                <a:solidFill>
                  <a:srgbClr val="DCDCAA"/>
                </a:solidFill>
                <a:latin typeface="Consolas"/>
              </a:rPr>
              <a:t>println</a:t>
            </a:r>
            <a:r>
              <a:rPr lang="en-US" sz="620" b="0">
                <a:solidFill>
                  <a:srgbClr val="94A3B8"/>
                </a:solidFill>
                <a:latin typeface="Consolas"/>
              </a:rPr>
              <a:t>(</a:t>
            </a:r>
            <a:r>
              <a:rPr lang="en-US" sz="620" b="0">
                <a:solidFill>
                  <a:srgbClr val="CE9178"/>
                </a:solidFill>
                <a:latin typeface="Consolas"/>
              </a:rPr>
              <a:t>"..."</a:t>
            </a:r>
            <a:r>
              <a:rPr lang="en-US" sz="620" b="0">
                <a:solidFill>
                  <a:srgbClr val="94A3B8"/>
                </a:solidFill>
                <a:latin typeface="Consolas"/>
              </a:rPr>
              <a:t>);</a:t>
            </a:r>
            <a:r>
              <a:rPr lang="en-US" sz="620" b="0">
                <a:solidFill>
                  <a:srgbClr val="E2E8F0"/>
                </a:solidFill>
                <a:latin typeface="Consolas"/>
              </a:rPr>
              <a:t>  </a:t>
            </a:r>
            <a:r>
              <a:rPr lang="en-US" sz="620" b="0" i="1">
                <a:solidFill>
                  <a:srgbClr val="6A9955"/>
                </a:solidFill>
                <a:latin typeface="Consolas"/>
              </a:rPr>
              <a:t>// generic</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07" name="codepanel"/>
          <p:cNvSpPr/>
          <p:nvPr/>
        </p:nvSpPr>
        <p:spPr>
          <a:xfrm>
            <a:off x="3198566" y="1820000"/>
            <a:ext cx="2746866" cy="1660000"/>
          </a:xfrm>
          <a:prstGeom prst="roundRect">
            <a:avLst>
              <a:gd name="adj" fmla="val 5000"/>
            </a:avLst>
          </a:prstGeom>
          <a:solidFill>
            <a:srgbClr val="1E293B"/>
          </a:solidFill>
          <a:ln w="9525">
            <a:solidFill>
              <a:srgbClr val="334155"/>
            </a:solidFill>
          </a:ln>
        </p:spPr>
        <p:txBody>
          <a:bodyPr/>
          <a:lstStyle/>
          <a:p>
            <a:endParaRPr/>
          </a:p>
        </p:txBody>
      </p:sp>
      <p:sp>
        <p:nvSpPr>
          <p:cNvPr id="108" name="code"/>
          <p:cNvSpPr txBox="1"/>
          <p:nvPr/>
        </p:nvSpPr>
        <p:spPr>
          <a:xfrm>
            <a:off x="3318566" y="1895000"/>
            <a:ext cx="2506866" cy="157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Dog</a:t>
            </a:r>
            <a:r>
              <a:rPr lang="en-US" sz="620" b="0">
                <a:solidFill>
                  <a:srgbClr val="E2E8F0"/>
                </a:solidFill>
                <a:latin typeface="Consolas"/>
              </a:rPr>
              <a:t> </a:t>
            </a:r>
            <a:r>
              <a:rPr lang="en-US" sz="620" b="0">
                <a:solidFill>
                  <a:srgbClr val="60A5FA"/>
                </a:solidFill>
                <a:latin typeface="Consolas"/>
              </a:rPr>
              <a:t>extends</a:t>
            </a:r>
            <a:r>
              <a:rPr lang="en-US" sz="620" b="0">
                <a:solidFill>
                  <a:srgbClr val="E2E8F0"/>
                </a:solidFill>
                <a:latin typeface="Consolas"/>
              </a:rPr>
              <a:t> </a:t>
            </a:r>
            <a:r>
              <a:rPr lang="en-US" sz="620" b="0">
                <a:solidFill>
                  <a:srgbClr val="4EC9B0"/>
                </a:solidFill>
                <a:latin typeface="Consolas"/>
              </a:rPr>
              <a:t>Animal</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private</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breed</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Dog</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4EC9B0"/>
                </a:solidFill>
                <a:latin typeface="Consolas"/>
              </a:rPr>
              <a:t>String</a:t>
            </a:r>
            <a:r>
              <a:rPr lang="en-US" sz="620" b="0">
                <a:solidFill>
                  <a:srgbClr val="E2E8F0"/>
                </a:solidFill>
                <a:latin typeface="Consolas"/>
              </a:rPr>
              <a:t> breed</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super</a:t>
            </a:r>
            <a:r>
              <a:rPr lang="en-US" sz="620" b="0">
                <a:solidFill>
                  <a:srgbClr val="94A3B8"/>
                </a:solidFill>
                <a:latin typeface="Consolas"/>
              </a:rPr>
              <a:t>(</a:t>
            </a:r>
            <a:r>
              <a:rPr lang="en-US" sz="620" b="0">
                <a:solidFill>
                  <a:srgbClr val="E2E8F0"/>
                </a:solidFill>
                <a:latin typeface="Consolas"/>
              </a:rPr>
              <a:t>name</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this</a:t>
            </a:r>
            <a:r>
              <a:rPr lang="en-US" sz="620" b="0">
                <a:solidFill>
                  <a:srgbClr val="94A3B8"/>
                </a:solidFill>
                <a:latin typeface="Consolas"/>
              </a:rPr>
              <a:t>.</a:t>
            </a:r>
            <a:r>
              <a:rPr lang="en-US" sz="620" b="0">
                <a:solidFill>
                  <a:srgbClr val="E2E8F0"/>
                </a:solidFill>
                <a:latin typeface="Consolas"/>
              </a:rPr>
              <a:t>breed </a:t>
            </a:r>
            <a:r>
              <a:rPr lang="en-US" sz="620" b="0">
                <a:solidFill>
                  <a:srgbClr val="94A3B8"/>
                </a:solidFill>
                <a:latin typeface="Consolas"/>
              </a:rPr>
              <a:t>=</a:t>
            </a:r>
            <a:r>
              <a:rPr lang="en-US" sz="620" b="0">
                <a:solidFill>
                  <a:srgbClr val="E2E8F0"/>
                </a:solidFill>
                <a:latin typeface="Consolas"/>
              </a:rPr>
              <a:t> breed</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sz="372"/>
          </a:p>
          <a:p>
            <a:pPr marL="0" indent="0">
              <a:spcAft>
                <a:spcPts val="10"/>
              </a:spcAft>
              <a:buNone/>
            </a:pPr>
            <a:r>
              <a:rPr lang="en-US" sz="620" b="0">
                <a:solidFill>
                  <a:srgbClr val="E2E8F0"/>
                </a:solidFill>
                <a:latin typeface="Consolas"/>
              </a:rPr>
              <a:t>    </a:t>
            </a:r>
            <a:r>
              <a:rPr lang="en-US" sz="620" b="0">
                <a:solidFill>
                  <a:srgbClr val="C586C0"/>
                </a:solidFill>
                <a:latin typeface="Consolas"/>
              </a:rPr>
              <a:t>@Override</a:t>
            </a:r>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void</a:t>
            </a:r>
            <a:r>
              <a:rPr lang="en-US" sz="620" b="0">
                <a:solidFill>
                  <a:srgbClr val="E2E8F0"/>
                </a:solidFill>
                <a:latin typeface="Consolas"/>
              </a:rPr>
              <a:t> </a:t>
            </a:r>
            <a:r>
              <a:rPr lang="en-US" sz="620" b="0">
                <a:solidFill>
                  <a:srgbClr val="DCDCAA"/>
                </a:solidFill>
                <a:latin typeface="Consolas"/>
              </a:rPr>
              <a:t>speak</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4EC9B0"/>
                </a:solidFill>
                <a:latin typeface="Consolas"/>
              </a:rPr>
              <a:t>System</a:t>
            </a:r>
            <a:r>
              <a:rPr lang="en-US" sz="620" b="0">
                <a:solidFill>
                  <a:srgbClr val="94A3B8"/>
                </a:solidFill>
                <a:latin typeface="Consolas"/>
              </a:rPr>
              <a:t>.</a:t>
            </a:r>
            <a:r>
              <a:rPr lang="en-US" sz="620" b="0">
                <a:solidFill>
                  <a:srgbClr val="E2E8F0"/>
                </a:solidFill>
                <a:latin typeface="Consolas"/>
              </a:rPr>
              <a:t>out</a:t>
            </a:r>
            <a:r>
              <a:rPr lang="en-US" sz="620" b="0">
                <a:solidFill>
                  <a:srgbClr val="94A3B8"/>
                </a:solidFill>
                <a:latin typeface="Consolas"/>
              </a:rPr>
              <a:t>.</a:t>
            </a:r>
            <a:r>
              <a:rPr lang="en-US" sz="620" b="0">
                <a:solidFill>
                  <a:srgbClr val="DCDCAA"/>
                </a:solidFill>
                <a:latin typeface="Consolas"/>
              </a:rPr>
              <a:t>println</a:t>
            </a:r>
            <a:r>
              <a:rPr lang="en-US" sz="620" b="0">
                <a:solidFill>
                  <a:srgbClr val="94A3B8"/>
                </a:solidFill>
                <a:latin typeface="Consolas"/>
              </a:rPr>
              <a:t>(</a:t>
            </a:r>
            <a:r>
              <a:rPr lang="en-US" sz="620" b="0">
                <a:solidFill>
                  <a:srgbClr val="CE9178"/>
                </a:solidFill>
                <a:latin typeface="Consolas"/>
              </a:rPr>
              <a:t>"Woof!"</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09" name="codepanel"/>
          <p:cNvSpPr/>
          <p:nvPr/>
        </p:nvSpPr>
        <p:spPr>
          <a:xfrm>
            <a:off x="6085432" y="1820000"/>
            <a:ext cx="2746866" cy="1660000"/>
          </a:xfrm>
          <a:prstGeom prst="roundRect">
            <a:avLst>
              <a:gd name="adj" fmla="val 5000"/>
            </a:avLst>
          </a:prstGeom>
          <a:solidFill>
            <a:srgbClr val="1E293B"/>
          </a:solidFill>
          <a:ln w="9525">
            <a:solidFill>
              <a:srgbClr val="334155"/>
            </a:solidFill>
          </a:ln>
        </p:spPr>
        <p:txBody>
          <a:bodyPr/>
          <a:lstStyle/>
          <a:p>
            <a:endParaRPr/>
          </a:p>
        </p:txBody>
      </p:sp>
      <p:sp>
        <p:nvSpPr>
          <p:cNvPr id="110" name="code"/>
          <p:cNvSpPr txBox="1">
            <a:spLocks/>
          </p:cNvSpPr>
          <p:nvPr/>
        </p:nvSpPr>
        <p:spPr>
          <a:xfrm>
            <a:off x="6205432" y="1895000"/>
            <a:ext cx="2506866" cy="1570000"/>
          </a:xfrm>
          <a:prstGeom prst="rect">
            <a:avLst/>
          </a:prstGeom>
          <a:noFill/>
        </p:spPr>
        <p:txBody>
          <a:bodyPr wrap="square" lIns="0" tIns="0" rIns="0" bIns="0" anchor="t">
            <a:noAutofit/>
          </a:bodyPr>
          <a:lstStyle/>
          <a:p>
            <a:pPr marL="0" indent="0">
              <a:spcAft>
                <a:spcPts val="10"/>
              </a:spcAft>
              <a:buNone/>
            </a:pP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class</a:t>
            </a:r>
            <a:r>
              <a:rPr lang="en-US" sz="620" b="0">
                <a:solidFill>
                  <a:srgbClr val="E2E8F0"/>
                </a:solidFill>
                <a:latin typeface="Consolas"/>
              </a:rPr>
              <a:t> </a:t>
            </a:r>
            <a:r>
              <a:rPr lang="en-US" sz="620" b="0">
                <a:solidFill>
                  <a:srgbClr val="4EC9B0"/>
                </a:solidFill>
                <a:latin typeface="Consolas"/>
              </a:rPr>
              <a:t>Cat</a:t>
            </a:r>
            <a:r>
              <a:rPr lang="en-US" sz="620" b="0">
                <a:solidFill>
                  <a:srgbClr val="E2E8F0"/>
                </a:solidFill>
                <a:latin typeface="Consolas"/>
              </a:rPr>
              <a:t> </a:t>
            </a:r>
            <a:r>
              <a:rPr lang="en-US" sz="620" b="0">
                <a:solidFill>
                  <a:srgbClr val="60A5FA"/>
                </a:solidFill>
                <a:latin typeface="Consolas"/>
              </a:rPr>
              <a:t>extends</a:t>
            </a:r>
            <a:r>
              <a:rPr lang="en-US" sz="620" b="0">
                <a:solidFill>
                  <a:srgbClr val="E2E8F0"/>
                </a:solidFill>
                <a:latin typeface="Consolas"/>
              </a:rPr>
              <a:t> </a:t>
            </a:r>
            <a:r>
              <a:rPr lang="en-US" sz="620" b="0">
                <a:solidFill>
                  <a:srgbClr val="4EC9B0"/>
                </a:solidFill>
                <a:latin typeface="Consolas"/>
              </a:rPr>
              <a:t>Animal</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4EC9B0"/>
                </a:solidFill>
                <a:latin typeface="Consolas"/>
              </a:rPr>
              <a:t>Cat</a:t>
            </a:r>
            <a:r>
              <a:rPr lang="en-US" sz="620" b="0">
                <a:solidFill>
                  <a:srgbClr val="94A3B8"/>
                </a:solidFill>
                <a:latin typeface="Consolas"/>
              </a:rPr>
              <a:t>(</a:t>
            </a:r>
            <a:r>
              <a:rPr lang="en-US" sz="620" b="0">
                <a:solidFill>
                  <a:srgbClr val="4EC9B0"/>
                </a:solidFill>
                <a:latin typeface="Consolas"/>
              </a:rPr>
              <a:t>String</a:t>
            </a:r>
            <a:r>
              <a:rPr lang="en-US" sz="620" b="0">
                <a:solidFill>
                  <a:srgbClr val="E2E8F0"/>
                </a:solidFill>
                <a:latin typeface="Consolas"/>
              </a:rPr>
              <a:t> name</a:t>
            </a:r>
            <a:r>
              <a:rPr lang="en-US" sz="620" b="0">
                <a:solidFill>
                  <a:srgbClr val="94A3B8"/>
                </a:solidFill>
                <a:latin typeface="Consolas"/>
              </a:rPr>
              <a:t>,</a:t>
            </a:r>
            <a:r>
              <a:rPr lang="en-US" sz="620" b="0">
                <a:solidFill>
                  <a:srgbClr val="E2E8F0"/>
                </a:solidFill>
                <a:latin typeface="Consolas"/>
              </a:rPr>
              <a:t> </a:t>
            </a:r>
            <a:r>
              <a:rPr lang="en-US" sz="620" b="0">
                <a:solidFill>
                  <a:srgbClr val="60A5FA"/>
                </a:solidFill>
                <a:latin typeface="Consolas"/>
              </a:rPr>
              <a:t>int</a:t>
            </a:r>
            <a:r>
              <a:rPr lang="en-US" sz="620" b="0">
                <a:solidFill>
                  <a:srgbClr val="E2E8F0"/>
                </a:solidFill>
                <a:latin typeface="Consolas"/>
              </a:rPr>
              <a:t> age</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60A5FA"/>
                </a:solidFill>
                <a:latin typeface="Consolas"/>
              </a:rPr>
              <a:t>super</a:t>
            </a:r>
            <a:r>
              <a:rPr lang="en-US" sz="620" b="0">
                <a:solidFill>
                  <a:srgbClr val="94A3B8"/>
                </a:solidFill>
                <a:latin typeface="Consolas"/>
              </a:rPr>
              <a:t>(</a:t>
            </a:r>
            <a:r>
              <a:rPr lang="en-US" sz="620" b="0">
                <a:solidFill>
                  <a:srgbClr val="E2E8F0"/>
                </a:solidFill>
                <a:latin typeface="Consolas"/>
              </a:rPr>
              <a:t>name</a:t>
            </a:r>
            <a:r>
              <a:rPr lang="en-US" sz="620" b="0">
                <a:solidFill>
                  <a:srgbClr val="94A3B8"/>
                </a:solidFill>
                <a:latin typeface="Consolas"/>
              </a:rPr>
              <a:t>,</a:t>
            </a:r>
            <a:r>
              <a:rPr lang="en-US" sz="620" b="0">
                <a:solidFill>
                  <a:srgbClr val="E2E8F0"/>
                </a:solidFill>
                <a:latin typeface="Consolas"/>
              </a:rPr>
              <a:t> age</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endParaRPr lang="en-US" sz="372"/>
          </a:p>
          <a:p>
            <a:pPr marL="0" indent="0">
              <a:spcAft>
                <a:spcPts val="10"/>
              </a:spcAft>
              <a:buNone/>
            </a:pPr>
            <a:r>
              <a:rPr lang="en-US" sz="620" b="0">
                <a:solidFill>
                  <a:srgbClr val="E2E8F0"/>
                </a:solidFill>
                <a:latin typeface="Consolas"/>
              </a:rPr>
              <a:t>    </a:t>
            </a:r>
            <a:r>
              <a:rPr lang="en-US" sz="620" b="0">
                <a:solidFill>
                  <a:srgbClr val="C586C0"/>
                </a:solidFill>
                <a:latin typeface="Consolas"/>
              </a:rPr>
              <a:t>@Override</a:t>
            </a:r>
          </a:p>
          <a:p>
            <a:pPr marL="0" indent="0">
              <a:spcAft>
                <a:spcPts val="10"/>
              </a:spcAft>
              <a:buNone/>
            </a:pPr>
            <a:r>
              <a:rPr lang="en-US" sz="620" b="0">
                <a:solidFill>
                  <a:srgbClr val="E2E8F0"/>
                </a:solidFill>
                <a:latin typeface="Consolas"/>
              </a:rPr>
              <a:t>    </a:t>
            </a:r>
            <a:r>
              <a:rPr lang="en-US" sz="620" b="0">
                <a:solidFill>
                  <a:srgbClr val="60A5FA"/>
                </a:solidFill>
                <a:latin typeface="Consolas"/>
              </a:rPr>
              <a:t>public</a:t>
            </a:r>
            <a:r>
              <a:rPr lang="en-US" sz="620" b="0">
                <a:solidFill>
                  <a:srgbClr val="E2E8F0"/>
                </a:solidFill>
                <a:latin typeface="Consolas"/>
              </a:rPr>
              <a:t> </a:t>
            </a:r>
            <a:r>
              <a:rPr lang="en-US" sz="620" b="0">
                <a:solidFill>
                  <a:srgbClr val="60A5FA"/>
                </a:solidFill>
                <a:latin typeface="Consolas"/>
              </a:rPr>
              <a:t>void</a:t>
            </a:r>
            <a:r>
              <a:rPr lang="en-US" sz="620" b="0">
                <a:solidFill>
                  <a:srgbClr val="E2E8F0"/>
                </a:solidFill>
                <a:latin typeface="Consolas"/>
              </a:rPr>
              <a:t> </a:t>
            </a:r>
            <a:r>
              <a:rPr lang="en-US" sz="620" b="0">
                <a:solidFill>
                  <a:srgbClr val="DCDCAA"/>
                </a:solidFill>
                <a:latin typeface="Consolas"/>
              </a:rPr>
              <a:t>speak</a:t>
            </a:r>
            <a:r>
              <a:rPr lang="en-US" sz="620" b="0">
                <a:solidFill>
                  <a:srgbClr val="94A3B8"/>
                </a:solidFill>
                <a:latin typeface="Consolas"/>
              </a:rPr>
              <a:t>()</a:t>
            </a: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4EC9B0"/>
                </a:solidFill>
                <a:latin typeface="Consolas"/>
              </a:rPr>
              <a:t>System</a:t>
            </a:r>
            <a:r>
              <a:rPr lang="en-US" sz="620" b="0">
                <a:solidFill>
                  <a:srgbClr val="94A3B8"/>
                </a:solidFill>
                <a:latin typeface="Consolas"/>
              </a:rPr>
              <a:t>.</a:t>
            </a:r>
            <a:r>
              <a:rPr lang="en-US" sz="620" b="0">
                <a:solidFill>
                  <a:srgbClr val="E2E8F0"/>
                </a:solidFill>
                <a:latin typeface="Consolas"/>
              </a:rPr>
              <a:t>out</a:t>
            </a:r>
            <a:r>
              <a:rPr lang="en-US" sz="620" b="0">
                <a:solidFill>
                  <a:srgbClr val="94A3B8"/>
                </a:solidFill>
                <a:latin typeface="Consolas"/>
              </a:rPr>
              <a:t>.</a:t>
            </a:r>
            <a:r>
              <a:rPr lang="en-US" sz="620" b="0">
                <a:solidFill>
                  <a:srgbClr val="DCDCAA"/>
                </a:solidFill>
                <a:latin typeface="Consolas"/>
              </a:rPr>
              <a:t>println</a:t>
            </a:r>
            <a:r>
              <a:rPr lang="en-US" sz="620" b="0">
                <a:solidFill>
                  <a:srgbClr val="94A3B8"/>
                </a:solidFill>
                <a:latin typeface="Consolas"/>
              </a:rPr>
              <a:t>(</a:t>
            </a:r>
            <a:r>
              <a:rPr lang="en-US" sz="620" b="0">
                <a:solidFill>
                  <a:srgbClr val="CE9178"/>
                </a:solidFill>
                <a:latin typeface="Consolas"/>
              </a:rPr>
              <a:t>"Meow!"</a:t>
            </a:r>
            <a:r>
              <a:rPr lang="en-US" sz="620" b="0">
                <a:solidFill>
                  <a:srgbClr val="94A3B8"/>
                </a:solidFill>
                <a:latin typeface="Consolas"/>
              </a:rPr>
              <a:t>);</a:t>
            </a:r>
          </a:p>
          <a:p>
            <a:pPr marL="0" indent="0">
              <a:spcAft>
                <a:spcPts val="10"/>
              </a:spcAft>
              <a:buNone/>
            </a:pPr>
            <a:r>
              <a:rPr lang="en-US" sz="620" b="0">
                <a:solidFill>
                  <a:srgbClr val="E2E8F0"/>
                </a:solidFill>
                <a:latin typeface="Consolas"/>
              </a:rPr>
              <a:t>    </a:t>
            </a:r>
            <a:r>
              <a:rPr lang="en-US" sz="620" b="0">
                <a:solidFill>
                  <a:srgbClr val="94A3B8"/>
                </a:solidFill>
                <a:latin typeface="Consolas"/>
              </a:rPr>
              <a:t>}</a:t>
            </a:r>
          </a:p>
          <a:p>
            <a:pPr marL="0" indent="0">
              <a:spcAft>
                <a:spcPts val="10"/>
              </a:spcAft>
              <a:buNone/>
            </a:pPr>
            <a:r>
              <a:rPr lang="en-US" sz="620" b="0">
                <a:solidFill>
                  <a:srgbClr val="94A3B8"/>
                </a:solidFill>
                <a:latin typeface="Consolas"/>
              </a:rPr>
              <a:t>}</a:t>
            </a:r>
          </a:p>
        </p:txBody>
      </p:sp>
      <p:sp>
        <p:nvSpPr>
          <p:cNvPr id="111" name="caption"/>
          <p:cNvSpPr txBox="1">
            <a:spLocks/>
          </p:cNvSpPr>
          <p:nvPr/>
        </p:nvSpPr>
        <p:spPr>
          <a:xfrm>
            <a:off x="311700" y="3520000"/>
            <a:ext cx="2746866" cy="360000"/>
          </a:xfrm>
          <a:prstGeom prst="rect">
            <a:avLst/>
          </a:prstGeom>
          <a:noFill/>
        </p:spPr>
        <p:txBody>
          <a:bodyPr wrap="square" lIns="0" tIns="0" rIns="0" bIns="0" anchor="t">
            <a:noAutofit/>
          </a:bodyPr>
          <a:lstStyle/>
          <a:p>
            <a:pPr marL="0" indent="0">
              <a:spcAft>
                <a:spcPts val="0"/>
              </a:spcAft>
              <a:buNone/>
            </a:pPr>
            <a:r>
              <a:rPr lang="en-US" sz="830" b="0" i="1">
                <a:solidFill>
                  <a:srgbClr val="64748B"/>
                </a:solidFill>
                <a:latin typeface="Roboto"/>
              </a:rPr>
              <a:t>Animal provides a default — subclasses will replace it with their own version.</a:t>
            </a:r>
          </a:p>
        </p:txBody>
      </p:sp>
      <p:sp>
        <p:nvSpPr>
          <p:cNvPr id="112" name="calloutbg"/>
          <p:cNvSpPr>
            <a:spLocks/>
          </p:cNvSpPr>
          <p:nvPr/>
        </p:nvSpPr>
        <p:spPr>
          <a:xfrm>
            <a:off x="311700" y="3880000"/>
            <a:ext cx="8520600" cy="520000"/>
          </a:xfrm>
          <a:prstGeom prst="roundRect">
            <a:avLst>
              <a:gd name="adj" fmla="val 20000"/>
            </a:avLst>
          </a:prstGeom>
          <a:solidFill>
            <a:srgbClr val="2563EB">
              <a:alpha val="12000"/>
            </a:srgbClr>
          </a:solidFill>
          <a:ln>
            <a:noFill/>
          </a:ln>
        </p:spPr>
        <p:txBody>
          <a:bodyPr/>
          <a:lstStyle/>
          <a:p>
            <a:endParaRPr lang="en-US"/>
          </a:p>
        </p:txBody>
      </p:sp>
      <p:sp>
        <p:nvSpPr>
          <p:cNvPr id="113" name="callout"/>
          <p:cNvSpPr txBox="1"/>
          <p:nvPr/>
        </p:nvSpPr>
        <p:spPr>
          <a:xfrm>
            <a:off x="451700" y="3880000"/>
            <a:ext cx="8240600" cy="520000"/>
          </a:xfrm>
          <a:prstGeom prst="rect">
            <a:avLst/>
          </a:prstGeom>
          <a:noFill/>
        </p:spPr>
        <p:txBody>
          <a:bodyPr wrap="square" lIns="0" tIns="0" rIns="0" bIns="0" anchor="ctr">
            <a:noAutofit/>
          </a:bodyPr>
          <a:lstStyle/>
          <a:p>
            <a:pPr marL="0" indent="0" algn="ctr">
              <a:spcAft>
                <a:spcPts val="0"/>
              </a:spcAft>
              <a:buNone/>
            </a:pPr>
            <a:r>
              <a:rPr lang="en-US" sz="1000" b="0">
                <a:solidFill>
                  <a:srgbClr val="334155"/>
                </a:solidFill>
                <a:latin typeface="Roboto"/>
              </a:rPr>
              <a:t>Now when we call </a:t>
            </a:r>
            <a:r>
              <a:rPr lang="en-US" sz="1000" b="1">
                <a:solidFill>
                  <a:srgbClr val="2563EB"/>
                </a:solidFill>
                <a:latin typeface="Consolas"/>
              </a:rPr>
              <a:t>speak()</a:t>
            </a:r>
            <a:r>
              <a:rPr lang="en-US" sz="1000" b="0">
                <a:solidFill>
                  <a:srgbClr val="334155"/>
                </a:solidFill>
                <a:latin typeface="Roboto"/>
              </a:rPr>
              <a:t> on any </a:t>
            </a:r>
            <a:r>
              <a:rPr lang="en-US" sz="1000" b="1">
                <a:solidFill>
                  <a:srgbClr val="2563EB"/>
                </a:solidFill>
                <a:latin typeface="Consolas"/>
              </a:rPr>
              <a:t>Animal</a:t>
            </a:r>
            <a:r>
              <a:rPr lang="en-US" sz="1000" b="0">
                <a:solidFill>
                  <a:srgbClr val="334155"/>
                </a:solidFill>
                <a:latin typeface="Roboto"/>
              </a:rPr>
              <a:t> reference, Java runs the correct version for whatever object is actually stored there. </a:t>
            </a:r>
            <a:r>
              <a:rPr lang="en-US" sz="1000" b="1">
                <a:solidFill>
                  <a:srgbClr val="7C3AED"/>
                </a:solidFill>
                <a:latin typeface="Roboto"/>
              </a:rPr>
              <a:t>That is the next slide.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instanceof Operator</a:t>
            </a:r>
          </a:p>
        </p:txBody>
      </p:sp>
      <p:sp>
        <p:nvSpPr>
          <p:cNvPr id="10" name="Def"/>
          <p:cNvSpPr txBox="1"/>
          <p:nvPr/>
        </p:nvSpPr>
        <p:spPr>
          <a:xfrm>
            <a:off x="311700" y="1015000"/>
            <a:ext cx="8520600" cy="420000"/>
          </a:xfrm>
          <a:prstGeom prst="rect">
            <a:avLst/>
          </a:prstGeom>
          <a:noFill/>
        </p:spPr>
        <p:txBody>
          <a:bodyPr wrap="square" lIns="0" tIns="0" rIns="0" bIns="0" anchor="t">
            <a:noAutofit/>
          </a:bodyPr>
          <a:lstStyle/>
          <a:p>
            <a:pPr marL="0" indent="0">
              <a:spcAft>
                <a:spcPts val="0"/>
              </a:spcAft>
              <a:buNone/>
            </a:pPr>
            <a:r>
              <a:rPr lang="en-US" sz="1300" b="1">
                <a:solidFill>
                  <a:srgbClr val="2563EB"/>
                </a:solidFill>
                <a:latin typeface="Consolas"/>
              </a:rPr>
              <a:t>instanceof</a:t>
            </a:r>
            <a:r>
              <a:rPr lang="en-US" sz="1300" b="0">
                <a:solidFill>
                  <a:srgbClr val="334155"/>
                </a:solidFill>
                <a:latin typeface="Roboto"/>
              </a:rPr>
              <a:t> checks whether an object is an instance of a </a:t>
            </a:r>
            <a:r>
              <a:rPr lang="en-US" sz="1300" b="1">
                <a:solidFill>
                  <a:srgbClr val="334155"/>
                </a:solidFill>
                <a:latin typeface="Roboto"/>
              </a:rPr>
              <a:t>specific class or any of its parents</a:t>
            </a:r>
            <a:r>
              <a:rPr lang="en-US" sz="1300" b="0">
                <a:solidFill>
                  <a:srgbClr val="334155"/>
                </a:solidFill>
                <a:latin typeface="Roboto"/>
              </a:rPr>
              <a:t> at runtime.</a:t>
            </a:r>
          </a:p>
        </p:txBody>
      </p:sp>
      <p:sp>
        <p:nvSpPr>
          <p:cNvPr id="11" name="clab"/>
          <p:cNvSpPr txBox="1"/>
          <p:nvPr/>
        </p:nvSpPr>
        <p:spPr>
          <a:xfrm>
            <a:off x="1772000" y="1470000"/>
            <a:ext cx="5600000" cy="210000"/>
          </a:xfrm>
          <a:prstGeom prst="rect">
            <a:avLst/>
          </a:prstGeom>
          <a:noFill/>
        </p:spPr>
        <p:txBody>
          <a:bodyPr wrap="square" lIns="0" tIns="0" rIns="0" bIns="0" anchor="t">
            <a:noAutofit/>
          </a:bodyPr>
          <a:lstStyle/>
          <a:p>
            <a:pPr marL="0" indent="0" algn="ctr">
              <a:spcAft>
                <a:spcPts val="0"/>
              </a:spcAft>
              <a:buNone/>
            </a:pPr>
            <a:r>
              <a:rPr lang="en-US" sz="850" b="1">
                <a:solidFill>
                  <a:srgbClr val="7C3AED"/>
                </a:solidFill>
                <a:latin typeface="Roboto"/>
              </a:rPr>
              <a:t>LIVE TYPE CHECKS</a:t>
            </a:r>
          </a:p>
        </p:txBody>
      </p:sp>
      <p:sp>
        <p:nvSpPr>
          <p:cNvPr id="12" name="cpanel"/>
          <p:cNvSpPr/>
          <p:nvPr/>
        </p:nvSpPr>
        <p:spPr>
          <a:xfrm>
            <a:off x="1772000" y="1700000"/>
            <a:ext cx="5600000" cy="1230000"/>
          </a:xfrm>
          <a:prstGeom prst="roundRect">
            <a:avLst>
              <a:gd name="adj" fmla="val 5000"/>
            </a:avLst>
          </a:prstGeom>
          <a:solidFill>
            <a:srgbClr val="1E293B"/>
          </a:solidFill>
          <a:ln w="9525">
            <a:solidFill>
              <a:srgbClr val="334155"/>
            </a:solidFill>
          </a:ln>
        </p:spPr>
        <p:txBody>
          <a:bodyPr/>
          <a:lstStyle/>
          <a:p>
            <a:endParaRPr/>
          </a:p>
        </p:txBody>
      </p:sp>
      <p:sp>
        <p:nvSpPr>
          <p:cNvPr id="13" name="ccode"/>
          <p:cNvSpPr txBox="1"/>
          <p:nvPr/>
        </p:nvSpPr>
        <p:spPr>
          <a:xfrm>
            <a:off x="1942000" y="1810000"/>
            <a:ext cx="5300000" cy="1040000"/>
          </a:xfrm>
          <a:prstGeom prst="rect">
            <a:avLst/>
          </a:prstGeom>
          <a:noFill/>
        </p:spPr>
        <p:txBody>
          <a:bodyPr wrap="square" lIns="0" tIns="0" rIns="0" bIns="0" anchor="t">
            <a:noAutofit/>
          </a:bodyPr>
          <a:lstStyle/>
          <a:p>
            <a:pPr marL="0" indent="0">
              <a:spcAft>
                <a:spcPts val="20"/>
              </a:spcAft>
              <a:buNone/>
            </a:pPr>
            <a:r>
              <a:rPr lang="en-US" sz="880" b="0">
                <a:solidFill>
                  <a:srgbClr val="4EC9B0"/>
                </a:solidFill>
                <a:latin typeface="Consolas"/>
              </a:rPr>
              <a:t>Animal </a:t>
            </a:r>
            <a:r>
              <a:rPr lang="en-US" sz="880" b="0">
                <a:solidFill>
                  <a:srgbClr val="E2E8F0"/>
                </a:solidFill>
                <a:latin typeface="Consolas"/>
              </a:rPr>
              <a:t>a1 </a:t>
            </a:r>
            <a:r>
              <a:rPr lang="en-US" sz="880" b="0">
                <a:solidFill>
                  <a:srgbClr val="94A3B8"/>
                </a:solidFill>
                <a:latin typeface="Consolas"/>
              </a:rPr>
              <a:t>= </a:t>
            </a:r>
            <a:r>
              <a:rPr lang="en-US" sz="880" b="0">
                <a:solidFill>
                  <a:srgbClr val="60A5FA"/>
                </a:solidFill>
                <a:latin typeface="Consolas"/>
              </a:rPr>
              <a:t>new </a:t>
            </a:r>
            <a:r>
              <a:rPr lang="en-US" sz="880" b="0">
                <a:solidFill>
                  <a:srgbClr val="4EC9B0"/>
                </a:solidFill>
                <a:latin typeface="Consolas"/>
              </a:rPr>
              <a:t>Dog</a:t>
            </a:r>
            <a:r>
              <a:rPr lang="en-US" sz="880" b="0">
                <a:solidFill>
                  <a:srgbClr val="94A3B8"/>
                </a:solidFill>
                <a:latin typeface="Consolas"/>
              </a:rPr>
              <a:t>(</a:t>
            </a:r>
            <a:r>
              <a:rPr lang="en-US" sz="880" b="0">
                <a:solidFill>
                  <a:srgbClr val="CE9178"/>
                </a:solidFill>
                <a:latin typeface="Consolas"/>
              </a:rPr>
              <a:t>"Rex"</a:t>
            </a:r>
            <a:r>
              <a:rPr lang="en-US" sz="880" b="0">
                <a:solidFill>
                  <a:srgbClr val="94A3B8"/>
                </a:solidFill>
                <a:latin typeface="Consolas"/>
              </a:rPr>
              <a:t>);</a:t>
            </a:r>
          </a:p>
          <a:p>
            <a:pPr marL="0" indent="0">
              <a:spcAft>
                <a:spcPts val="20"/>
              </a:spcAft>
              <a:buNone/>
            </a:pPr>
            <a:r>
              <a:rPr lang="en-US" sz="500" b="0">
                <a:solidFill>
                  <a:srgbClr val="E2E8F0"/>
                </a:solidFill>
                <a:latin typeface="Consolas"/>
              </a:rPr>
              <a:t> </a:t>
            </a:r>
          </a:p>
          <a:p>
            <a:pPr marL="0" indent="0">
              <a:spcAft>
                <a:spcPts val="20"/>
              </a:spcAft>
              <a:buNone/>
            </a:pPr>
            <a:r>
              <a:rPr lang="en-US" sz="880" b="0">
                <a:solidFill>
                  <a:srgbClr val="E2E8F0"/>
                </a:solidFill>
                <a:latin typeface="Consolas"/>
              </a:rPr>
              <a:t>a1 </a:t>
            </a:r>
            <a:r>
              <a:rPr lang="en-US" sz="880" b="0">
                <a:solidFill>
                  <a:srgbClr val="60A5FA"/>
                </a:solidFill>
                <a:latin typeface="Consolas"/>
              </a:rPr>
              <a:t>instanceof </a:t>
            </a:r>
            <a:r>
              <a:rPr lang="en-US" sz="880" b="0">
                <a:solidFill>
                  <a:srgbClr val="4EC9B0"/>
                </a:solidFill>
                <a:latin typeface="Consolas"/>
              </a:rPr>
              <a:t>Dog</a:t>
            </a:r>
            <a:r>
              <a:rPr lang="en-US" sz="880" b="0">
                <a:solidFill>
                  <a:srgbClr val="E2E8F0"/>
                </a:solidFill>
                <a:latin typeface="Consolas"/>
              </a:rPr>
              <a:t>      </a:t>
            </a:r>
            <a:r>
              <a:rPr lang="en-US" sz="880" b="0" i="1">
                <a:solidFill>
                  <a:srgbClr val="4ADE80"/>
                </a:solidFill>
                <a:latin typeface="Consolas"/>
              </a:rPr>
              <a:t>// true</a:t>
            </a:r>
          </a:p>
          <a:p>
            <a:pPr marL="0" indent="0">
              <a:spcAft>
                <a:spcPts val="20"/>
              </a:spcAft>
              <a:buNone/>
            </a:pPr>
            <a:r>
              <a:rPr lang="en-US" sz="880" b="0">
                <a:solidFill>
                  <a:srgbClr val="E2E8F0"/>
                </a:solidFill>
                <a:latin typeface="Consolas"/>
              </a:rPr>
              <a:t>a1 </a:t>
            </a:r>
            <a:r>
              <a:rPr lang="en-US" sz="880" b="0">
                <a:solidFill>
                  <a:srgbClr val="60A5FA"/>
                </a:solidFill>
                <a:latin typeface="Consolas"/>
              </a:rPr>
              <a:t>instanceof </a:t>
            </a:r>
            <a:r>
              <a:rPr lang="en-US" sz="880" b="0">
                <a:solidFill>
                  <a:srgbClr val="4EC9B0"/>
                </a:solidFill>
                <a:latin typeface="Consolas"/>
              </a:rPr>
              <a:t>Animal</a:t>
            </a:r>
            <a:r>
              <a:rPr lang="en-US" sz="880" b="0">
                <a:solidFill>
                  <a:srgbClr val="E2E8F0"/>
                </a:solidFill>
                <a:latin typeface="Consolas"/>
              </a:rPr>
              <a:t>   </a:t>
            </a:r>
            <a:r>
              <a:rPr lang="en-US" sz="880" b="0" i="1">
                <a:solidFill>
                  <a:srgbClr val="4ADE80"/>
                </a:solidFill>
                <a:latin typeface="Consolas"/>
              </a:rPr>
              <a:t>// true</a:t>
            </a:r>
          </a:p>
          <a:p>
            <a:pPr marL="0" indent="0">
              <a:spcAft>
                <a:spcPts val="0"/>
              </a:spcAft>
              <a:buNone/>
            </a:pPr>
            <a:r>
              <a:rPr lang="en-US" sz="880" b="0">
                <a:solidFill>
                  <a:srgbClr val="E2E8F0"/>
                </a:solidFill>
                <a:latin typeface="Consolas"/>
              </a:rPr>
              <a:t>a1 </a:t>
            </a:r>
            <a:r>
              <a:rPr lang="en-US" sz="880" b="0">
                <a:solidFill>
                  <a:srgbClr val="60A5FA"/>
                </a:solidFill>
                <a:latin typeface="Consolas"/>
              </a:rPr>
              <a:t>instanceof </a:t>
            </a:r>
            <a:r>
              <a:rPr lang="en-US" sz="880" b="0">
                <a:solidFill>
                  <a:srgbClr val="4EC9B0"/>
                </a:solidFill>
                <a:latin typeface="Consolas"/>
              </a:rPr>
              <a:t>Cat</a:t>
            </a:r>
            <a:r>
              <a:rPr lang="en-US" sz="880" b="0">
                <a:solidFill>
                  <a:srgbClr val="E2E8F0"/>
                </a:solidFill>
                <a:latin typeface="Consolas"/>
              </a:rPr>
              <a:t>      </a:t>
            </a:r>
            <a:r>
              <a:rPr lang="en-US" sz="880" b="0" i="1">
                <a:solidFill>
                  <a:srgbClr val="F87171"/>
                </a:solidFill>
                <a:latin typeface="Consolas"/>
              </a:rPr>
              <a:t>// false</a:t>
            </a:r>
          </a:p>
        </p:txBody>
      </p:sp>
      <p:sp>
        <p:nvSpPr>
          <p:cNvPr id="20" name="wlab"/>
          <p:cNvSpPr txBox="1"/>
          <p:nvPr/>
        </p:nvSpPr>
        <p:spPr>
          <a:xfrm>
            <a:off x="311700" y="3060000"/>
            <a:ext cx="4160000" cy="210000"/>
          </a:xfrm>
          <a:prstGeom prst="rect">
            <a:avLst/>
          </a:prstGeom>
          <a:noFill/>
        </p:spPr>
        <p:txBody>
          <a:bodyPr wrap="square" lIns="0" tIns="0" rIns="0" bIns="0" anchor="t">
            <a:noAutofit/>
          </a:bodyPr>
          <a:lstStyle/>
          <a:p>
            <a:pPr marL="0" indent="0">
              <a:spcAft>
                <a:spcPts val="0"/>
              </a:spcAft>
              <a:buNone/>
            </a:pPr>
            <a:r>
              <a:rPr lang="en-US" sz="850" b="1">
                <a:solidFill>
                  <a:srgbClr val="2563EB"/>
                </a:solidFill>
                <a:latin typeface="Roboto"/>
              </a:rPr>
              <a:t>WHY IT MATTERS</a:t>
            </a:r>
          </a:p>
        </p:txBody>
      </p:sp>
      <p:sp>
        <p:nvSpPr>
          <p:cNvPr id="21" name="wcard"/>
          <p:cNvSpPr/>
          <p:nvPr/>
        </p:nvSpPr>
        <p:spPr>
          <a:xfrm>
            <a:off x="311700" y="3310000"/>
            <a:ext cx="4160000" cy="8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2" name="wtext"/>
          <p:cNvSpPr txBox="1"/>
          <p:nvPr/>
        </p:nvSpPr>
        <p:spPr>
          <a:xfrm>
            <a:off x="481700" y="3430000"/>
            <a:ext cx="3840000" cy="640000"/>
          </a:xfrm>
          <a:prstGeom prst="rect">
            <a:avLst/>
          </a:prstGeom>
          <a:noFill/>
        </p:spPr>
        <p:txBody>
          <a:bodyPr wrap="square" lIns="0" tIns="0" rIns="0" bIns="0" anchor="t">
            <a:noAutofit/>
          </a:bodyPr>
          <a:lstStyle/>
          <a:p>
            <a:pPr marL="0" indent="0">
              <a:spcAft>
                <a:spcPts val="0"/>
              </a:spcAft>
              <a:buNone/>
            </a:pPr>
            <a:r>
              <a:rPr lang="en-US" sz="900" b="0">
                <a:solidFill>
                  <a:srgbClr val="334155"/>
                </a:solidFill>
                <a:latin typeface="Roboto"/>
              </a:rPr>
              <a:t>Polymorphism lets you hold </a:t>
            </a:r>
            <a:r>
              <a:rPr lang="en-US" sz="900" b="1">
                <a:solidFill>
                  <a:srgbClr val="334155"/>
                </a:solidFill>
                <a:latin typeface="Roboto"/>
              </a:rPr>
              <a:t>mixed types</a:t>
            </a:r>
            <a:r>
              <a:rPr lang="en-US" sz="900" b="0">
                <a:solidFill>
                  <a:srgbClr val="334155"/>
                </a:solidFill>
                <a:latin typeface="Roboto"/>
              </a:rPr>
              <a:t> in a single </a:t>
            </a:r>
            <a:r>
              <a:rPr lang="en-US" sz="900" b="1">
                <a:solidFill>
                  <a:srgbClr val="334155"/>
                </a:solidFill>
                <a:latin typeface="Consolas"/>
              </a:rPr>
              <a:t>Animal</a:t>
            </a:r>
            <a:r>
              <a:rPr lang="en-US" sz="900" b="0">
                <a:solidFill>
                  <a:srgbClr val="334155"/>
                </a:solidFill>
                <a:latin typeface="Roboto"/>
              </a:rPr>
              <a:t> reference — but </a:t>
            </a:r>
            <a:r>
              <a:rPr lang="en-US" sz="900" b="1">
                <a:solidFill>
                  <a:srgbClr val="2563EB"/>
                </a:solidFill>
                <a:latin typeface="Consolas"/>
              </a:rPr>
              <a:t>instanceof</a:t>
            </a:r>
            <a:r>
              <a:rPr lang="en-US" sz="900" b="0">
                <a:solidFill>
                  <a:srgbClr val="334155"/>
                </a:solidFill>
                <a:latin typeface="Roboto"/>
              </a:rPr>
              <a:t> lets you safely identify the </a:t>
            </a:r>
            <a:r>
              <a:rPr lang="en-US" sz="900" b="1">
                <a:solidFill>
                  <a:srgbClr val="334155"/>
                </a:solidFill>
                <a:latin typeface="Roboto"/>
              </a:rPr>
              <a:t>real type</a:t>
            </a:r>
            <a:r>
              <a:rPr lang="en-US" sz="900" b="0">
                <a:solidFill>
                  <a:srgbClr val="334155"/>
                </a:solidFill>
                <a:latin typeface="Roboto"/>
              </a:rPr>
              <a:t> before you cast.</a:t>
            </a:r>
          </a:p>
        </p:txBody>
      </p:sp>
      <p:sp>
        <p:nvSpPr>
          <p:cNvPr id="30" name="slab"/>
          <p:cNvSpPr txBox="1"/>
          <p:nvPr/>
        </p:nvSpPr>
        <p:spPr>
          <a:xfrm>
            <a:off x="4671700" y="3060000"/>
            <a:ext cx="4160000" cy="210000"/>
          </a:xfrm>
          <a:prstGeom prst="rect">
            <a:avLst/>
          </a:prstGeom>
          <a:noFill/>
        </p:spPr>
        <p:txBody>
          <a:bodyPr wrap="square" lIns="0" tIns="0" rIns="0" bIns="0" anchor="t">
            <a:noAutofit/>
          </a:bodyPr>
          <a:lstStyle/>
          <a:p>
            <a:pPr marL="0" indent="0">
              <a:spcAft>
                <a:spcPts val="0"/>
              </a:spcAft>
              <a:buNone/>
            </a:pPr>
            <a:r>
              <a:rPr lang="en-US" sz="850" b="1">
                <a:solidFill>
                  <a:srgbClr val="22C55E"/>
                </a:solidFill>
                <a:latin typeface="Roboto"/>
              </a:rPr>
              <a:t>SAFE CASTING PATTERN</a:t>
            </a:r>
          </a:p>
        </p:txBody>
      </p:sp>
      <p:sp>
        <p:nvSpPr>
          <p:cNvPr id="31" name="scode"/>
          <p:cNvSpPr/>
          <p:nvPr/>
        </p:nvSpPr>
        <p:spPr>
          <a:xfrm>
            <a:off x="4671700" y="3310000"/>
            <a:ext cx="4160000" cy="540000"/>
          </a:xfrm>
          <a:prstGeom prst="roundRect">
            <a:avLst>
              <a:gd name="adj" fmla="val 5000"/>
            </a:avLst>
          </a:prstGeom>
          <a:solidFill>
            <a:srgbClr val="1E293B"/>
          </a:solidFill>
          <a:ln w="9525">
            <a:solidFill>
              <a:srgbClr val="334155"/>
            </a:solidFill>
          </a:ln>
        </p:spPr>
        <p:txBody>
          <a:bodyPr/>
          <a:lstStyle/>
          <a:p>
            <a:endParaRPr/>
          </a:p>
        </p:txBody>
      </p:sp>
      <p:sp>
        <p:nvSpPr>
          <p:cNvPr id="32" name="scodet"/>
          <p:cNvSpPr txBox="1"/>
          <p:nvPr/>
        </p:nvSpPr>
        <p:spPr>
          <a:xfrm>
            <a:off x="4841700" y="3380000"/>
            <a:ext cx="3860000" cy="420000"/>
          </a:xfrm>
          <a:prstGeom prst="rect">
            <a:avLst/>
          </a:prstGeom>
          <a:noFill/>
        </p:spPr>
        <p:txBody>
          <a:bodyPr wrap="square" lIns="0" tIns="0" rIns="0" bIns="0" anchor="t">
            <a:noAutofit/>
          </a:bodyPr>
          <a:lstStyle/>
          <a:p>
            <a:pPr marL="0" indent="0">
              <a:spcAft>
                <a:spcPts val="20"/>
              </a:spcAft>
              <a:buNone/>
            </a:pPr>
            <a:r>
              <a:rPr lang="en-US" sz="850" b="0">
                <a:solidFill>
                  <a:srgbClr val="60A5FA"/>
                </a:solidFill>
                <a:latin typeface="Consolas"/>
              </a:rPr>
              <a:t>if </a:t>
            </a:r>
            <a:r>
              <a:rPr lang="en-US" sz="850" b="0">
                <a:solidFill>
                  <a:srgbClr val="94A3B8"/>
                </a:solidFill>
                <a:latin typeface="Consolas"/>
              </a:rPr>
              <a:t>(</a:t>
            </a:r>
            <a:r>
              <a:rPr lang="en-US" sz="850" b="0">
                <a:solidFill>
                  <a:srgbClr val="E2E8F0"/>
                </a:solidFill>
                <a:latin typeface="Consolas"/>
              </a:rPr>
              <a:t>a1 </a:t>
            </a:r>
            <a:r>
              <a:rPr lang="en-US" sz="850" b="0">
                <a:solidFill>
                  <a:srgbClr val="60A5FA"/>
                </a:solidFill>
                <a:latin typeface="Consolas"/>
              </a:rPr>
              <a:t>instanceof </a:t>
            </a:r>
            <a:r>
              <a:rPr lang="en-US" sz="850" b="0">
                <a:solidFill>
                  <a:srgbClr val="4EC9B0"/>
                </a:solidFill>
                <a:latin typeface="Consolas"/>
              </a:rPr>
              <a:t>Dog</a:t>
            </a:r>
            <a:r>
              <a:rPr lang="en-US" sz="850" b="0">
                <a:solidFill>
                  <a:srgbClr val="94A3B8"/>
                </a:solidFill>
                <a:latin typeface="Consolas"/>
              </a:rPr>
              <a:t>) {</a:t>
            </a:r>
          </a:p>
          <a:p>
            <a:pPr marL="0" indent="0">
              <a:spcAft>
                <a:spcPts val="20"/>
              </a:spcAft>
              <a:buNone/>
            </a:pPr>
            <a:r>
              <a:rPr lang="en-US" sz="850" b="0">
                <a:solidFill>
                  <a:srgbClr val="E2E8F0"/>
                </a:solidFill>
                <a:latin typeface="Consolas"/>
              </a:rPr>
              <a:t>    </a:t>
            </a:r>
            <a:r>
              <a:rPr lang="en-US" sz="850" b="0">
                <a:solidFill>
                  <a:srgbClr val="4EC9B0"/>
                </a:solidFill>
                <a:latin typeface="Consolas"/>
              </a:rPr>
              <a:t>Dog </a:t>
            </a:r>
            <a:r>
              <a:rPr lang="en-US" sz="850" b="0">
                <a:solidFill>
                  <a:srgbClr val="E2E8F0"/>
                </a:solidFill>
                <a:latin typeface="Consolas"/>
              </a:rPr>
              <a:t>d </a:t>
            </a:r>
            <a:r>
              <a:rPr lang="en-US" sz="850" b="0">
                <a:solidFill>
                  <a:srgbClr val="94A3B8"/>
                </a:solidFill>
                <a:latin typeface="Consolas"/>
              </a:rPr>
              <a:t>= (</a:t>
            </a:r>
            <a:r>
              <a:rPr lang="en-US" sz="850" b="0">
                <a:solidFill>
                  <a:srgbClr val="4EC9B0"/>
                </a:solidFill>
                <a:latin typeface="Consolas"/>
              </a:rPr>
              <a:t>Dog</a:t>
            </a:r>
            <a:r>
              <a:rPr lang="en-US" sz="850" b="0">
                <a:solidFill>
                  <a:srgbClr val="94A3B8"/>
                </a:solidFill>
                <a:latin typeface="Consolas"/>
              </a:rPr>
              <a:t>) </a:t>
            </a:r>
            <a:r>
              <a:rPr lang="en-US" sz="850" b="0">
                <a:solidFill>
                  <a:srgbClr val="E2E8F0"/>
                </a:solidFill>
                <a:latin typeface="Consolas"/>
              </a:rPr>
              <a:t>a1</a:t>
            </a:r>
            <a:r>
              <a:rPr lang="en-US" sz="850" b="0">
                <a:solidFill>
                  <a:srgbClr val="94A3B8"/>
                </a:solidFill>
                <a:latin typeface="Consolas"/>
              </a:rPr>
              <a:t>;</a:t>
            </a:r>
          </a:p>
          <a:p>
            <a:pPr marL="0" indent="0">
              <a:spcAft>
                <a:spcPts val="0"/>
              </a:spcAft>
              <a:buNone/>
            </a:pPr>
            <a:r>
              <a:rPr lang="en-US" sz="850" b="0">
                <a:solidFill>
                  <a:srgbClr val="94A3B8"/>
                </a:solidFill>
                <a:latin typeface="Consolas"/>
              </a:rPr>
              <a:t>}</a:t>
            </a:r>
          </a:p>
        </p:txBody>
      </p:sp>
      <p:sp>
        <p:nvSpPr>
          <p:cNvPr id="33" name="warn"/>
          <p:cNvSpPr/>
          <p:nvPr/>
        </p:nvSpPr>
        <p:spPr>
          <a:xfrm>
            <a:off x="4671700" y="3910000"/>
            <a:ext cx="4160000" cy="290000"/>
          </a:xfrm>
          <a:prstGeom prst="roundRect">
            <a:avLst>
              <a:gd name="adj" fmla="val 16000"/>
            </a:avLst>
          </a:prstGeom>
          <a:solidFill>
            <a:srgbClr val="EF4444">
              <a:alpha val="12000"/>
            </a:srgbClr>
          </a:solidFill>
          <a:ln>
            <a:noFill/>
          </a:ln>
        </p:spPr>
        <p:txBody>
          <a:bodyPr/>
          <a:lstStyle/>
          <a:p>
            <a:endParaRPr/>
          </a:p>
        </p:txBody>
      </p:sp>
      <p:sp>
        <p:nvSpPr>
          <p:cNvPr id="34" name="warnt"/>
          <p:cNvSpPr txBox="1"/>
          <p:nvPr/>
        </p:nvSpPr>
        <p:spPr>
          <a:xfrm>
            <a:off x="4841700" y="3910000"/>
            <a:ext cx="3840000" cy="290000"/>
          </a:xfrm>
          <a:prstGeom prst="rect">
            <a:avLst/>
          </a:prstGeom>
          <a:noFill/>
        </p:spPr>
        <p:txBody>
          <a:bodyPr wrap="square" lIns="0" tIns="0" rIns="0" bIns="0" anchor="ctr">
            <a:noAutofit/>
          </a:bodyPr>
          <a:lstStyle/>
          <a:p>
            <a:pPr marL="0" indent="0">
              <a:spcAft>
                <a:spcPts val="0"/>
              </a:spcAft>
              <a:buNone/>
            </a:pPr>
            <a:r>
              <a:rPr lang="en-US" sz="850" b="0">
                <a:solidFill>
                  <a:srgbClr val="334155"/>
                </a:solidFill>
                <a:latin typeface="Roboto"/>
              </a:rPr>
              <a:t>Cast without a check and Java throws a </a:t>
            </a:r>
            <a:r>
              <a:rPr lang="en-US" sz="850" b="1">
                <a:solidFill>
                  <a:srgbClr val="EF4444"/>
                </a:solidFill>
                <a:latin typeface="Consolas"/>
              </a:rPr>
              <a:t>ClassCastException</a:t>
            </a:r>
            <a:r>
              <a:rPr lang="en-US" sz="850" b="0">
                <a:solidFill>
                  <a:srgbClr val="334155"/>
                </a:solidFill>
                <a:latin typeface="Roboto"/>
              </a:rPr>
              <a:t> at runtime.</a:t>
            </a:r>
          </a:p>
        </p:txBody>
      </p:sp>
      <p:sp>
        <p:nvSpPr>
          <p:cNvPr id="60" name="co"/>
          <p:cNvSpPr/>
          <p:nvPr/>
        </p:nvSpPr>
        <p:spPr>
          <a:xfrm>
            <a:off x="311700" y="4180000"/>
            <a:ext cx="8520600" cy="470000"/>
          </a:xfrm>
          <a:prstGeom prst="roundRect">
            <a:avLst>
              <a:gd name="adj" fmla="val 20000"/>
            </a:avLst>
          </a:prstGeom>
          <a:solidFill>
            <a:srgbClr val="7C3AED">
              <a:alpha val="12000"/>
            </a:srgbClr>
          </a:solidFill>
          <a:ln>
            <a:noFill/>
          </a:ln>
        </p:spPr>
        <p:txBody>
          <a:bodyPr/>
          <a:lstStyle/>
          <a:p>
            <a:endParaRPr/>
          </a:p>
        </p:txBody>
      </p:sp>
      <p:sp>
        <p:nvSpPr>
          <p:cNvPr id="61" name="cot"/>
          <p:cNvSpPr txBox="1"/>
          <p:nvPr/>
        </p:nvSpPr>
        <p:spPr>
          <a:xfrm>
            <a:off x="451700" y="4180000"/>
            <a:ext cx="8240600" cy="470000"/>
          </a:xfrm>
          <a:prstGeom prst="rect">
            <a:avLst/>
          </a:prstGeom>
          <a:noFill/>
        </p:spPr>
        <p:txBody>
          <a:bodyPr wrap="square" lIns="0" tIns="0" rIns="0" bIns="0" anchor="ctr">
            <a:noAutofit/>
          </a:bodyPr>
          <a:lstStyle/>
          <a:p>
            <a:pPr marL="0" indent="0" algn="ctr">
              <a:spcAft>
                <a:spcPts val="0"/>
              </a:spcAft>
              <a:buNone/>
            </a:pPr>
            <a:r>
              <a:rPr lang="en-US" sz="1000" b="0">
                <a:solidFill>
                  <a:srgbClr val="334155"/>
                </a:solidFill>
                <a:latin typeface="Roboto"/>
              </a:rPr>
              <a:t>Rule of thumb — frequent </a:t>
            </a:r>
            <a:r>
              <a:rPr lang="en-US" sz="1000" b="1">
                <a:solidFill>
                  <a:srgbClr val="7C3AED"/>
                </a:solidFill>
                <a:latin typeface="Consolas"/>
              </a:rPr>
              <a:t>instanceof</a:t>
            </a:r>
            <a:r>
              <a:rPr lang="en-US" sz="1000" b="0">
                <a:solidFill>
                  <a:srgbClr val="334155"/>
                </a:solidFill>
                <a:latin typeface="Roboto"/>
              </a:rPr>
              <a:t> may signal your polymorphism design needs revisiting; occasional use for type-safe casting is perfectly valid.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F172A"/>
          </a:solidFill>
          <a:ln>
            <a:noFill/>
          </a:ln>
        </p:spPr>
        <p:txBody>
          <a:bodyPr/>
          <a:lstStyle/>
          <a:p>
            <a:endParaRPr/>
          </a:p>
        </p:txBody>
      </p:sp>
      <p:sp>
        <p:nvSpPr>
          <p:cNvPr id="11" name="Eyebrow"/>
          <p:cNvSpPr txBox="1"/>
          <p:nvPr/>
        </p:nvSpPr>
        <p:spPr>
          <a:xfrm>
            <a:off x="0" y="820000"/>
            <a:ext cx="9144000" cy="240000"/>
          </a:xfrm>
          <a:prstGeom prst="rect">
            <a:avLst/>
          </a:prstGeom>
          <a:noFill/>
        </p:spPr>
        <p:txBody>
          <a:bodyPr wrap="square" lIns="0" tIns="0" rIns="0" bIns="0" anchor="t">
            <a:noAutofit/>
          </a:bodyPr>
          <a:lstStyle/>
          <a:p>
            <a:pPr marL="0" indent="0" algn="ctr">
              <a:spcAft>
                <a:spcPts val="0"/>
              </a:spcAft>
              <a:buNone/>
            </a:pPr>
            <a:r>
              <a:rPr lang="en-US" sz="1200" b="1" spc="500">
                <a:solidFill>
                  <a:srgbClr val="94A3B8"/>
                </a:solidFill>
                <a:latin typeface="Roboto"/>
              </a:rPr>
              <a:t>SECTION</a:t>
            </a:r>
          </a:p>
        </p:txBody>
      </p:sp>
      <p:sp>
        <p:nvSpPr>
          <p:cNvPr id="12" name="Num"/>
          <p:cNvSpPr txBox="1"/>
          <p:nvPr/>
        </p:nvSpPr>
        <p:spPr>
          <a:xfrm>
            <a:off x="0" y="1060000"/>
            <a:ext cx="9144000" cy="1300000"/>
          </a:xfrm>
          <a:prstGeom prst="rect">
            <a:avLst/>
          </a:prstGeom>
          <a:noFill/>
        </p:spPr>
        <p:txBody>
          <a:bodyPr wrap="square" lIns="0" tIns="0" rIns="0" bIns="0" anchor="ctr">
            <a:noAutofit/>
          </a:bodyPr>
          <a:lstStyle/>
          <a:p>
            <a:pPr marL="0" indent="0" algn="ctr">
              <a:spcAft>
                <a:spcPts val="0"/>
              </a:spcAft>
              <a:buNone/>
            </a:pPr>
            <a:r>
              <a:rPr lang="en-US" sz="8000" b="1">
                <a:solidFill>
                  <a:srgbClr val="60A5FA"/>
                </a:solidFill>
                <a:latin typeface="Arial"/>
              </a:rPr>
              <a:t>3</a:t>
            </a:r>
          </a:p>
        </p:txBody>
      </p:sp>
      <p:sp>
        <p:nvSpPr>
          <p:cNvPr id="13" name="Title"/>
          <p:cNvSpPr txBox="1"/>
          <p:nvPr/>
        </p:nvSpPr>
        <p:spPr>
          <a:xfrm>
            <a:off x="600000" y="2470000"/>
            <a:ext cx="7944000" cy="650000"/>
          </a:xfrm>
          <a:prstGeom prst="rect">
            <a:avLst/>
          </a:prstGeom>
          <a:noFill/>
        </p:spPr>
        <p:txBody>
          <a:bodyPr wrap="square" lIns="0" tIns="0" rIns="0" bIns="0" anchor="t">
            <a:noAutofit/>
          </a:bodyPr>
          <a:lstStyle/>
          <a:p>
            <a:pPr marL="0" indent="0" algn="ctr">
              <a:spcAft>
                <a:spcPts val="0"/>
              </a:spcAft>
              <a:buNone/>
            </a:pPr>
            <a:r>
              <a:rPr lang="en-US" sz="3600" b="1">
                <a:solidFill>
                  <a:srgbClr val="FFFFFF"/>
                </a:solidFill>
                <a:latin typeface="Roboto"/>
              </a:rPr>
              <a:t>Packages</a:t>
            </a:r>
          </a:p>
        </p:txBody>
      </p:sp>
      <p:sp>
        <p:nvSpPr>
          <p:cNvPr id="14" name="Sub"/>
          <p:cNvSpPr txBox="1"/>
          <p:nvPr/>
        </p:nvSpPr>
        <p:spPr>
          <a:xfrm>
            <a:off x="800000" y="3160000"/>
            <a:ext cx="7544000" cy="360000"/>
          </a:xfrm>
          <a:prstGeom prst="rect">
            <a:avLst/>
          </a:prstGeom>
          <a:noFill/>
        </p:spPr>
        <p:txBody>
          <a:bodyPr wrap="square" lIns="0" tIns="0" rIns="0" bIns="0" anchor="t">
            <a:noAutofit/>
          </a:bodyPr>
          <a:lstStyle/>
          <a:p>
            <a:pPr marL="0" indent="0" algn="ctr">
              <a:spcAft>
                <a:spcPts val="0"/>
              </a:spcAft>
              <a:buNone/>
            </a:pPr>
            <a:r>
              <a:rPr lang="en-US" sz="1500" b="0">
                <a:solidFill>
                  <a:srgbClr val="94A3B8"/>
                </a:solidFill>
                <a:latin typeface="Roboto"/>
              </a:rPr>
              <a:t>Organizing your classes so they can grow, scale, and work together.</a:t>
            </a:r>
          </a:p>
        </p:txBody>
      </p:sp>
      <p:sp>
        <p:nvSpPr>
          <p:cNvPr id="15" name="pc0"/>
          <p:cNvSpPr/>
          <p:nvPr/>
        </p:nvSpPr>
        <p:spPr>
          <a:xfrm>
            <a:off x="4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16" name="pi0"/>
          <p:cNvSpPr/>
          <p:nvPr/>
        </p:nvSpPr>
        <p:spPr>
          <a:xfrm>
            <a:off x="622000" y="3830000"/>
            <a:ext cx="300000" cy="300000"/>
          </a:xfrm>
          <a:prstGeom prst="ellipse">
            <a:avLst/>
          </a:prstGeom>
          <a:solidFill>
            <a:srgbClr val="2563EB"/>
          </a:solidFill>
          <a:ln>
            <a:noFill/>
          </a:ln>
        </p:spPr>
        <p:txBody>
          <a:bodyPr/>
          <a:lstStyle/>
          <a:p>
            <a:endParaRPr/>
          </a:p>
        </p:txBody>
      </p:sp>
      <p:sp>
        <p:nvSpPr>
          <p:cNvPr id="17" name="pg0"/>
          <p:cNvSpPr txBox="1"/>
          <p:nvPr/>
        </p:nvSpPr>
        <p:spPr>
          <a:xfrm>
            <a:off x="6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18" name="pl0"/>
          <p:cNvSpPr txBox="1"/>
          <p:nvPr/>
        </p:nvSpPr>
        <p:spPr>
          <a:xfrm>
            <a:off x="1072000" y="3660000"/>
            <a:ext cx="1920000" cy="640000"/>
          </a:xfrm>
          <a:prstGeom prst="rect">
            <a:avLst/>
          </a:prstGeom>
          <a:noFill/>
        </p:spPr>
        <p:txBody>
          <a:bodyPr wrap="square" lIns="0" tIns="0" rIns="0" bIns="0" anchor="ctr">
            <a:noAutofit/>
          </a:bodyPr>
          <a:lstStyle/>
          <a:p>
            <a:pPr marL="0" indent="0">
              <a:spcAft>
                <a:spcPts val="200"/>
              </a:spcAft>
              <a:buNone/>
            </a:pPr>
            <a:r>
              <a:rPr lang="en-US" sz="1150" b="1">
                <a:solidFill>
                  <a:srgbClr val="FFFFFF"/>
                </a:solidFill>
                <a:latin typeface="Roboto"/>
              </a:rPr>
              <a:t>What is a package</a:t>
            </a:r>
          </a:p>
          <a:p>
            <a:pPr marL="0" indent="0">
              <a:spcAft>
                <a:spcPts val="0"/>
              </a:spcAft>
              <a:buNone/>
            </a:pPr>
            <a:r>
              <a:rPr lang="en-US" sz="900" b="0">
                <a:solidFill>
                  <a:srgbClr val="94A3B8"/>
                </a:solidFill>
                <a:latin typeface="Roboto"/>
              </a:rPr>
              <a:t>grouping related classes</a:t>
            </a:r>
          </a:p>
        </p:txBody>
      </p:sp>
      <p:sp>
        <p:nvSpPr>
          <p:cNvPr id="19" name="pc1"/>
          <p:cNvSpPr/>
          <p:nvPr/>
        </p:nvSpPr>
        <p:spPr>
          <a:xfrm>
            <a:off x="32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0" name="pi1"/>
          <p:cNvSpPr/>
          <p:nvPr/>
        </p:nvSpPr>
        <p:spPr>
          <a:xfrm>
            <a:off x="3422000" y="3830000"/>
            <a:ext cx="300000" cy="300000"/>
          </a:xfrm>
          <a:prstGeom prst="ellipse">
            <a:avLst/>
          </a:prstGeom>
          <a:solidFill>
            <a:srgbClr val="7C3AED"/>
          </a:solidFill>
          <a:ln>
            <a:noFill/>
          </a:ln>
        </p:spPr>
        <p:txBody>
          <a:bodyPr/>
          <a:lstStyle/>
          <a:p>
            <a:endParaRPr/>
          </a:p>
        </p:txBody>
      </p:sp>
      <p:sp>
        <p:nvSpPr>
          <p:cNvPr id="21" name="pg1"/>
          <p:cNvSpPr txBox="1"/>
          <p:nvPr/>
        </p:nvSpPr>
        <p:spPr>
          <a:xfrm>
            <a:off x="34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2" name="pl1"/>
          <p:cNvSpPr txBox="1"/>
          <p:nvPr/>
        </p:nvSpPr>
        <p:spPr>
          <a:xfrm>
            <a:off x="3872000" y="3660000"/>
            <a:ext cx="1920000" cy="640000"/>
          </a:xfrm>
          <a:prstGeom prst="rect">
            <a:avLst/>
          </a:prstGeom>
          <a:noFill/>
        </p:spPr>
        <p:txBody>
          <a:bodyPr wrap="square" lIns="0" tIns="0" rIns="0" bIns="0" anchor="ctr">
            <a:noAutofit/>
          </a:bodyPr>
          <a:lstStyle/>
          <a:p>
            <a:pPr marL="0" indent="0">
              <a:spcAft>
                <a:spcPts val="200"/>
              </a:spcAft>
              <a:buNone/>
            </a:pPr>
            <a:r>
              <a:rPr lang="en-US" sz="1150" b="1">
                <a:solidFill>
                  <a:srgbClr val="FFFFFF"/>
                </a:solidFill>
                <a:latin typeface="Roboto"/>
              </a:rPr>
              <a:t>Creating a package</a:t>
            </a:r>
          </a:p>
          <a:p>
            <a:pPr marL="0" indent="0">
              <a:spcAft>
                <a:spcPts val="0"/>
              </a:spcAft>
              <a:buNone/>
            </a:pPr>
            <a:r>
              <a:rPr lang="en-US" sz="900" b="0">
                <a:solidFill>
                  <a:srgbClr val="94A3B8"/>
                </a:solidFill>
                <a:latin typeface="Roboto"/>
              </a:rPr>
              <a:t>the package keyword</a:t>
            </a:r>
          </a:p>
        </p:txBody>
      </p:sp>
      <p:sp>
        <p:nvSpPr>
          <p:cNvPr id="23" name="pc2"/>
          <p:cNvSpPr/>
          <p:nvPr/>
        </p:nvSpPr>
        <p:spPr>
          <a:xfrm>
            <a:off x="60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4" name="pi2"/>
          <p:cNvSpPr/>
          <p:nvPr/>
        </p:nvSpPr>
        <p:spPr>
          <a:xfrm>
            <a:off x="6222000" y="3830000"/>
            <a:ext cx="300000" cy="300000"/>
          </a:xfrm>
          <a:prstGeom prst="ellipse">
            <a:avLst/>
          </a:prstGeom>
          <a:solidFill>
            <a:srgbClr val="06B6D4"/>
          </a:solidFill>
          <a:ln>
            <a:noFill/>
          </a:ln>
        </p:spPr>
        <p:txBody>
          <a:bodyPr/>
          <a:lstStyle/>
          <a:p>
            <a:endParaRPr/>
          </a:p>
        </p:txBody>
      </p:sp>
      <p:sp>
        <p:nvSpPr>
          <p:cNvPr id="25" name="pg2"/>
          <p:cNvSpPr txBox="1"/>
          <p:nvPr/>
        </p:nvSpPr>
        <p:spPr>
          <a:xfrm>
            <a:off x="62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6" name="pl2"/>
          <p:cNvSpPr txBox="1"/>
          <p:nvPr/>
        </p:nvSpPr>
        <p:spPr>
          <a:xfrm>
            <a:off x="6672000" y="3660000"/>
            <a:ext cx="1920000" cy="640000"/>
          </a:xfrm>
          <a:prstGeom prst="rect">
            <a:avLst/>
          </a:prstGeom>
          <a:noFill/>
        </p:spPr>
        <p:txBody>
          <a:bodyPr wrap="square" lIns="0" tIns="0" rIns="0" bIns="0" anchor="ctr">
            <a:noAutofit/>
          </a:bodyPr>
          <a:lstStyle/>
          <a:p>
            <a:pPr marL="0" indent="0">
              <a:spcAft>
                <a:spcPts val="200"/>
              </a:spcAft>
              <a:buNone/>
            </a:pPr>
            <a:r>
              <a:rPr lang="en-US" sz="1150" b="1">
                <a:solidFill>
                  <a:srgbClr val="FFFFFF"/>
                </a:solidFill>
                <a:latin typeface="Roboto"/>
              </a:rPr>
              <a:t>Importing</a:t>
            </a:r>
          </a:p>
          <a:p>
            <a:pPr marL="0" indent="0">
              <a:spcAft>
                <a:spcPts val="0"/>
              </a:spcAft>
              <a:buNone/>
            </a:pPr>
            <a:r>
              <a:rPr lang="en-US" sz="900" b="0">
                <a:solidFill>
                  <a:srgbClr val="94A3B8"/>
                </a:solidFill>
                <a:latin typeface="Roboto"/>
              </a:rPr>
              <a:t>using packages from elsewhere</a:t>
            </a:r>
          </a:p>
        </p:txBody>
      </p:sp>
      <p:sp>
        <p:nvSpPr>
          <p:cNvPr id="27" name="bar0"/>
          <p:cNvSpPr/>
          <p:nvPr/>
        </p:nvSpPr>
        <p:spPr>
          <a:xfrm>
            <a:off x="0" y="5039500"/>
            <a:ext cx="305000" cy="104000"/>
          </a:xfrm>
          <a:prstGeom prst="rect">
            <a:avLst/>
          </a:prstGeom>
          <a:solidFill>
            <a:srgbClr val="EC4899"/>
          </a:solidFill>
          <a:ln>
            <a:noFill/>
          </a:ln>
        </p:spPr>
        <p:txBody>
          <a:bodyPr/>
          <a:lstStyle/>
          <a:p>
            <a:endParaRPr/>
          </a:p>
        </p:txBody>
      </p:sp>
      <p:sp>
        <p:nvSpPr>
          <p:cNvPr id="28" name="bar1"/>
          <p:cNvSpPr/>
          <p:nvPr/>
        </p:nvSpPr>
        <p:spPr>
          <a:xfrm>
            <a:off x="305000" y="5039500"/>
            <a:ext cx="305000" cy="104000"/>
          </a:xfrm>
          <a:prstGeom prst="rect">
            <a:avLst/>
          </a:prstGeom>
          <a:solidFill>
            <a:srgbClr val="06B6D4"/>
          </a:solidFill>
          <a:ln>
            <a:noFill/>
          </a:ln>
        </p:spPr>
        <p:txBody>
          <a:bodyPr/>
          <a:lstStyle/>
          <a:p>
            <a:endParaRPr/>
          </a:p>
        </p:txBody>
      </p:sp>
      <p:sp>
        <p:nvSpPr>
          <p:cNvPr id="29" name="bar2"/>
          <p:cNvSpPr/>
          <p:nvPr/>
        </p:nvSpPr>
        <p:spPr>
          <a:xfrm>
            <a:off x="610000" y="5039500"/>
            <a:ext cx="305000" cy="104000"/>
          </a:xfrm>
          <a:prstGeom prst="rect">
            <a:avLst/>
          </a:prstGeom>
          <a:solidFill>
            <a:srgbClr val="2563EB"/>
          </a:solidFill>
          <a:ln>
            <a:noFill/>
          </a:ln>
        </p:spPr>
        <p:txBody>
          <a:bodyPr/>
          <a:lstStyle/>
          <a:p>
            <a:endParaRPr/>
          </a:p>
        </p:txBody>
      </p:sp>
      <p:sp>
        <p:nvSpPr>
          <p:cNvPr id="30" name="bar3"/>
          <p:cNvSpPr/>
          <p:nvPr/>
        </p:nvSpPr>
        <p:spPr>
          <a:xfrm>
            <a:off x="915000" y="5039500"/>
            <a:ext cx="8229000" cy="104000"/>
          </a:xfrm>
          <a:prstGeom prst="rect">
            <a:avLst/>
          </a:prstGeom>
          <a:solidFill>
            <a:srgbClr val="1E40AF"/>
          </a:solidFill>
          <a:ln>
            <a:noFill/>
          </a:ln>
        </p:spPr>
        <p:txBody>
          <a:bodyP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Packages — What and Why</a:t>
            </a:r>
          </a:p>
        </p:txBody>
      </p:sp>
      <p:sp>
        <p:nvSpPr>
          <p:cNvPr id="10" name="Def"/>
          <p:cNvSpPr txBox="1"/>
          <p:nvPr/>
        </p:nvSpPr>
        <p:spPr>
          <a:xfrm>
            <a:off x="311700" y="1015000"/>
            <a:ext cx="8520600" cy="540000"/>
          </a:xfrm>
          <a:prstGeom prst="rect">
            <a:avLst/>
          </a:prstGeom>
          <a:noFill/>
        </p:spPr>
        <p:txBody>
          <a:bodyPr wrap="square" lIns="0" tIns="0" rIns="0" bIns="0" anchor="t">
            <a:noAutofit/>
          </a:bodyPr>
          <a:lstStyle/>
          <a:p>
            <a:pPr marL="0" indent="0">
              <a:spcAft>
                <a:spcPts val="180"/>
              </a:spcAft>
              <a:buNone/>
            </a:pPr>
            <a:r>
              <a:rPr lang="en-US" sz="1300" b="0">
                <a:solidFill>
                  <a:srgbClr val="334155"/>
                </a:solidFill>
                <a:latin typeface="Roboto"/>
              </a:rPr>
              <a:t>A package is a </a:t>
            </a:r>
            <a:r>
              <a:rPr lang="en-US" sz="1300" b="1">
                <a:solidFill>
                  <a:srgbClr val="334155"/>
                </a:solidFill>
                <a:latin typeface="Roboto"/>
              </a:rPr>
              <a:t>named group of related classes</a:t>
            </a:r>
            <a:r>
              <a:rPr lang="en-US" sz="1300" b="0">
                <a:solidFill>
                  <a:srgbClr val="334155"/>
                </a:solidFill>
                <a:latin typeface="Roboto"/>
              </a:rPr>
              <a:t> — think of it as a </a:t>
            </a:r>
            <a:r>
              <a:rPr lang="en-US" sz="1300" b="1">
                <a:solidFill>
                  <a:srgbClr val="2563EB"/>
                </a:solidFill>
                <a:latin typeface="Roboto"/>
              </a:rPr>
              <a:t>folder</a:t>
            </a:r>
            <a:r>
              <a:rPr lang="en-US" sz="1300" b="0">
                <a:solidFill>
                  <a:srgbClr val="334155"/>
                </a:solidFill>
                <a:latin typeface="Roboto"/>
              </a:rPr>
              <a:t> that gives your code structure and prevents naming collisions.</a:t>
            </a:r>
          </a:p>
        </p:txBody>
      </p:sp>
      <p:sp>
        <p:nvSpPr>
          <p:cNvPr id="11" name="Lc"/>
          <p:cNvSpPr/>
          <p:nvPr/>
        </p:nvSpPr>
        <p:spPr>
          <a:xfrm>
            <a:off x="311700" y="1660000"/>
            <a:ext cx="4080000" cy="24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12" name="sc0"/>
          <p:cNvSpPr/>
          <p:nvPr/>
        </p:nvSpPr>
        <p:spPr>
          <a:xfrm>
            <a:off x="541700" y="1885000"/>
            <a:ext cx="92000" cy="92000"/>
          </a:xfrm>
          <a:prstGeom prst="roundRect">
            <a:avLst>
              <a:gd name="adj" fmla="val 25000"/>
            </a:avLst>
          </a:prstGeom>
          <a:solidFill>
            <a:srgbClr val="EF4444"/>
          </a:solidFill>
          <a:ln>
            <a:noFill/>
          </a:ln>
        </p:spPr>
        <p:txBody>
          <a:bodyPr/>
          <a:lstStyle/>
          <a:p>
            <a:endParaRPr/>
          </a:p>
        </p:txBody>
      </p:sp>
      <p:sp>
        <p:nvSpPr>
          <p:cNvPr id="13" name="sc1"/>
          <p:cNvSpPr/>
          <p:nvPr/>
        </p:nvSpPr>
        <p:spPr>
          <a:xfrm>
            <a:off x="691700" y="2020000"/>
            <a:ext cx="92000" cy="92000"/>
          </a:xfrm>
          <a:prstGeom prst="roundRect">
            <a:avLst>
              <a:gd name="adj" fmla="val 25000"/>
            </a:avLst>
          </a:prstGeom>
          <a:solidFill>
            <a:srgbClr val="EA580C"/>
          </a:solidFill>
          <a:ln>
            <a:noFill/>
          </a:ln>
        </p:spPr>
        <p:txBody>
          <a:bodyPr/>
          <a:lstStyle/>
          <a:p>
            <a:endParaRPr/>
          </a:p>
        </p:txBody>
      </p:sp>
      <p:sp>
        <p:nvSpPr>
          <p:cNvPr id="14" name="sc2"/>
          <p:cNvSpPr/>
          <p:nvPr/>
        </p:nvSpPr>
        <p:spPr>
          <a:xfrm>
            <a:off x="841700" y="1855000"/>
            <a:ext cx="92000" cy="92000"/>
          </a:xfrm>
          <a:prstGeom prst="roundRect">
            <a:avLst>
              <a:gd name="adj" fmla="val 25000"/>
            </a:avLst>
          </a:prstGeom>
          <a:solidFill>
            <a:srgbClr val="DC2626"/>
          </a:solidFill>
          <a:ln>
            <a:noFill/>
          </a:ln>
        </p:spPr>
        <p:txBody>
          <a:bodyPr/>
          <a:lstStyle/>
          <a:p>
            <a:endParaRPr/>
          </a:p>
        </p:txBody>
      </p:sp>
      <p:sp>
        <p:nvSpPr>
          <p:cNvPr id="15" name="Ll"/>
          <p:cNvSpPr txBox="1"/>
          <p:nvPr/>
        </p:nvSpPr>
        <p:spPr>
          <a:xfrm>
            <a:off x="1051700" y="1840000"/>
            <a:ext cx="3200000" cy="340000"/>
          </a:xfrm>
          <a:prstGeom prst="rect">
            <a:avLst/>
          </a:prstGeom>
          <a:noFill/>
        </p:spPr>
        <p:txBody>
          <a:bodyPr wrap="square" lIns="0" tIns="0" rIns="0" bIns="0" anchor="ctr">
            <a:noAutofit/>
          </a:bodyPr>
          <a:lstStyle/>
          <a:p>
            <a:pPr marL="0" indent="0">
              <a:spcAft>
                <a:spcPts val="0"/>
              </a:spcAft>
              <a:buNone/>
            </a:pPr>
            <a:r>
              <a:rPr lang="en-US" sz="1050" b="1" spc="140">
                <a:solidFill>
                  <a:srgbClr val="DC2626"/>
                </a:solidFill>
                <a:latin typeface="Roboto"/>
              </a:rPr>
              <a:t>WITHOUT PACKAGES</a:t>
            </a:r>
          </a:p>
        </p:txBody>
      </p:sp>
      <p:sp>
        <p:nvSpPr>
          <p:cNvPr id="16" name="MP"/>
          <p:cNvSpPr/>
          <p:nvPr/>
        </p:nvSpPr>
        <p:spPr>
          <a:xfrm>
            <a:off x="531700" y="2300000"/>
            <a:ext cx="3640000" cy="1120000"/>
          </a:xfrm>
          <a:prstGeom prst="roundRect">
            <a:avLst>
              <a:gd name="adj" fmla="val 5000"/>
            </a:avLst>
          </a:prstGeom>
          <a:solidFill>
            <a:srgbClr val="1E293B"/>
          </a:solidFill>
          <a:ln w="9525">
            <a:solidFill>
              <a:srgbClr val="334155"/>
            </a:solidFill>
          </a:ln>
        </p:spPr>
        <p:txBody>
          <a:bodyPr/>
          <a:lstStyle/>
          <a:p>
            <a:endParaRPr/>
          </a:p>
        </p:txBody>
      </p:sp>
      <p:sp>
        <p:nvSpPr>
          <p:cNvPr id="17" name="ML"/>
          <p:cNvSpPr txBox="1"/>
          <p:nvPr/>
        </p:nvSpPr>
        <p:spPr>
          <a:xfrm>
            <a:off x="681700" y="2370000"/>
            <a:ext cx="3340000" cy="240000"/>
          </a:xfrm>
          <a:prstGeom prst="rect">
            <a:avLst/>
          </a:prstGeom>
          <a:noFill/>
        </p:spPr>
        <p:txBody>
          <a:bodyPr wrap="square" lIns="0" tIns="0" rIns="0" bIns="0" anchor="t">
            <a:noAutofit/>
          </a:bodyPr>
          <a:lstStyle/>
          <a:p>
            <a:pPr marL="0" indent="0">
              <a:spcAft>
                <a:spcPts val="0"/>
              </a:spcAft>
              <a:buNone/>
            </a:pPr>
            <a:r>
              <a:rPr lang="en-US" sz="900" b="1">
                <a:solidFill>
                  <a:srgbClr val="94A3B8"/>
                </a:solidFill>
                <a:latin typeface="Roboto"/>
              </a:rPr>
              <a:t>flat project — all files together</a:t>
            </a:r>
          </a:p>
        </p:txBody>
      </p:sp>
      <p:sp>
        <p:nvSpPr>
          <p:cNvPr id="18" name="MC"/>
          <p:cNvSpPr txBox="1"/>
          <p:nvPr/>
        </p:nvSpPr>
        <p:spPr>
          <a:xfrm>
            <a:off x="711700" y="2660000"/>
            <a:ext cx="3310000" cy="700000"/>
          </a:xfrm>
          <a:prstGeom prst="rect">
            <a:avLst/>
          </a:prstGeom>
          <a:noFill/>
        </p:spPr>
        <p:txBody>
          <a:bodyPr wrap="square" lIns="0" tIns="0" rIns="0" bIns="0" anchor="t">
            <a:noAutofit/>
          </a:bodyPr>
          <a:lstStyle/>
          <a:p>
            <a:pPr marL="0" indent="0">
              <a:spcAft>
                <a:spcPts val="16"/>
              </a:spcAft>
              <a:buNone/>
            </a:pPr>
            <a:r>
              <a:rPr lang="en-US" sz="760" b="0">
                <a:solidFill>
                  <a:srgbClr val="E2E8F0"/>
                </a:solidFill>
                <a:latin typeface="Consolas"/>
              </a:rPr>
              <a:t>Dog.java</a:t>
            </a:r>
          </a:p>
          <a:p>
            <a:pPr marL="0" indent="0">
              <a:spcAft>
                <a:spcPts val="16"/>
              </a:spcAft>
              <a:buNone/>
            </a:pPr>
            <a:r>
              <a:rPr lang="en-US" sz="760" b="0">
                <a:solidFill>
                  <a:srgbClr val="E2E8F0"/>
                </a:solidFill>
                <a:latin typeface="Consolas"/>
              </a:rPr>
              <a:t>Cat.java</a:t>
            </a:r>
          </a:p>
          <a:p>
            <a:pPr marL="0" indent="0">
              <a:spcAft>
                <a:spcPts val="16"/>
              </a:spcAft>
              <a:buNone/>
            </a:pPr>
            <a:r>
              <a:rPr lang="en-US" sz="760" b="0">
                <a:solidFill>
                  <a:srgbClr val="E2E8F0"/>
                </a:solidFill>
                <a:latin typeface="Consolas"/>
              </a:rPr>
              <a:t>Animal.java</a:t>
            </a:r>
          </a:p>
          <a:p>
            <a:pPr marL="0" indent="0">
              <a:spcAft>
                <a:spcPts val="16"/>
              </a:spcAft>
              <a:buNone/>
            </a:pPr>
            <a:r>
              <a:rPr lang="en-US" sz="760" b="0">
                <a:solidFill>
                  <a:srgbClr val="E2E8F0"/>
                </a:solidFill>
                <a:latin typeface="Consolas"/>
              </a:rPr>
              <a:t>Dog.java</a:t>
            </a:r>
            <a:r>
              <a:rPr lang="en-US" sz="760" b="0">
                <a:solidFill>
                  <a:srgbClr val="EF4444"/>
                </a:solidFill>
                <a:latin typeface="Consolas"/>
              </a:rPr>
              <a:t>   ✗ name conflict!</a:t>
            </a:r>
          </a:p>
          <a:p>
            <a:pPr marL="0" indent="0">
              <a:spcAft>
                <a:spcPts val="16"/>
              </a:spcAft>
              <a:buNone/>
            </a:pPr>
            <a:r>
              <a:rPr lang="en-US" sz="760" b="0">
                <a:solidFill>
                  <a:srgbClr val="E2E8F0"/>
                </a:solidFill>
                <a:latin typeface="Consolas"/>
              </a:rPr>
              <a:t>Manager.java</a:t>
            </a:r>
          </a:p>
          <a:p>
            <a:pPr marL="0" indent="0">
              <a:spcAft>
                <a:spcPts val="16"/>
              </a:spcAft>
              <a:buNone/>
            </a:pPr>
            <a:r>
              <a:rPr lang="en-US" sz="760" b="0">
                <a:solidFill>
                  <a:srgbClr val="E2E8F0"/>
                </a:solidFill>
                <a:latin typeface="Consolas"/>
              </a:rPr>
              <a:t>Dog.java</a:t>
            </a:r>
            <a:r>
              <a:rPr lang="en-US" sz="760" b="0">
                <a:solidFill>
                  <a:srgbClr val="EF4444"/>
                </a:solidFill>
                <a:latin typeface="Consolas"/>
              </a:rPr>
              <a:t>   ✗ another one</a:t>
            </a:r>
          </a:p>
        </p:txBody>
      </p:sp>
      <p:sp>
        <p:nvSpPr>
          <p:cNvPr id="19" name="BD"/>
          <p:cNvSpPr txBox="1"/>
          <p:nvPr/>
        </p:nvSpPr>
        <p:spPr>
          <a:xfrm>
            <a:off x="551700" y="3500000"/>
            <a:ext cx="3600000" cy="560000"/>
          </a:xfrm>
          <a:prstGeom prst="rect">
            <a:avLst/>
          </a:prstGeom>
          <a:noFill/>
        </p:spPr>
        <p:txBody>
          <a:bodyPr wrap="square" lIns="0" tIns="0" rIns="0" bIns="0" anchor="t">
            <a:noAutofit/>
          </a:bodyPr>
          <a:lstStyle/>
          <a:p>
            <a:pPr marL="230000" indent="-230000">
              <a:spcAft>
                <a:spcPts val="180"/>
              </a:spcAft>
              <a:buNone/>
            </a:pPr>
            <a:r>
              <a:rPr lang="en-US" sz="950" b="1">
                <a:solidFill>
                  <a:srgbClr val="DC2626"/>
                </a:solidFill>
                <a:latin typeface="Roboto"/>
              </a:rPr>
              <a:t>✗  </a:t>
            </a:r>
            <a:r>
              <a:rPr lang="en-US" sz="950" b="0">
                <a:solidFill>
                  <a:srgbClr val="334155"/>
                </a:solidFill>
                <a:latin typeface="Roboto"/>
              </a:rPr>
              <a:t>No way to have two classes named Dog</a:t>
            </a:r>
          </a:p>
          <a:p>
            <a:pPr marL="230000" indent="-230000">
              <a:spcAft>
                <a:spcPts val="0"/>
              </a:spcAft>
              <a:buNone/>
            </a:pPr>
            <a:r>
              <a:rPr lang="en-US" sz="950" b="1">
                <a:solidFill>
                  <a:srgbClr val="DC2626"/>
                </a:solidFill>
                <a:latin typeface="Roboto"/>
              </a:rPr>
              <a:t>✗  </a:t>
            </a:r>
            <a:r>
              <a:rPr lang="en-US" sz="950" b="0">
                <a:solidFill>
                  <a:srgbClr val="334155"/>
                </a:solidFill>
                <a:latin typeface="Roboto"/>
              </a:rPr>
              <a:t>No logical grouping — everything is flat</a:t>
            </a:r>
          </a:p>
        </p:txBody>
      </p:sp>
      <p:sp>
        <p:nvSpPr>
          <p:cNvPr id="20" name="Rc"/>
          <p:cNvSpPr/>
          <p:nvPr/>
        </p:nvSpPr>
        <p:spPr>
          <a:xfrm>
            <a:off x="4752300" y="1660000"/>
            <a:ext cx="4080000" cy="2480000"/>
          </a:xfrm>
          <a:prstGeom prst="roundRect">
            <a:avLst>
              <a:gd name="adj" fmla="val 6000"/>
            </a:avLst>
          </a:prstGeom>
          <a:solidFill>
            <a:srgbClr val="FFFFFF"/>
          </a:solidFill>
          <a:ln w="9525">
            <a:solidFill>
              <a:srgbClr val="64748B">
                <a:alpha val="45000"/>
              </a:srgbClr>
            </a:solidFill>
          </a:ln>
          <a:effectLst>
            <a:outerShdw blurRad="90000" dist="38000" dir="5400000" rotWithShape="0">
              <a:srgbClr val="1E3A8A">
                <a:alpha val="16000"/>
              </a:srgbClr>
            </a:outerShdw>
          </a:effectLst>
        </p:spPr>
        <p:txBody>
          <a:bodyPr/>
          <a:lstStyle/>
          <a:p>
            <a:endParaRPr/>
          </a:p>
        </p:txBody>
      </p:sp>
      <p:sp>
        <p:nvSpPr>
          <p:cNvPr id="21" name="fn0"/>
          <p:cNvSpPr/>
          <p:nvPr/>
        </p:nvSpPr>
        <p:spPr>
          <a:xfrm>
            <a:off x="5132300" y="1840000"/>
            <a:ext cx="120000" cy="88000"/>
          </a:xfrm>
          <a:prstGeom prst="roundRect">
            <a:avLst>
              <a:gd name="adj" fmla="val 25000"/>
            </a:avLst>
          </a:prstGeom>
          <a:solidFill>
            <a:srgbClr val="22C55E"/>
          </a:solidFill>
          <a:ln>
            <a:noFill/>
          </a:ln>
        </p:spPr>
        <p:txBody>
          <a:bodyPr/>
          <a:lstStyle/>
          <a:p>
            <a:endParaRPr/>
          </a:p>
        </p:txBody>
      </p:sp>
      <p:sp>
        <p:nvSpPr>
          <p:cNvPr id="22" name="fn1"/>
          <p:cNvSpPr/>
          <p:nvPr/>
        </p:nvSpPr>
        <p:spPr>
          <a:xfrm>
            <a:off x="5012300" y="2065000"/>
            <a:ext cx="120000" cy="88000"/>
          </a:xfrm>
          <a:prstGeom prst="roundRect">
            <a:avLst>
              <a:gd name="adj" fmla="val 25000"/>
            </a:avLst>
          </a:prstGeom>
          <a:solidFill>
            <a:srgbClr val="22C55E"/>
          </a:solidFill>
          <a:ln>
            <a:noFill/>
          </a:ln>
        </p:spPr>
        <p:txBody>
          <a:bodyPr/>
          <a:lstStyle/>
          <a:p>
            <a:endParaRPr/>
          </a:p>
        </p:txBody>
      </p:sp>
      <p:sp>
        <p:nvSpPr>
          <p:cNvPr id="23" name="fn2"/>
          <p:cNvSpPr/>
          <p:nvPr/>
        </p:nvSpPr>
        <p:spPr>
          <a:xfrm>
            <a:off x="5252300" y="2065000"/>
            <a:ext cx="120000" cy="88000"/>
          </a:xfrm>
          <a:prstGeom prst="roundRect">
            <a:avLst>
              <a:gd name="adj" fmla="val 25000"/>
            </a:avLst>
          </a:prstGeom>
          <a:solidFill>
            <a:srgbClr val="22C55E"/>
          </a:solidFill>
          <a:ln>
            <a:noFill/>
          </a:ln>
        </p:spPr>
        <p:txBody>
          <a:bodyPr/>
          <a:lstStyle/>
          <a:p>
            <a:endParaRPr/>
          </a:p>
        </p:txBody>
      </p:sp>
      <p:sp>
        <p:nvSpPr>
          <p:cNvPr id="24" name="fv"/>
          <p:cNvSpPr/>
          <p:nvPr/>
        </p:nvSpPr>
        <p:spPr>
          <a:xfrm>
            <a:off x="5188300" y="1928000"/>
            <a:ext cx="8000" cy="95000"/>
          </a:xfrm>
          <a:prstGeom prst="rect">
            <a:avLst/>
          </a:prstGeom>
          <a:solidFill>
            <a:srgbClr val="22C55E"/>
          </a:solidFill>
          <a:ln>
            <a:noFill/>
          </a:ln>
        </p:spPr>
        <p:txBody>
          <a:bodyPr/>
          <a:lstStyle/>
          <a:p>
            <a:endParaRPr/>
          </a:p>
        </p:txBody>
      </p:sp>
      <p:sp>
        <p:nvSpPr>
          <p:cNvPr id="25" name="fh"/>
          <p:cNvSpPr/>
          <p:nvPr/>
        </p:nvSpPr>
        <p:spPr>
          <a:xfrm>
            <a:off x="5072300" y="2023000"/>
            <a:ext cx="240000" cy="8000"/>
          </a:xfrm>
          <a:prstGeom prst="rect">
            <a:avLst/>
          </a:prstGeom>
          <a:solidFill>
            <a:srgbClr val="22C55E"/>
          </a:solidFill>
          <a:ln>
            <a:noFill/>
          </a:ln>
        </p:spPr>
        <p:txBody>
          <a:bodyPr/>
          <a:lstStyle/>
          <a:p>
            <a:endParaRPr/>
          </a:p>
        </p:txBody>
      </p:sp>
      <p:sp>
        <p:nvSpPr>
          <p:cNvPr id="26" name="fl"/>
          <p:cNvSpPr/>
          <p:nvPr/>
        </p:nvSpPr>
        <p:spPr>
          <a:xfrm>
            <a:off x="5072300" y="2023000"/>
            <a:ext cx="8000" cy="44000"/>
          </a:xfrm>
          <a:prstGeom prst="rect">
            <a:avLst/>
          </a:prstGeom>
          <a:solidFill>
            <a:srgbClr val="22C55E"/>
          </a:solidFill>
          <a:ln>
            <a:noFill/>
          </a:ln>
        </p:spPr>
        <p:txBody>
          <a:bodyPr/>
          <a:lstStyle/>
          <a:p>
            <a:endParaRPr/>
          </a:p>
        </p:txBody>
      </p:sp>
      <p:sp>
        <p:nvSpPr>
          <p:cNvPr id="27" name="fr"/>
          <p:cNvSpPr/>
          <p:nvPr/>
        </p:nvSpPr>
        <p:spPr>
          <a:xfrm>
            <a:off x="5312300" y="2023000"/>
            <a:ext cx="8000" cy="44000"/>
          </a:xfrm>
          <a:prstGeom prst="rect">
            <a:avLst/>
          </a:prstGeom>
          <a:solidFill>
            <a:srgbClr val="22C55E"/>
          </a:solidFill>
          <a:ln>
            <a:noFill/>
          </a:ln>
        </p:spPr>
        <p:txBody>
          <a:bodyPr/>
          <a:lstStyle/>
          <a:p>
            <a:endParaRPr/>
          </a:p>
        </p:txBody>
      </p:sp>
      <p:sp>
        <p:nvSpPr>
          <p:cNvPr id="28" name="Rl"/>
          <p:cNvSpPr txBox="1"/>
          <p:nvPr/>
        </p:nvSpPr>
        <p:spPr>
          <a:xfrm>
            <a:off x="5492300" y="1840000"/>
            <a:ext cx="3200000" cy="340000"/>
          </a:xfrm>
          <a:prstGeom prst="rect">
            <a:avLst/>
          </a:prstGeom>
          <a:noFill/>
        </p:spPr>
        <p:txBody>
          <a:bodyPr wrap="square" lIns="0" tIns="0" rIns="0" bIns="0" anchor="ctr">
            <a:noAutofit/>
          </a:bodyPr>
          <a:lstStyle/>
          <a:p>
            <a:pPr marL="0" indent="0">
              <a:spcAft>
                <a:spcPts val="0"/>
              </a:spcAft>
              <a:buNone/>
            </a:pPr>
            <a:r>
              <a:rPr lang="en-US" sz="1050" b="1" spc="140">
                <a:solidFill>
                  <a:srgbClr val="16A34A"/>
                </a:solidFill>
                <a:latin typeface="Roboto"/>
              </a:rPr>
              <a:t>WITH PACKAGES</a:t>
            </a:r>
          </a:p>
        </p:txBody>
      </p:sp>
      <p:sp>
        <p:nvSpPr>
          <p:cNvPr id="29" name="MP"/>
          <p:cNvSpPr/>
          <p:nvPr/>
        </p:nvSpPr>
        <p:spPr>
          <a:xfrm>
            <a:off x="4972300" y="2300000"/>
            <a:ext cx="3640000" cy="1120000"/>
          </a:xfrm>
          <a:prstGeom prst="roundRect">
            <a:avLst>
              <a:gd name="adj" fmla="val 5000"/>
            </a:avLst>
          </a:prstGeom>
          <a:solidFill>
            <a:srgbClr val="1E293B"/>
          </a:solidFill>
          <a:ln w="9525">
            <a:solidFill>
              <a:srgbClr val="334155"/>
            </a:solidFill>
          </a:ln>
        </p:spPr>
        <p:txBody>
          <a:bodyPr/>
          <a:lstStyle/>
          <a:p>
            <a:endParaRPr/>
          </a:p>
        </p:txBody>
      </p:sp>
      <p:sp>
        <p:nvSpPr>
          <p:cNvPr id="30" name="ML"/>
          <p:cNvSpPr txBox="1"/>
          <p:nvPr/>
        </p:nvSpPr>
        <p:spPr>
          <a:xfrm>
            <a:off x="5122300" y="2370000"/>
            <a:ext cx="3340000" cy="240000"/>
          </a:xfrm>
          <a:prstGeom prst="rect">
            <a:avLst/>
          </a:prstGeom>
          <a:noFill/>
        </p:spPr>
        <p:txBody>
          <a:bodyPr wrap="square" lIns="0" tIns="0" rIns="0" bIns="0" anchor="t">
            <a:noAutofit/>
          </a:bodyPr>
          <a:lstStyle/>
          <a:p>
            <a:pPr marL="0" indent="0">
              <a:spcAft>
                <a:spcPts val="0"/>
              </a:spcAft>
              <a:buNone/>
            </a:pPr>
            <a:r>
              <a:rPr lang="en-US" sz="900" b="1">
                <a:solidFill>
                  <a:srgbClr val="94A3B8"/>
                </a:solidFill>
                <a:latin typeface="Roboto"/>
              </a:rPr>
              <a:t>grouped into named packages</a:t>
            </a:r>
          </a:p>
        </p:txBody>
      </p:sp>
      <p:sp>
        <p:nvSpPr>
          <p:cNvPr id="31" name="MC"/>
          <p:cNvSpPr txBox="1"/>
          <p:nvPr/>
        </p:nvSpPr>
        <p:spPr>
          <a:xfrm>
            <a:off x="5152300" y="2660000"/>
            <a:ext cx="3310000" cy="700000"/>
          </a:xfrm>
          <a:prstGeom prst="rect">
            <a:avLst/>
          </a:prstGeom>
          <a:noFill/>
        </p:spPr>
        <p:txBody>
          <a:bodyPr wrap="square" lIns="0" tIns="0" rIns="0" bIns="0" anchor="t">
            <a:noAutofit/>
          </a:bodyPr>
          <a:lstStyle/>
          <a:p>
            <a:pPr marL="0" indent="0">
              <a:spcAft>
                <a:spcPts val="16"/>
              </a:spcAft>
              <a:buNone/>
            </a:pPr>
            <a:r>
              <a:rPr lang="en-US" sz="720" b="1">
                <a:solidFill>
                  <a:srgbClr val="06B6D4"/>
                </a:solidFill>
                <a:latin typeface="Consolas"/>
              </a:rPr>
              <a:t>animals/</a:t>
            </a:r>
          </a:p>
          <a:p>
            <a:pPr marL="0" indent="0">
              <a:spcAft>
                <a:spcPts val="16"/>
              </a:spcAft>
              <a:buNone/>
            </a:pPr>
            <a:r>
              <a:rPr lang="en-US" sz="720" b="0">
                <a:solidFill>
                  <a:srgbClr val="E2E8F0"/>
                </a:solidFill>
                <a:latin typeface="Consolas"/>
              </a:rPr>
              <a:t>  Dog.java</a:t>
            </a:r>
          </a:p>
          <a:p>
            <a:pPr marL="0" indent="0">
              <a:spcAft>
                <a:spcPts val="16"/>
              </a:spcAft>
              <a:buNone/>
            </a:pPr>
            <a:r>
              <a:rPr lang="en-US" sz="720" b="0">
                <a:solidFill>
                  <a:srgbClr val="E2E8F0"/>
                </a:solidFill>
                <a:latin typeface="Consolas"/>
              </a:rPr>
              <a:t>  Cat.java</a:t>
            </a:r>
          </a:p>
          <a:p>
            <a:pPr marL="0" indent="0">
              <a:spcAft>
                <a:spcPts val="16"/>
              </a:spcAft>
              <a:buNone/>
            </a:pPr>
            <a:r>
              <a:rPr lang="en-US" sz="720" b="0">
                <a:solidFill>
                  <a:srgbClr val="E2E8F0"/>
                </a:solidFill>
                <a:latin typeface="Consolas"/>
              </a:rPr>
              <a:t>  Animal.java</a:t>
            </a:r>
          </a:p>
          <a:p>
            <a:pPr marL="0" indent="0">
              <a:spcAft>
                <a:spcPts val="16"/>
              </a:spcAft>
              <a:buNone/>
            </a:pPr>
            <a:r>
              <a:rPr lang="en-US" sz="720" b="1">
                <a:solidFill>
                  <a:srgbClr val="06B6D4"/>
                </a:solidFill>
                <a:latin typeface="Consolas"/>
              </a:rPr>
              <a:t>management/</a:t>
            </a:r>
          </a:p>
          <a:p>
            <a:pPr marL="0" indent="0">
              <a:spcAft>
                <a:spcPts val="16"/>
              </a:spcAft>
              <a:buNone/>
            </a:pPr>
            <a:r>
              <a:rPr lang="en-US" sz="720" b="0">
                <a:solidFill>
                  <a:srgbClr val="E2E8F0"/>
                </a:solidFill>
                <a:latin typeface="Consolas"/>
              </a:rPr>
              <a:t>  Dog.java</a:t>
            </a:r>
            <a:r>
              <a:rPr lang="en-US" sz="720" b="0">
                <a:solidFill>
                  <a:srgbClr val="22C55E"/>
                </a:solidFill>
                <a:latin typeface="Consolas"/>
              </a:rPr>
              <a:t>   ✓ no conflict</a:t>
            </a:r>
          </a:p>
          <a:p>
            <a:pPr marL="0" indent="0">
              <a:spcAft>
                <a:spcPts val="16"/>
              </a:spcAft>
              <a:buNone/>
            </a:pPr>
            <a:r>
              <a:rPr lang="en-US" sz="720" b="0">
                <a:solidFill>
                  <a:srgbClr val="E2E8F0"/>
                </a:solidFill>
                <a:latin typeface="Consolas"/>
              </a:rPr>
              <a:t>  Manager.java</a:t>
            </a:r>
          </a:p>
        </p:txBody>
      </p:sp>
      <p:sp>
        <p:nvSpPr>
          <p:cNvPr id="32" name="BD"/>
          <p:cNvSpPr txBox="1"/>
          <p:nvPr/>
        </p:nvSpPr>
        <p:spPr>
          <a:xfrm>
            <a:off x="4992300" y="3500000"/>
            <a:ext cx="3600000" cy="560000"/>
          </a:xfrm>
          <a:prstGeom prst="rect">
            <a:avLst/>
          </a:prstGeom>
          <a:noFill/>
        </p:spPr>
        <p:txBody>
          <a:bodyPr wrap="square" lIns="0" tIns="0" rIns="0" bIns="0" anchor="t">
            <a:noAutofit/>
          </a:bodyPr>
          <a:lstStyle/>
          <a:p>
            <a:pPr marL="230000" indent="-230000">
              <a:spcAft>
                <a:spcPts val="90"/>
              </a:spcAft>
              <a:buNone/>
            </a:pPr>
            <a:r>
              <a:rPr lang="en-US" sz="950" b="1">
                <a:solidFill>
                  <a:srgbClr val="16A34A"/>
                </a:solidFill>
                <a:latin typeface="Roboto"/>
              </a:rPr>
              <a:t>✓  </a:t>
            </a:r>
            <a:r>
              <a:rPr lang="en-US" sz="950" b="0">
                <a:solidFill>
                  <a:srgbClr val="334155"/>
                </a:solidFill>
                <a:latin typeface="Roboto"/>
              </a:rPr>
              <a:t>Classes can share a name across packages</a:t>
            </a:r>
          </a:p>
          <a:p>
            <a:pPr marL="230000" indent="-230000">
              <a:spcAft>
                <a:spcPts val="90"/>
              </a:spcAft>
              <a:buNone/>
            </a:pPr>
            <a:r>
              <a:rPr lang="en-US" sz="950" b="1">
                <a:solidFill>
                  <a:srgbClr val="16A34A"/>
                </a:solidFill>
                <a:latin typeface="Roboto"/>
              </a:rPr>
              <a:t>✓  </a:t>
            </a:r>
            <a:r>
              <a:rPr lang="en-US" sz="950" b="0">
                <a:solidFill>
                  <a:srgbClr val="334155"/>
                </a:solidFill>
                <a:latin typeface="Roboto"/>
              </a:rPr>
              <a:t>Related code lives together</a:t>
            </a:r>
          </a:p>
          <a:p>
            <a:pPr marL="230000" indent="-230000">
              <a:spcAft>
                <a:spcPts val="0"/>
              </a:spcAft>
              <a:buNone/>
            </a:pPr>
            <a:r>
              <a:rPr lang="en-US" sz="950" b="1">
                <a:solidFill>
                  <a:srgbClr val="16A34A"/>
                </a:solidFill>
                <a:latin typeface="Roboto"/>
              </a:rPr>
              <a:t>✓  </a:t>
            </a:r>
            <a:r>
              <a:rPr lang="en-US" sz="950" b="0">
                <a:solidFill>
                  <a:srgbClr val="334155"/>
                </a:solidFill>
                <a:latin typeface="Roboto"/>
              </a:rPr>
              <a:t>Each package compiles independently</a:t>
            </a:r>
          </a:p>
        </p:txBody>
      </p:sp>
      <p:sp>
        <p:nvSpPr>
          <p:cNvPr id="33" name="CO33"/>
          <p:cNvSpPr/>
          <p:nvPr/>
        </p:nvSpPr>
        <p:spPr>
          <a:xfrm>
            <a:off x="311700" y="4270000"/>
            <a:ext cx="8520600" cy="360000"/>
          </a:xfrm>
          <a:prstGeom prst="roundRect">
            <a:avLst>
              <a:gd name="adj" fmla="val 22000"/>
            </a:avLst>
          </a:prstGeom>
          <a:solidFill>
            <a:srgbClr val="2563EB">
              <a:alpha val="12000"/>
            </a:srgbClr>
          </a:solidFill>
          <a:ln>
            <a:noFill/>
          </a:ln>
        </p:spPr>
        <p:txBody>
          <a:bodyPr/>
          <a:lstStyle/>
          <a:p>
            <a:endParaRPr/>
          </a:p>
        </p:txBody>
      </p:sp>
      <p:sp>
        <p:nvSpPr>
          <p:cNvPr id="34" name="COT33"/>
          <p:cNvSpPr txBox="1"/>
          <p:nvPr/>
        </p:nvSpPr>
        <p:spPr>
          <a:xfrm>
            <a:off x="451700" y="4270000"/>
            <a:ext cx="8240600" cy="360000"/>
          </a:xfrm>
          <a:prstGeom prst="rect">
            <a:avLst/>
          </a:prstGeom>
          <a:noFill/>
        </p:spPr>
        <p:txBody>
          <a:bodyPr wrap="square" lIns="0" tIns="0" rIns="0" bIns="0" anchor="ctr">
            <a:noAutofit/>
          </a:bodyPr>
          <a:lstStyle/>
          <a:p>
            <a:pPr marL="0" indent="0" algn="ctr">
              <a:spcAft>
                <a:spcPts val="0"/>
              </a:spcAft>
              <a:buNone/>
            </a:pPr>
            <a:r>
              <a:rPr lang="en-US" sz="1050" b="0">
                <a:solidFill>
                  <a:srgbClr val="334155"/>
                </a:solidFill>
                <a:latin typeface="Roboto"/>
              </a:rPr>
              <a:t>Two classes </a:t>
            </a:r>
            <a:r>
              <a:rPr lang="en-US" sz="1050" b="1">
                <a:solidFill>
                  <a:srgbClr val="16A34A"/>
                </a:solidFill>
                <a:latin typeface="Roboto"/>
              </a:rPr>
              <a:t>CAN</a:t>
            </a:r>
            <a:r>
              <a:rPr lang="en-US" sz="1050" b="0">
                <a:solidFill>
                  <a:srgbClr val="334155"/>
                </a:solidFill>
                <a:latin typeface="Roboto"/>
              </a:rPr>
              <a:t> share a name if they are in </a:t>
            </a:r>
            <a:r>
              <a:rPr lang="en-US" sz="1050" b="1">
                <a:solidFill>
                  <a:srgbClr val="334155"/>
                </a:solidFill>
                <a:latin typeface="Roboto"/>
              </a:rPr>
              <a:t>different packages</a:t>
            </a:r>
            <a:r>
              <a:rPr lang="en-US" sz="1050" b="0">
                <a:solidFill>
                  <a:srgbClr val="334155"/>
                </a:solidFill>
                <a:latin typeface="Roboto"/>
              </a:rPr>
              <a:t>  —  they </a:t>
            </a:r>
            <a:r>
              <a:rPr lang="en-US" sz="1050" b="1">
                <a:solidFill>
                  <a:srgbClr val="DC2626"/>
                </a:solidFill>
                <a:latin typeface="Roboto"/>
              </a:rPr>
              <a:t>CANNOT</a:t>
            </a:r>
            <a:r>
              <a:rPr lang="en-US" sz="1050" b="0">
                <a:solidFill>
                  <a:srgbClr val="334155"/>
                </a:solidFill>
                <a:latin typeface="Roboto"/>
              </a:rPr>
              <a:t> share a name </a:t>
            </a:r>
            <a:r>
              <a:rPr lang="en-US" sz="1050" b="1">
                <a:solidFill>
                  <a:srgbClr val="334155"/>
                </a:solidFill>
                <a:latin typeface="Roboto"/>
              </a:rPr>
              <a:t>within the same package</a:t>
            </a:r>
            <a:r>
              <a:rPr lang="en-US" sz="1050" b="0">
                <a:solidFill>
                  <a:srgbClr val="334155"/>
                </a:solidFill>
                <a:latin typeface="Robot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Creating and Importing a Package</a:t>
            </a:r>
          </a:p>
        </p:txBody>
      </p:sp>
      <p:sp>
        <p:nvSpPr>
          <p:cNvPr id="10" name="Setup"/>
          <p:cNvSpPr txBox="1"/>
          <p:nvPr/>
        </p:nvSpPr>
        <p:spPr>
          <a:xfrm>
            <a:off x="311700" y="1010000"/>
            <a:ext cx="8520600" cy="470000"/>
          </a:xfrm>
          <a:prstGeom prst="rect">
            <a:avLst/>
          </a:prstGeom>
          <a:noFill/>
        </p:spPr>
        <p:txBody>
          <a:bodyPr wrap="square" lIns="0" tIns="0" rIns="0" bIns="0" anchor="t">
            <a:noAutofit/>
          </a:bodyPr>
          <a:lstStyle/>
          <a:p>
            <a:pPr marL="0" indent="0">
              <a:spcAft>
                <a:spcPts val="160"/>
              </a:spcAft>
              <a:buNone/>
            </a:pPr>
            <a:r>
              <a:rPr lang="en-US" sz="1250" b="0">
                <a:solidFill>
                  <a:srgbClr val="334155"/>
                </a:solidFill>
                <a:latin typeface="Roboto"/>
              </a:rPr>
              <a:t>Declaring a package is </a:t>
            </a:r>
            <a:r>
              <a:rPr lang="en-US" sz="1250" b="1">
                <a:solidFill>
                  <a:srgbClr val="334155"/>
                </a:solidFill>
                <a:latin typeface="Roboto"/>
              </a:rPr>
              <a:t>one line</a:t>
            </a:r>
            <a:r>
              <a:rPr lang="en-US" sz="1250" b="0">
                <a:solidFill>
                  <a:srgbClr val="334155"/>
                </a:solidFill>
                <a:latin typeface="Roboto"/>
              </a:rPr>
              <a:t> — the very first line of your Java file. </a:t>
            </a:r>
            <a:r>
              <a:rPr lang="en-US" sz="1250" b="1">
                <a:solidFill>
                  <a:srgbClr val="7C3AED"/>
                </a:solidFill>
                <a:latin typeface="Roboto"/>
              </a:rPr>
              <a:t>Importing</a:t>
            </a:r>
            <a:r>
              <a:rPr lang="en-US" sz="1250" b="0">
                <a:solidFill>
                  <a:srgbClr val="334155"/>
                </a:solidFill>
                <a:latin typeface="Roboto"/>
              </a:rPr>
              <a:t> lets you reach classes from other packages.</a:t>
            </a:r>
          </a:p>
        </p:txBody>
      </p:sp>
      <p:sp>
        <p:nvSpPr>
          <p:cNvPr id="11" name="llab"/>
          <p:cNvSpPr txBox="1"/>
          <p:nvPr/>
        </p:nvSpPr>
        <p:spPr>
          <a:xfrm>
            <a:off x="311700" y="1540000"/>
            <a:ext cx="4080000" cy="230000"/>
          </a:xfrm>
          <a:prstGeom prst="rect">
            <a:avLst/>
          </a:prstGeom>
          <a:noFill/>
        </p:spPr>
        <p:txBody>
          <a:bodyPr wrap="square" lIns="0" tIns="0" rIns="0" bIns="0" anchor="t">
            <a:noAutofit/>
          </a:bodyPr>
          <a:lstStyle/>
          <a:p>
            <a:pPr marL="0" indent="0">
              <a:spcAft>
                <a:spcPts val="0"/>
              </a:spcAft>
              <a:buNone/>
            </a:pPr>
            <a:r>
              <a:rPr lang="en-US" sz="900" b="1" spc="150">
                <a:solidFill>
                  <a:srgbClr val="2563EB"/>
                </a:solidFill>
                <a:latin typeface="Roboto"/>
              </a:rPr>
              <a:t>DECLARING A PACKAGE</a:t>
            </a:r>
          </a:p>
        </p:txBody>
      </p:sp>
      <p:sp>
        <p:nvSpPr>
          <p:cNvPr id="12" name="CP12"/>
          <p:cNvSpPr/>
          <p:nvPr/>
        </p:nvSpPr>
        <p:spPr>
          <a:xfrm>
            <a:off x="311700" y="1790000"/>
            <a:ext cx="4080000" cy="1660000"/>
          </a:xfrm>
          <a:prstGeom prst="roundRect">
            <a:avLst>
              <a:gd name="adj" fmla="val 5000"/>
            </a:avLst>
          </a:prstGeom>
          <a:solidFill>
            <a:srgbClr val="1E293B"/>
          </a:solidFill>
          <a:ln w="9525">
            <a:solidFill>
              <a:srgbClr val="334155"/>
            </a:solidFill>
          </a:ln>
        </p:spPr>
        <p:txBody>
          <a:bodyPr/>
          <a:lstStyle/>
          <a:p>
            <a:endParaRPr/>
          </a:p>
        </p:txBody>
      </p:sp>
      <p:sp>
        <p:nvSpPr>
          <p:cNvPr id="13" name="CL13"/>
          <p:cNvSpPr txBox="1"/>
          <p:nvPr/>
        </p:nvSpPr>
        <p:spPr>
          <a:xfrm>
            <a:off x="461700" y="1860000"/>
            <a:ext cx="3780000" cy="240000"/>
          </a:xfrm>
          <a:prstGeom prst="rect">
            <a:avLst/>
          </a:prstGeom>
          <a:noFill/>
        </p:spPr>
        <p:txBody>
          <a:bodyPr wrap="square" lIns="0" tIns="0" rIns="0" bIns="0" anchor="t">
            <a:noAutofit/>
          </a:bodyPr>
          <a:lstStyle/>
          <a:p>
            <a:pPr marL="0" indent="0">
              <a:spcAft>
                <a:spcPts val="0"/>
              </a:spcAft>
              <a:buNone/>
            </a:pPr>
            <a:r>
              <a:rPr lang="en-US" sz="950" b="1">
                <a:solidFill>
                  <a:srgbClr val="2563EB"/>
                </a:solidFill>
                <a:latin typeface="Roboto"/>
              </a:rPr>
              <a:t>Dog.java</a:t>
            </a:r>
          </a:p>
        </p:txBody>
      </p:sp>
      <p:sp>
        <p:nvSpPr>
          <p:cNvPr id="14" name="CD14"/>
          <p:cNvSpPr txBox="1"/>
          <p:nvPr/>
        </p:nvSpPr>
        <p:spPr>
          <a:xfrm>
            <a:off x="491700" y="2150000"/>
            <a:ext cx="3750000" cy="1240000"/>
          </a:xfrm>
          <a:prstGeom prst="rect">
            <a:avLst/>
          </a:prstGeom>
          <a:noFill/>
        </p:spPr>
        <p:txBody>
          <a:bodyPr wrap="square" lIns="0" tIns="0" rIns="0" bIns="0" anchor="t">
            <a:noAutofit/>
          </a:bodyPr>
          <a:lstStyle/>
          <a:p>
            <a:pPr marL="0" indent="0">
              <a:spcAft>
                <a:spcPts val="20"/>
              </a:spcAft>
              <a:buNone/>
            </a:pPr>
            <a:r>
              <a:rPr lang="en-US" sz="720" b="0">
                <a:solidFill>
                  <a:srgbClr val="60A5FA"/>
                </a:solidFill>
                <a:latin typeface="Consolas"/>
              </a:rPr>
              <a:t>package</a:t>
            </a:r>
            <a:r>
              <a:rPr lang="en-US" sz="720" b="0">
                <a:solidFill>
                  <a:srgbClr val="E2E8F0"/>
                </a:solidFill>
                <a:latin typeface="Consolas"/>
              </a:rPr>
              <a:t> animals</a:t>
            </a:r>
            <a:r>
              <a:rPr lang="en-US" sz="720" b="0">
                <a:solidFill>
                  <a:srgbClr val="94A3B8"/>
                </a:solidFill>
                <a:latin typeface="Consolas"/>
              </a:rPr>
              <a:t>;</a:t>
            </a:r>
            <a:r>
              <a:rPr lang="en-US" sz="720" b="0">
                <a:solidFill>
                  <a:srgbClr val="E2E8F0"/>
                </a:solidFill>
                <a:latin typeface="Consolas"/>
              </a:rPr>
              <a:t>      </a:t>
            </a:r>
            <a:r>
              <a:rPr lang="en-US" sz="720" b="0" i="1">
                <a:solidFill>
                  <a:srgbClr val="6A9955"/>
                </a:solidFill>
                <a:latin typeface="Consolas"/>
              </a:rPr>
              <a:t>// must be line 1</a:t>
            </a:r>
          </a:p>
          <a:p>
            <a:pPr marL="0" indent="0">
              <a:spcAft>
                <a:spcPts val="20"/>
              </a:spcAft>
              <a:buNone/>
            </a:pPr>
            <a:endParaRPr lang="en-US" sz="720" b="0" i="1">
              <a:solidFill>
                <a:srgbClr val="6A9955"/>
              </a:solidFill>
              <a:latin typeface="Consolas"/>
            </a:endParaRPr>
          </a:p>
          <a:p>
            <a:pPr marL="0" indent="0">
              <a:spcAft>
                <a:spcPts val="20"/>
              </a:spcAft>
              <a:buNone/>
            </a:pPr>
            <a:r>
              <a:rPr lang="en-US" sz="720" b="0">
                <a:solidFill>
                  <a:srgbClr val="60A5FA"/>
                </a:solidFill>
                <a:latin typeface="Consolas"/>
              </a:rPr>
              <a:t>public</a:t>
            </a:r>
            <a:r>
              <a:rPr lang="en-US" sz="720" b="0">
                <a:solidFill>
                  <a:srgbClr val="E2E8F0"/>
                </a:solidFill>
                <a:latin typeface="Consolas"/>
              </a:rPr>
              <a:t> </a:t>
            </a:r>
            <a:r>
              <a:rPr lang="en-US" sz="720" b="0">
                <a:solidFill>
                  <a:srgbClr val="60A5FA"/>
                </a:solidFill>
                <a:latin typeface="Consolas"/>
              </a:rPr>
              <a:t>class</a:t>
            </a:r>
            <a:r>
              <a:rPr lang="en-US" sz="720" b="0">
                <a:solidFill>
                  <a:srgbClr val="E2E8F0"/>
                </a:solidFill>
                <a:latin typeface="Consolas"/>
              </a:rPr>
              <a:t> </a:t>
            </a:r>
            <a:r>
              <a:rPr lang="en-US" sz="720" b="0">
                <a:solidFill>
                  <a:srgbClr val="4EC9B0"/>
                </a:solidFill>
                <a:latin typeface="Consolas"/>
              </a:rPr>
              <a:t>Dog</a:t>
            </a: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60A5FA"/>
                </a:solidFill>
                <a:latin typeface="Consolas"/>
              </a:rPr>
              <a:t>private</a:t>
            </a:r>
            <a:r>
              <a:rPr lang="en-US" sz="720" b="0">
                <a:solidFill>
                  <a:srgbClr val="E2E8F0"/>
                </a:solidFill>
                <a:latin typeface="Consolas"/>
              </a:rPr>
              <a:t> </a:t>
            </a:r>
            <a:r>
              <a:rPr lang="en-US" sz="720" b="0">
                <a:solidFill>
                  <a:srgbClr val="4EC9B0"/>
                </a:solidFill>
                <a:latin typeface="Consolas"/>
              </a:rPr>
              <a:t>String</a:t>
            </a:r>
            <a:r>
              <a:rPr lang="en-US" sz="720" b="0">
                <a:solidFill>
                  <a:srgbClr val="E2E8F0"/>
                </a:solidFill>
                <a:latin typeface="Consolas"/>
              </a:rPr>
              <a:t> name</a:t>
            </a:r>
            <a:r>
              <a:rPr lang="en-US" sz="720" b="0">
                <a:solidFill>
                  <a:srgbClr val="94A3B8"/>
                </a:solidFill>
                <a:latin typeface="Consolas"/>
              </a:rPr>
              <a:t>;</a:t>
            </a:r>
          </a:p>
          <a:p>
            <a:pPr marL="0" indent="0">
              <a:spcAft>
                <a:spcPts val="20"/>
              </a:spcAft>
              <a:buNone/>
            </a:pPr>
            <a:endParaRPr lang="en-US" sz="720" b="0">
              <a:solidFill>
                <a:srgbClr val="94A3B8"/>
              </a:solidFill>
              <a:latin typeface="Consolas"/>
            </a:endParaRPr>
          </a:p>
          <a:p>
            <a:pPr marL="0" indent="0">
              <a:spcAft>
                <a:spcPts val="20"/>
              </a:spcAft>
              <a:buNone/>
            </a:pPr>
            <a:r>
              <a:rPr lang="en-US" sz="720" b="0">
                <a:solidFill>
                  <a:srgbClr val="E2E8F0"/>
                </a:solidFill>
                <a:latin typeface="Consolas"/>
              </a:rPr>
              <a:t>    </a:t>
            </a:r>
            <a:r>
              <a:rPr lang="en-US" sz="720" b="0">
                <a:solidFill>
                  <a:srgbClr val="60A5FA"/>
                </a:solidFill>
                <a:latin typeface="Consolas"/>
              </a:rPr>
              <a:t>public</a:t>
            </a:r>
            <a:r>
              <a:rPr lang="en-US" sz="720" b="0">
                <a:solidFill>
                  <a:srgbClr val="E2E8F0"/>
                </a:solidFill>
                <a:latin typeface="Consolas"/>
              </a:rPr>
              <a:t> </a:t>
            </a:r>
            <a:r>
              <a:rPr lang="en-US" sz="720" b="0">
                <a:solidFill>
                  <a:srgbClr val="4EC9B0"/>
                </a:solidFill>
                <a:latin typeface="Consolas"/>
              </a:rPr>
              <a:t>Dog</a:t>
            </a:r>
            <a:r>
              <a:rPr lang="en-US" sz="720" b="0">
                <a:solidFill>
                  <a:srgbClr val="94A3B8"/>
                </a:solidFill>
                <a:latin typeface="Consolas"/>
              </a:rPr>
              <a:t>(</a:t>
            </a:r>
            <a:r>
              <a:rPr lang="en-US" sz="720" b="0">
                <a:solidFill>
                  <a:srgbClr val="4EC9B0"/>
                </a:solidFill>
                <a:latin typeface="Consolas"/>
              </a:rPr>
              <a:t>String</a:t>
            </a:r>
            <a:r>
              <a:rPr lang="en-US" sz="720" b="0">
                <a:solidFill>
                  <a:srgbClr val="E2E8F0"/>
                </a:solidFill>
                <a:latin typeface="Consolas"/>
              </a:rPr>
              <a:t> name</a:t>
            </a:r>
            <a:r>
              <a:rPr lang="en-US" sz="720" b="0">
                <a:solidFill>
                  <a:srgbClr val="94A3B8"/>
                </a:solidFill>
                <a:latin typeface="Consolas"/>
              </a:rPr>
              <a:t>)</a:t>
            </a: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this.name </a:t>
            </a:r>
            <a:r>
              <a:rPr lang="en-US" sz="720" b="0">
                <a:solidFill>
                  <a:srgbClr val="94A3B8"/>
                </a:solidFill>
                <a:latin typeface="Consolas"/>
              </a:rPr>
              <a:t>=</a:t>
            </a:r>
            <a:r>
              <a:rPr lang="en-US" sz="720" b="0">
                <a:solidFill>
                  <a:srgbClr val="E2E8F0"/>
                </a:solidFill>
                <a:latin typeface="Consolas"/>
              </a:rPr>
              <a:t> name</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60A5FA"/>
                </a:solidFill>
                <a:latin typeface="Consolas"/>
              </a:rPr>
              <a:t>public</a:t>
            </a:r>
            <a:r>
              <a:rPr lang="en-US" sz="720" b="0">
                <a:solidFill>
                  <a:srgbClr val="E2E8F0"/>
                </a:solidFill>
                <a:latin typeface="Consolas"/>
              </a:rPr>
              <a:t> </a:t>
            </a:r>
            <a:r>
              <a:rPr lang="en-US" sz="720" b="0">
                <a:solidFill>
                  <a:srgbClr val="4EC9B0"/>
                </a:solidFill>
                <a:latin typeface="Consolas"/>
              </a:rPr>
              <a:t>String</a:t>
            </a:r>
            <a:r>
              <a:rPr lang="en-US" sz="720" b="0">
                <a:solidFill>
                  <a:srgbClr val="E2E8F0"/>
                </a:solidFill>
                <a:latin typeface="Consolas"/>
              </a:rPr>
              <a:t> </a:t>
            </a:r>
            <a:r>
              <a:rPr lang="en-US" sz="720" b="0">
                <a:solidFill>
                  <a:srgbClr val="DCDCAA"/>
                </a:solidFill>
                <a:latin typeface="Consolas"/>
              </a:rPr>
              <a:t>getName</a:t>
            </a:r>
            <a:r>
              <a:rPr lang="en-US" sz="720" b="0">
                <a:solidFill>
                  <a:srgbClr val="94A3B8"/>
                </a:solidFill>
                <a:latin typeface="Consolas"/>
              </a:rPr>
              <a:t>()</a:t>
            </a: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60A5FA"/>
                </a:solidFill>
                <a:latin typeface="Consolas"/>
              </a:rPr>
              <a:t>return</a:t>
            </a:r>
            <a:r>
              <a:rPr lang="en-US" sz="720" b="0">
                <a:solidFill>
                  <a:srgbClr val="E2E8F0"/>
                </a:solidFill>
                <a:latin typeface="Consolas"/>
              </a:rPr>
              <a:t> name</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94A3B8"/>
                </a:solidFill>
                <a:latin typeface="Consolas"/>
              </a:rPr>
              <a:t>}</a:t>
            </a:r>
          </a:p>
        </p:txBody>
      </p:sp>
      <p:sp>
        <p:nvSpPr>
          <p:cNvPr id="15" name="rk"/>
          <p:cNvSpPr/>
          <p:nvPr/>
        </p:nvSpPr>
        <p:spPr>
          <a:xfrm>
            <a:off x="311700" y="3510000"/>
            <a:ext cx="4080000" cy="690000"/>
          </a:xfrm>
          <a:prstGeom prst="roundRect">
            <a:avLst>
              <a:gd name="adj" fmla="val 6000"/>
            </a:avLst>
          </a:prstGeom>
          <a:solidFill>
            <a:srgbClr val="F1F5F9"/>
          </a:solidFill>
          <a:ln w="9525">
            <a:solidFill>
              <a:srgbClr val="334155">
                <a:alpha val="25000"/>
              </a:srgbClr>
            </a:solidFill>
          </a:ln>
          <a:effectLst>
            <a:outerShdw blurRad="90000" dist="38000" dir="5400000" rotWithShape="0">
              <a:srgbClr val="1E3A8A">
                <a:alpha val="16000"/>
              </a:srgbClr>
            </a:outerShdw>
          </a:effectLst>
        </p:spPr>
        <p:txBody>
          <a:bodyPr/>
          <a:lstStyle/>
          <a:p>
            <a:endParaRPr/>
          </a:p>
        </p:txBody>
      </p:sp>
      <p:sp>
        <p:nvSpPr>
          <p:cNvPr id="16" name="rkt"/>
          <p:cNvSpPr txBox="1"/>
          <p:nvPr/>
        </p:nvSpPr>
        <p:spPr>
          <a:xfrm>
            <a:off x="491700" y="3630000"/>
            <a:ext cx="3760000" cy="470000"/>
          </a:xfrm>
          <a:prstGeom prst="rect">
            <a:avLst/>
          </a:prstGeom>
          <a:noFill/>
        </p:spPr>
        <p:txBody>
          <a:bodyPr wrap="square" lIns="0" tIns="0" rIns="0" bIns="0" anchor="ctr">
            <a:noAutofit/>
          </a:bodyPr>
          <a:lstStyle/>
          <a:p>
            <a:pPr marL="160000" indent="-160000">
              <a:spcAft>
                <a:spcPts val="140"/>
              </a:spcAft>
              <a:buNone/>
            </a:pPr>
            <a:r>
              <a:rPr lang="en-US" sz="900" b="1">
                <a:solidFill>
                  <a:srgbClr val="2563EB"/>
                </a:solidFill>
                <a:latin typeface="Roboto"/>
              </a:rPr>
              <a:t>·  </a:t>
            </a:r>
            <a:r>
              <a:rPr lang="en-US" sz="850" b="0">
                <a:solidFill>
                  <a:srgbClr val="334155"/>
                </a:solidFill>
                <a:latin typeface="Roboto"/>
              </a:rPr>
              <a:t>Must be the </a:t>
            </a:r>
            <a:r>
              <a:rPr lang="en-US" sz="850" b="1">
                <a:solidFill>
                  <a:srgbClr val="334155"/>
                </a:solidFill>
                <a:latin typeface="Roboto"/>
              </a:rPr>
              <a:t>first</a:t>
            </a:r>
            <a:r>
              <a:rPr lang="en-US" sz="850" b="0">
                <a:solidFill>
                  <a:srgbClr val="334155"/>
                </a:solidFill>
                <a:latin typeface="Roboto"/>
              </a:rPr>
              <a:t> non-comment, non-blank line</a:t>
            </a:r>
          </a:p>
          <a:p>
            <a:pPr marL="160000" indent="-160000">
              <a:spcAft>
                <a:spcPts val="140"/>
              </a:spcAft>
              <a:buNone/>
            </a:pPr>
            <a:r>
              <a:rPr lang="en-US" sz="900" b="1">
                <a:solidFill>
                  <a:srgbClr val="2563EB"/>
                </a:solidFill>
                <a:latin typeface="Roboto"/>
              </a:rPr>
              <a:t>·  </a:t>
            </a:r>
            <a:r>
              <a:rPr lang="en-US" sz="850" b="0">
                <a:solidFill>
                  <a:srgbClr val="334155"/>
                </a:solidFill>
                <a:latin typeface="Roboto"/>
              </a:rPr>
              <a:t>Use </a:t>
            </a:r>
            <a:r>
              <a:rPr lang="en-US" sz="850" b="1">
                <a:solidFill>
                  <a:srgbClr val="334155"/>
                </a:solidFill>
                <a:latin typeface="Roboto"/>
              </a:rPr>
              <a:t>lowercase</a:t>
            </a:r>
            <a:r>
              <a:rPr lang="en-US" sz="850" b="0">
                <a:solidFill>
                  <a:srgbClr val="334155"/>
                </a:solidFill>
                <a:latin typeface="Roboto"/>
              </a:rPr>
              <a:t> naming: </a:t>
            </a:r>
            <a:r>
              <a:rPr lang="en-US" sz="850" b="0">
                <a:solidFill>
                  <a:srgbClr val="0E7490"/>
                </a:solidFill>
                <a:latin typeface="Consolas"/>
              </a:rPr>
              <a:t>animals</a:t>
            </a:r>
            <a:r>
              <a:rPr lang="en-US" sz="850" b="0">
                <a:solidFill>
                  <a:srgbClr val="334155"/>
                </a:solidFill>
                <a:latin typeface="Roboto"/>
              </a:rPr>
              <a:t>, not </a:t>
            </a:r>
            <a:r>
              <a:rPr lang="en-US" sz="850" b="0">
                <a:solidFill>
                  <a:srgbClr val="64748B"/>
                </a:solidFill>
                <a:latin typeface="Consolas"/>
              </a:rPr>
              <a:t>Animals</a:t>
            </a:r>
          </a:p>
          <a:p>
            <a:pPr marL="160000" indent="-160000">
              <a:spcAft>
                <a:spcPts val="140"/>
              </a:spcAft>
              <a:buNone/>
            </a:pPr>
            <a:r>
              <a:rPr lang="en-US" sz="900" b="1">
                <a:solidFill>
                  <a:srgbClr val="2563EB"/>
                </a:solidFill>
                <a:latin typeface="Roboto"/>
              </a:rPr>
              <a:t>·  </a:t>
            </a:r>
            <a:r>
              <a:rPr lang="en-US" sz="850" b="0">
                <a:solidFill>
                  <a:srgbClr val="334155"/>
                </a:solidFill>
                <a:latin typeface="Roboto"/>
              </a:rPr>
              <a:t>Reverse-domain for large projects: </a:t>
            </a:r>
            <a:r>
              <a:rPr lang="en-US" sz="850" b="0">
                <a:solidFill>
                  <a:srgbClr val="0E7490"/>
                </a:solidFill>
                <a:latin typeface="Consolas"/>
              </a:rPr>
              <a:t>edu.carrollu.cs226.animals</a:t>
            </a:r>
          </a:p>
        </p:txBody>
      </p:sp>
      <p:sp>
        <p:nvSpPr>
          <p:cNvPr id="17" name="rlab"/>
          <p:cNvSpPr txBox="1"/>
          <p:nvPr/>
        </p:nvSpPr>
        <p:spPr>
          <a:xfrm>
            <a:off x="4752300" y="1540000"/>
            <a:ext cx="4080000" cy="230000"/>
          </a:xfrm>
          <a:prstGeom prst="rect">
            <a:avLst/>
          </a:prstGeom>
          <a:noFill/>
        </p:spPr>
        <p:txBody>
          <a:bodyPr wrap="square" lIns="0" tIns="0" rIns="0" bIns="0" anchor="t">
            <a:noAutofit/>
          </a:bodyPr>
          <a:lstStyle/>
          <a:p>
            <a:pPr marL="0" indent="0">
              <a:spcAft>
                <a:spcPts val="0"/>
              </a:spcAft>
              <a:buNone/>
            </a:pPr>
            <a:r>
              <a:rPr lang="en-US" sz="900" b="1" spc="150">
                <a:solidFill>
                  <a:srgbClr val="7C3AED"/>
                </a:solidFill>
                <a:latin typeface="Roboto"/>
              </a:rPr>
              <a:t>IMPORTING A PACKAGE</a:t>
            </a:r>
          </a:p>
        </p:txBody>
      </p:sp>
      <p:sp>
        <p:nvSpPr>
          <p:cNvPr id="18" name="CP18"/>
          <p:cNvSpPr/>
          <p:nvPr/>
        </p:nvSpPr>
        <p:spPr>
          <a:xfrm>
            <a:off x="4752300" y="1790000"/>
            <a:ext cx="4080000" cy="1370000"/>
          </a:xfrm>
          <a:prstGeom prst="roundRect">
            <a:avLst>
              <a:gd name="adj" fmla="val 5000"/>
            </a:avLst>
          </a:prstGeom>
          <a:solidFill>
            <a:srgbClr val="1E293B"/>
          </a:solidFill>
          <a:ln w="9525">
            <a:solidFill>
              <a:srgbClr val="334155"/>
            </a:solidFill>
          </a:ln>
        </p:spPr>
        <p:txBody>
          <a:bodyPr/>
          <a:lstStyle/>
          <a:p>
            <a:endParaRPr/>
          </a:p>
        </p:txBody>
      </p:sp>
      <p:sp>
        <p:nvSpPr>
          <p:cNvPr id="19" name="CL19"/>
          <p:cNvSpPr txBox="1"/>
          <p:nvPr/>
        </p:nvSpPr>
        <p:spPr>
          <a:xfrm>
            <a:off x="4902300" y="1860000"/>
            <a:ext cx="3780000" cy="240000"/>
          </a:xfrm>
          <a:prstGeom prst="rect">
            <a:avLst/>
          </a:prstGeom>
          <a:noFill/>
        </p:spPr>
        <p:txBody>
          <a:bodyPr wrap="square" lIns="0" tIns="0" rIns="0" bIns="0" anchor="t">
            <a:noAutofit/>
          </a:bodyPr>
          <a:lstStyle/>
          <a:p>
            <a:pPr marL="0" indent="0">
              <a:spcAft>
                <a:spcPts val="0"/>
              </a:spcAft>
              <a:buNone/>
            </a:pPr>
            <a:r>
              <a:rPr lang="en-US" sz="950" b="1">
                <a:solidFill>
                  <a:srgbClr val="7C3AED"/>
                </a:solidFill>
                <a:latin typeface="Roboto"/>
              </a:rPr>
              <a:t>Main.java</a:t>
            </a:r>
          </a:p>
        </p:txBody>
      </p:sp>
      <p:sp>
        <p:nvSpPr>
          <p:cNvPr id="20" name="CD20"/>
          <p:cNvSpPr txBox="1"/>
          <p:nvPr/>
        </p:nvSpPr>
        <p:spPr>
          <a:xfrm>
            <a:off x="4932300" y="2150000"/>
            <a:ext cx="3750000" cy="950000"/>
          </a:xfrm>
          <a:prstGeom prst="rect">
            <a:avLst/>
          </a:prstGeom>
          <a:noFill/>
        </p:spPr>
        <p:txBody>
          <a:bodyPr wrap="square" lIns="0" tIns="0" rIns="0" bIns="0" anchor="t">
            <a:noAutofit/>
          </a:bodyPr>
          <a:lstStyle/>
          <a:p>
            <a:pPr marL="0" indent="0">
              <a:spcAft>
                <a:spcPts val="20"/>
              </a:spcAft>
              <a:buNone/>
            </a:pPr>
            <a:r>
              <a:rPr lang="en-US" sz="720" b="0">
                <a:solidFill>
                  <a:srgbClr val="60A5FA"/>
                </a:solidFill>
                <a:latin typeface="Consolas"/>
              </a:rPr>
              <a:t>import</a:t>
            </a:r>
            <a:r>
              <a:rPr lang="en-US" sz="720" b="0">
                <a:solidFill>
                  <a:srgbClr val="E2E8F0"/>
                </a:solidFill>
                <a:latin typeface="Consolas"/>
              </a:rPr>
              <a:t> animals.Dog</a:t>
            </a:r>
            <a:r>
              <a:rPr lang="en-US" sz="720" b="0">
                <a:solidFill>
                  <a:srgbClr val="94A3B8"/>
                </a:solidFill>
                <a:latin typeface="Consolas"/>
              </a:rPr>
              <a:t>;</a:t>
            </a:r>
            <a:r>
              <a:rPr lang="en-US" sz="720" b="0">
                <a:solidFill>
                  <a:srgbClr val="E2E8F0"/>
                </a:solidFill>
                <a:latin typeface="Consolas"/>
              </a:rPr>
              <a:t>   </a:t>
            </a:r>
            <a:r>
              <a:rPr lang="en-US" sz="720" b="0" i="1">
                <a:solidFill>
                  <a:srgbClr val="6A9955"/>
                </a:solidFill>
                <a:latin typeface="Consolas"/>
              </a:rPr>
              <a:t>// specific class</a:t>
            </a:r>
          </a:p>
          <a:p>
            <a:pPr marL="0" indent="0">
              <a:spcAft>
                <a:spcPts val="20"/>
              </a:spcAft>
              <a:buNone/>
            </a:pPr>
            <a:r>
              <a:rPr lang="en-US" sz="720" b="0">
                <a:solidFill>
                  <a:srgbClr val="60A5FA"/>
                </a:solidFill>
                <a:latin typeface="Consolas"/>
              </a:rPr>
              <a:t>import</a:t>
            </a:r>
            <a:r>
              <a:rPr lang="en-US" sz="720" b="0">
                <a:solidFill>
                  <a:srgbClr val="E2E8F0"/>
                </a:solidFill>
                <a:latin typeface="Consolas"/>
              </a:rPr>
              <a:t> animals.</a:t>
            </a:r>
            <a:r>
              <a:rPr lang="en-US" sz="720" b="0">
                <a:solidFill>
                  <a:srgbClr val="94A3B8"/>
                </a:solidFill>
                <a:latin typeface="Consolas"/>
              </a:rPr>
              <a:t>*;</a:t>
            </a:r>
            <a:r>
              <a:rPr lang="en-US" sz="720" b="0">
                <a:solidFill>
                  <a:srgbClr val="E2E8F0"/>
                </a:solidFill>
                <a:latin typeface="Consolas"/>
              </a:rPr>
              <a:t>     </a:t>
            </a:r>
            <a:r>
              <a:rPr lang="en-US" sz="720" b="0" i="1">
                <a:solidFill>
                  <a:srgbClr val="6A9955"/>
                </a:solidFill>
                <a:latin typeface="Consolas"/>
              </a:rPr>
              <a:t>// entire package</a:t>
            </a:r>
          </a:p>
          <a:p>
            <a:pPr marL="0" indent="0">
              <a:spcAft>
                <a:spcPts val="20"/>
              </a:spcAft>
              <a:buNone/>
            </a:pPr>
            <a:endParaRPr lang="en-US" sz="720" b="0" i="1">
              <a:solidFill>
                <a:srgbClr val="6A9955"/>
              </a:solidFill>
              <a:latin typeface="Consolas"/>
            </a:endParaRPr>
          </a:p>
          <a:p>
            <a:pPr marL="0" indent="0">
              <a:spcAft>
                <a:spcPts val="20"/>
              </a:spcAft>
              <a:buNone/>
            </a:pPr>
            <a:r>
              <a:rPr lang="en-US" sz="720" b="0">
                <a:solidFill>
                  <a:srgbClr val="60A5FA"/>
                </a:solidFill>
                <a:latin typeface="Consolas"/>
              </a:rPr>
              <a:t>public</a:t>
            </a:r>
            <a:r>
              <a:rPr lang="en-US" sz="720" b="0">
                <a:solidFill>
                  <a:srgbClr val="E2E8F0"/>
                </a:solidFill>
                <a:latin typeface="Consolas"/>
              </a:rPr>
              <a:t> </a:t>
            </a:r>
            <a:r>
              <a:rPr lang="en-US" sz="720" b="0">
                <a:solidFill>
                  <a:srgbClr val="60A5FA"/>
                </a:solidFill>
                <a:latin typeface="Consolas"/>
              </a:rPr>
              <a:t>class</a:t>
            </a:r>
            <a:r>
              <a:rPr lang="en-US" sz="720" b="0">
                <a:solidFill>
                  <a:srgbClr val="E2E8F0"/>
                </a:solidFill>
                <a:latin typeface="Consolas"/>
              </a:rPr>
              <a:t> </a:t>
            </a:r>
            <a:r>
              <a:rPr lang="en-US" sz="720" b="0">
                <a:solidFill>
                  <a:srgbClr val="4EC9B0"/>
                </a:solidFill>
                <a:latin typeface="Consolas"/>
              </a:rPr>
              <a:t>Main</a:t>
            </a: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60A5FA"/>
                </a:solidFill>
                <a:latin typeface="Consolas"/>
              </a:rPr>
              <a:t>public</a:t>
            </a:r>
            <a:r>
              <a:rPr lang="en-US" sz="720" b="0">
                <a:solidFill>
                  <a:srgbClr val="E2E8F0"/>
                </a:solidFill>
                <a:latin typeface="Consolas"/>
              </a:rPr>
              <a:t> </a:t>
            </a:r>
            <a:r>
              <a:rPr lang="en-US" sz="720" b="0">
                <a:solidFill>
                  <a:srgbClr val="60A5FA"/>
                </a:solidFill>
                <a:latin typeface="Consolas"/>
              </a:rPr>
              <a:t>static</a:t>
            </a:r>
            <a:r>
              <a:rPr lang="en-US" sz="720" b="0">
                <a:solidFill>
                  <a:srgbClr val="E2E8F0"/>
                </a:solidFill>
                <a:latin typeface="Consolas"/>
              </a:rPr>
              <a:t> </a:t>
            </a:r>
            <a:r>
              <a:rPr lang="en-US" sz="720" b="0">
                <a:solidFill>
                  <a:srgbClr val="60A5FA"/>
                </a:solidFill>
                <a:latin typeface="Consolas"/>
              </a:rPr>
              <a:t>void</a:t>
            </a:r>
            <a:r>
              <a:rPr lang="en-US" sz="720" b="0">
                <a:solidFill>
                  <a:srgbClr val="E2E8F0"/>
                </a:solidFill>
                <a:latin typeface="Consolas"/>
              </a:rPr>
              <a:t> </a:t>
            </a:r>
            <a:r>
              <a:rPr lang="en-US" sz="720" b="0">
                <a:solidFill>
                  <a:srgbClr val="DCDCAA"/>
                </a:solidFill>
                <a:latin typeface="Consolas"/>
              </a:rPr>
              <a:t>main</a:t>
            </a:r>
            <a:r>
              <a:rPr lang="en-US" sz="720" b="0">
                <a:solidFill>
                  <a:srgbClr val="94A3B8"/>
                </a:solidFill>
                <a:latin typeface="Consolas"/>
              </a:rPr>
              <a:t>(</a:t>
            </a:r>
            <a:r>
              <a:rPr lang="en-US" sz="720" b="0">
                <a:solidFill>
                  <a:srgbClr val="4EC9B0"/>
                </a:solidFill>
                <a:latin typeface="Consolas"/>
              </a:rPr>
              <a:t>String</a:t>
            </a:r>
            <a:r>
              <a:rPr lang="en-US" sz="720" b="0">
                <a:solidFill>
                  <a:srgbClr val="94A3B8"/>
                </a:solidFill>
                <a:latin typeface="Consolas"/>
              </a:rPr>
              <a:t>[]</a:t>
            </a:r>
            <a:r>
              <a:rPr lang="en-US" sz="720" b="0">
                <a:solidFill>
                  <a:srgbClr val="E2E8F0"/>
                </a:solidFill>
                <a:latin typeface="Consolas"/>
              </a:rPr>
              <a:t> a</a:t>
            </a:r>
            <a:r>
              <a:rPr lang="en-US" sz="720" b="0">
                <a:solidFill>
                  <a:srgbClr val="94A3B8"/>
                </a:solidFill>
                <a:latin typeface="Consolas"/>
              </a:rPr>
              <a:t>)</a:t>
            </a: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4EC9B0"/>
                </a:solidFill>
                <a:latin typeface="Consolas"/>
              </a:rPr>
              <a:t>Dog</a:t>
            </a:r>
            <a:r>
              <a:rPr lang="en-US" sz="720" b="0">
                <a:solidFill>
                  <a:srgbClr val="E2E8F0"/>
                </a:solidFill>
                <a:latin typeface="Consolas"/>
              </a:rPr>
              <a:t> rex </a:t>
            </a:r>
            <a:r>
              <a:rPr lang="en-US" sz="720" b="0">
                <a:solidFill>
                  <a:srgbClr val="94A3B8"/>
                </a:solidFill>
                <a:latin typeface="Consolas"/>
              </a:rPr>
              <a:t>=</a:t>
            </a:r>
            <a:r>
              <a:rPr lang="en-US" sz="720" b="0">
                <a:solidFill>
                  <a:srgbClr val="E2E8F0"/>
                </a:solidFill>
                <a:latin typeface="Consolas"/>
              </a:rPr>
              <a:t> </a:t>
            </a:r>
            <a:r>
              <a:rPr lang="en-US" sz="720" b="0">
                <a:solidFill>
                  <a:srgbClr val="60A5FA"/>
                </a:solidFill>
                <a:latin typeface="Consolas"/>
              </a:rPr>
              <a:t>new</a:t>
            </a:r>
            <a:r>
              <a:rPr lang="en-US" sz="720" b="0">
                <a:solidFill>
                  <a:srgbClr val="E2E8F0"/>
                </a:solidFill>
                <a:latin typeface="Consolas"/>
              </a:rPr>
              <a:t> </a:t>
            </a:r>
            <a:r>
              <a:rPr lang="en-US" sz="720" b="0">
                <a:solidFill>
                  <a:srgbClr val="4EC9B0"/>
                </a:solidFill>
                <a:latin typeface="Consolas"/>
              </a:rPr>
              <a:t>Dog</a:t>
            </a:r>
            <a:r>
              <a:rPr lang="en-US" sz="720" b="0">
                <a:solidFill>
                  <a:srgbClr val="94A3B8"/>
                </a:solidFill>
                <a:latin typeface="Consolas"/>
              </a:rPr>
              <a:t>(</a:t>
            </a:r>
            <a:r>
              <a:rPr lang="en-US" sz="720" b="0">
                <a:solidFill>
                  <a:srgbClr val="CE9178"/>
                </a:solidFill>
                <a:latin typeface="Consolas"/>
              </a:rPr>
              <a:t>"Rex"</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4EC9B0"/>
                </a:solidFill>
                <a:latin typeface="Consolas"/>
              </a:rPr>
              <a:t>System.out.println</a:t>
            </a:r>
            <a:r>
              <a:rPr lang="en-US" sz="720" b="0">
                <a:solidFill>
                  <a:srgbClr val="94A3B8"/>
                </a:solidFill>
                <a:latin typeface="Consolas"/>
              </a:rPr>
              <a:t>(</a:t>
            </a:r>
            <a:r>
              <a:rPr lang="en-US" sz="720" b="0">
                <a:solidFill>
                  <a:srgbClr val="DCDCAA"/>
                </a:solidFill>
                <a:latin typeface="Consolas"/>
              </a:rPr>
              <a:t>rex.getName</a:t>
            </a:r>
            <a:r>
              <a:rPr lang="en-US" sz="720" b="0">
                <a:solidFill>
                  <a:srgbClr val="94A3B8"/>
                </a:solidFill>
                <a:latin typeface="Consolas"/>
              </a:rPr>
              <a:t>());</a:t>
            </a:r>
          </a:p>
          <a:p>
            <a:pPr marL="0" indent="0">
              <a:spcAft>
                <a:spcPts val="20"/>
              </a:spcAft>
              <a:buNone/>
            </a:pPr>
            <a:r>
              <a:rPr lang="en-US" sz="720" b="0">
                <a:solidFill>
                  <a:srgbClr val="E2E8F0"/>
                </a:solidFill>
                <a:latin typeface="Consolas"/>
              </a:rPr>
              <a:t>    </a:t>
            </a:r>
            <a:r>
              <a:rPr lang="en-US" sz="720" b="0">
                <a:solidFill>
                  <a:srgbClr val="94A3B8"/>
                </a:solidFill>
                <a:latin typeface="Consolas"/>
              </a:rPr>
              <a:t>}</a:t>
            </a:r>
          </a:p>
          <a:p>
            <a:pPr marL="0" indent="0">
              <a:spcAft>
                <a:spcPts val="20"/>
              </a:spcAft>
              <a:buNone/>
            </a:pPr>
            <a:r>
              <a:rPr lang="en-US" sz="720" b="0">
                <a:solidFill>
                  <a:srgbClr val="94A3B8"/>
                </a:solidFill>
                <a:latin typeface="Consolas"/>
              </a:rPr>
              <a:t>}</a:t>
            </a:r>
          </a:p>
        </p:txBody>
      </p:sp>
      <p:sp>
        <p:nvSpPr>
          <p:cNvPr id="21" name="cc"/>
          <p:cNvSpPr/>
          <p:nvPr/>
        </p:nvSpPr>
        <p:spPr>
          <a:xfrm>
            <a:off x="4752300" y="3230000"/>
            <a:ext cx="4080000" cy="470000"/>
          </a:xfrm>
          <a:prstGeom prst="roundRect">
            <a:avLst>
              <a:gd name="adj" fmla="val 6000"/>
            </a:avLst>
          </a:prstGeom>
          <a:solidFill>
            <a:srgbClr val="EFF6FF"/>
          </a:solidFill>
          <a:ln w="9525">
            <a:solidFill>
              <a:srgbClr val="2563EB">
                <a:alpha val="35000"/>
              </a:srgbClr>
            </a:solidFill>
          </a:ln>
          <a:effectLst>
            <a:outerShdw blurRad="90000" dist="38000" dir="5400000" rotWithShape="0">
              <a:srgbClr val="1E3A8A">
                <a:alpha val="16000"/>
              </a:srgbClr>
            </a:outerShdw>
          </a:effectLst>
        </p:spPr>
        <p:txBody>
          <a:bodyPr/>
          <a:lstStyle/>
          <a:p>
            <a:endParaRPr/>
          </a:p>
        </p:txBody>
      </p:sp>
      <p:sp>
        <p:nvSpPr>
          <p:cNvPr id="22" name="ccs"/>
          <p:cNvSpPr/>
          <p:nvPr/>
        </p:nvSpPr>
        <p:spPr>
          <a:xfrm>
            <a:off x="4752300" y="3230000"/>
            <a:ext cx="90000" cy="470000"/>
          </a:xfrm>
          <a:prstGeom prst="roundRect">
            <a:avLst>
              <a:gd name="adj" fmla="val 40000"/>
            </a:avLst>
          </a:prstGeom>
          <a:solidFill>
            <a:srgbClr val="2563EB"/>
          </a:solidFill>
          <a:ln>
            <a:noFill/>
          </a:ln>
        </p:spPr>
        <p:txBody>
          <a:bodyPr/>
          <a:lstStyle/>
          <a:p>
            <a:endParaRPr/>
          </a:p>
        </p:txBody>
      </p:sp>
      <p:sp>
        <p:nvSpPr>
          <p:cNvPr id="23" name="cct"/>
          <p:cNvSpPr txBox="1"/>
          <p:nvPr/>
        </p:nvSpPr>
        <p:spPr>
          <a:xfrm>
            <a:off x="4932300" y="3320000"/>
            <a:ext cx="3800000" cy="310000"/>
          </a:xfrm>
          <a:prstGeom prst="rect">
            <a:avLst/>
          </a:prstGeom>
          <a:noFill/>
        </p:spPr>
        <p:txBody>
          <a:bodyPr wrap="square" lIns="0" tIns="0" rIns="0" bIns="0" anchor="ctr">
            <a:noAutofit/>
          </a:bodyPr>
          <a:lstStyle/>
          <a:p>
            <a:pPr marL="0" indent="0">
              <a:spcAft>
                <a:spcPts val="90"/>
              </a:spcAft>
              <a:buNone/>
            </a:pPr>
            <a:r>
              <a:rPr lang="en-US" sz="1000" b="1">
                <a:solidFill>
                  <a:srgbClr val="2563EB"/>
                </a:solidFill>
                <a:latin typeface="Consolas"/>
              </a:rPr>
              <a:t>animals.Dog</a:t>
            </a:r>
          </a:p>
          <a:p>
            <a:pPr marL="0" indent="0">
              <a:spcAft>
                <a:spcPts val="40"/>
              </a:spcAft>
              <a:buNone/>
            </a:pPr>
            <a:r>
              <a:rPr lang="en-US" sz="850" b="0">
                <a:solidFill>
                  <a:srgbClr val="334155"/>
                </a:solidFill>
                <a:latin typeface="Roboto"/>
              </a:rPr>
              <a:t>Imports </a:t>
            </a:r>
            <a:r>
              <a:rPr lang="en-US" sz="850" b="1">
                <a:solidFill>
                  <a:srgbClr val="334155"/>
                </a:solidFill>
                <a:latin typeface="Roboto"/>
              </a:rPr>
              <a:t>exactly one class</a:t>
            </a:r>
            <a:r>
              <a:rPr lang="en-US" sz="850" b="0">
                <a:solidFill>
                  <a:srgbClr val="334155"/>
                </a:solidFill>
                <a:latin typeface="Roboto"/>
              </a:rPr>
              <a:t>.  </a:t>
            </a:r>
            <a:r>
              <a:rPr lang="en-US" sz="850" b="1">
                <a:solidFill>
                  <a:srgbClr val="2563EB"/>
                </a:solidFill>
                <a:latin typeface="Roboto"/>
              </a:rPr>
              <a:t>Preferred — explicit.</a:t>
            </a:r>
          </a:p>
        </p:txBody>
      </p:sp>
      <p:sp>
        <p:nvSpPr>
          <p:cNvPr id="24" name="cc"/>
          <p:cNvSpPr/>
          <p:nvPr/>
        </p:nvSpPr>
        <p:spPr>
          <a:xfrm>
            <a:off x="4752300" y="3730000"/>
            <a:ext cx="4080000" cy="470000"/>
          </a:xfrm>
          <a:prstGeom prst="roundRect">
            <a:avLst>
              <a:gd name="adj" fmla="val 6000"/>
            </a:avLst>
          </a:prstGeom>
          <a:solidFill>
            <a:srgbClr val="FFF7ED"/>
          </a:solidFill>
          <a:ln w="9525">
            <a:solidFill>
              <a:srgbClr val="EA580C">
                <a:alpha val="35000"/>
              </a:srgbClr>
            </a:solidFill>
          </a:ln>
          <a:effectLst>
            <a:outerShdw blurRad="90000" dist="38000" dir="5400000" rotWithShape="0">
              <a:srgbClr val="1E3A8A">
                <a:alpha val="16000"/>
              </a:srgbClr>
            </a:outerShdw>
          </a:effectLst>
        </p:spPr>
        <p:txBody>
          <a:bodyPr/>
          <a:lstStyle/>
          <a:p>
            <a:endParaRPr/>
          </a:p>
        </p:txBody>
      </p:sp>
      <p:sp>
        <p:nvSpPr>
          <p:cNvPr id="25" name="ccs"/>
          <p:cNvSpPr/>
          <p:nvPr/>
        </p:nvSpPr>
        <p:spPr>
          <a:xfrm>
            <a:off x="4752300" y="3730000"/>
            <a:ext cx="90000" cy="470000"/>
          </a:xfrm>
          <a:prstGeom prst="roundRect">
            <a:avLst>
              <a:gd name="adj" fmla="val 40000"/>
            </a:avLst>
          </a:prstGeom>
          <a:solidFill>
            <a:srgbClr val="EA580C"/>
          </a:solidFill>
          <a:ln>
            <a:noFill/>
          </a:ln>
        </p:spPr>
        <p:txBody>
          <a:bodyPr/>
          <a:lstStyle/>
          <a:p>
            <a:endParaRPr/>
          </a:p>
        </p:txBody>
      </p:sp>
      <p:sp>
        <p:nvSpPr>
          <p:cNvPr id="26" name="cct"/>
          <p:cNvSpPr txBox="1"/>
          <p:nvPr/>
        </p:nvSpPr>
        <p:spPr>
          <a:xfrm>
            <a:off x="4932300" y="3820000"/>
            <a:ext cx="3800000" cy="310000"/>
          </a:xfrm>
          <a:prstGeom prst="rect">
            <a:avLst/>
          </a:prstGeom>
          <a:noFill/>
        </p:spPr>
        <p:txBody>
          <a:bodyPr wrap="square" lIns="0" tIns="0" rIns="0" bIns="0" anchor="ctr">
            <a:noAutofit/>
          </a:bodyPr>
          <a:lstStyle/>
          <a:p>
            <a:pPr marL="0" indent="0">
              <a:spcAft>
                <a:spcPts val="90"/>
              </a:spcAft>
              <a:buNone/>
            </a:pPr>
            <a:r>
              <a:rPr lang="en-US" sz="1000" b="1">
                <a:solidFill>
                  <a:srgbClr val="EA580C"/>
                </a:solidFill>
                <a:latin typeface="Consolas"/>
              </a:rPr>
              <a:t>animals.*</a:t>
            </a:r>
          </a:p>
          <a:p>
            <a:pPr marL="0" indent="0">
              <a:spcAft>
                <a:spcPts val="40"/>
              </a:spcAft>
              <a:buNone/>
            </a:pPr>
            <a:r>
              <a:rPr lang="en-US" sz="850" b="0">
                <a:solidFill>
                  <a:srgbClr val="334155"/>
                </a:solidFill>
                <a:latin typeface="Roboto"/>
              </a:rPr>
              <a:t>Wildcard — </a:t>
            </a:r>
            <a:r>
              <a:rPr lang="en-US" sz="850" b="1">
                <a:solidFill>
                  <a:srgbClr val="334155"/>
                </a:solidFill>
                <a:latin typeface="Roboto"/>
              </a:rPr>
              <a:t>imports every class</a:t>
            </a:r>
            <a:r>
              <a:rPr lang="en-US" sz="850" b="0">
                <a:solidFill>
                  <a:srgbClr val="334155"/>
                </a:solidFill>
                <a:latin typeface="Roboto"/>
              </a:rPr>
              <a:t>. Hides what you use.</a:t>
            </a:r>
          </a:p>
        </p:txBody>
      </p:sp>
      <p:sp>
        <p:nvSpPr>
          <p:cNvPr id="27" name="CO27"/>
          <p:cNvSpPr/>
          <p:nvPr/>
        </p:nvSpPr>
        <p:spPr>
          <a:xfrm>
            <a:off x="311700" y="4300000"/>
            <a:ext cx="8520600" cy="340000"/>
          </a:xfrm>
          <a:prstGeom prst="roundRect">
            <a:avLst>
              <a:gd name="adj" fmla="val 22000"/>
            </a:avLst>
          </a:prstGeom>
          <a:solidFill>
            <a:srgbClr val="F59E0B">
              <a:alpha val="12000"/>
            </a:srgbClr>
          </a:solidFill>
          <a:ln>
            <a:noFill/>
          </a:ln>
        </p:spPr>
        <p:txBody>
          <a:bodyPr/>
          <a:lstStyle/>
          <a:p>
            <a:endParaRPr/>
          </a:p>
        </p:txBody>
      </p:sp>
      <p:sp>
        <p:nvSpPr>
          <p:cNvPr id="28" name="COT27"/>
          <p:cNvSpPr txBox="1"/>
          <p:nvPr/>
        </p:nvSpPr>
        <p:spPr>
          <a:xfrm>
            <a:off x="451700" y="4300000"/>
            <a:ext cx="8240600" cy="340000"/>
          </a:xfrm>
          <a:prstGeom prst="rect">
            <a:avLst/>
          </a:prstGeom>
          <a:noFill/>
        </p:spPr>
        <p:txBody>
          <a:bodyPr wrap="square" lIns="0" tIns="0" rIns="0" bIns="0" anchor="ctr">
            <a:noAutofit/>
          </a:bodyPr>
          <a:lstStyle/>
          <a:p>
            <a:pPr marL="0" indent="0" algn="ctr">
              <a:spcAft>
                <a:spcPts val="0"/>
              </a:spcAft>
              <a:buNone/>
            </a:pPr>
            <a:r>
              <a:rPr lang="en-US" sz="1050" b="1">
                <a:solidFill>
                  <a:srgbClr val="B45309"/>
                </a:solidFill>
                <a:latin typeface="Consolas"/>
              </a:rPr>
              <a:t>java.lang</a:t>
            </a:r>
            <a:r>
              <a:rPr lang="en-US" sz="1050" b="0">
                <a:solidFill>
                  <a:srgbClr val="334155"/>
                </a:solidFill>
                <a:latin typeface="Roboto"/>
              </a:rPr>
              <a:t> is the one package Java imports automatically — that is why you never write </a:t>
            </a:r>
            <a:r>
              <a:rPr lang="en-US" sz="1000" b="0">
                <a:solidFill>
                  <a:srgbClr val="64748B"/>
                </a:solidFill>
                <a:latin typeface="Consolas"/>
              </a:rPr>
              <a:t>import java.lang.String</a:t>
            </a:r>
            <a:r>
              <a:rPr lang="en-US" sz="1050" b="0">
                <a:solidFill>
                  <a:srgbClr val="334155"/>
                </a:solidFill>
                <a:latin typeface="Roboto"/>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F172A"/>
          </a:solidFill>
          <a:ln>
            <a:noFill/>
          </a:ln>
        </p:spPr>
        <p:txBody>
          <a:bodyPr/>
          <a:lstStyle/>
          <a:p>
            <a:endParaRPr/>
          </a:p>
        </p:txBody>
      </p:sp>
      <p:sp>
        <p:nvSpPr>
          <p:cNvPr id="11" name="Eyebrow"/>
          <p:cNvSpPr txBox="1"/>
          <p:nvPr/>
        </p:nvSpPr>
        <p:spPr>
          <a:xfrm>
            <a:off x="0" y="820000"/>
            <a:ext cx="9144000" cy="240000"/>
          </a:xfrm>
          <a:prstGeom prst="rect">
            <a:avLst/>
          </a:prstGeom>
          <a:noFill/>
        </p:spPr>
        <p:txBody>
          <a:bodyPr wrap="square" lIns="0" tIns="0" rIns="0" bIns="0" anchor="t">
            <a:noAutofit/>
          </a:bodyPr>
          <a:lstStyle/>
          <a:p>
            <a:pPr marL="0" indent="0" algn="ctr">
              <a:spcAft>
                <a:spcPts val="0"/>
              </a:spcAft>
              <a:buNone/>
            </a:pPr>
            <a:r>
              <a:rPr lang="en-US" sz="1200" b="1" spc="500">
                <a:solidFill>
                  <a:srgbClr val="94A3B8"/>
                </a:solidFill>
                <a:latin typeface="Roboto"/>
              </a:rPr>
              <a:t>SECTION</a:t>
            </a:r>
          </a:p>
        </p:txBody>
      </p:sp>
      <p:sp>
        <p:nvSpPr>
          <p:cNvPr id="12" name="Num"/>
          <p:cNvSpPr txBox="1"/>
          <p:nvPr/>
        </p:nvSpPr>
        <p:spPr>
          <a:xfrm>
            <a:off x="0" y="1060000"/>
            <a:ext cx="9144000" cy="1300000"/>
          </a:xfrm>
          <a:prstGeom prst="rect">
            <a:avLst/>
          </a:prstGeom>
          <a:noFill/>
        </p:spPr>
        <p:txBody>
          <a:bodyPr wrap="square" lIns="0" tIns="0" rIns="0" bIns="0" anchor="ctr">
            <a:noAutofit/>
          </a:bodyPr>
          <a:lstStyle/>
          <a:p>
            <a:pPr marL="0" indent="0" algn="ctr">
              <a:spcAft>
                <a:spcPts val="0"/>
              </a:spcAft>
              <a:buNone/>
            </a:pPr>
            <a:r>
              <a:rPr lang="en-US" sz="8000" b="1" dirty="0">
                <a:solidFill>
                  <a:srgbClr val="60A5FA"/>
                </a:solidFill>
                <a:latin typeface="Arial"/>
              </a:rPr>
              <a:t>4</a:t>
            </a:r>
          </a:p>
        </p:txBody>
      </p:sp>
      <p:sp>
        <p:nvSpPr>
          <p:cNvPr id="13" name="Title"/>
          <p:cNvSpPr txBox="1"/>
          <p:nvPr/>
        </p:nvSpPr>
        <p:spPr>
          <a:xfrm>
            <a:off x="600000" y="2470000"/>
            <a:ext cx="7944000" cy="650000"/>
          </a:xfrm>
          <a:prstGeom prst="rect">
            <a:avLst/>
          </a:prstGeom>
          <a:noFill/>
        </p:spPr>
        <p:txBody>
          <a:bodyPr wrap="square" lIns="0" tIns="0" rIns="0" bIns="0" anchor="t">
            <a:noAutofit/>
          </a:bodyPr>
          <a:lstStyle/>
          <a:p>
            <a:pPr marL="0" indent="0" algn="ctr">
              <a:spcAft>
                <a:spcPts val="0"/>
              </a:spcAft>
              <a:buNone/>
            </a:pPr>
            <a:r>
              <a:rPr lang="en-US" sz="3600" b="1" dirty="0">
                <a:solidFill>
                  <a:srgbClr val="FFFFFF"/>
                </a:solidFill>
                <a:latin typeface="Roboto"/>
              </a:rPr>
              <a:t>A Jaunt Down Memory Lane</a:t>
            </a:r>
          </a:p>
        </p:txBody>
      </p:sp>
      <p:sp>
        <p:nvSpPr>
          <p:cNvPr id="14" name="Sub"/>
          <p:cNvSpPr txBox="1"/>
          <p:nvPr/>
        </p:nvSpPr>
        <p:spPr>
          <a:xfrm>
            <a:off x="800000" y="3160000"/>
            <a:ext cx="7544000" cy="360000"/>
          </a:xfrm>
          <a:prstGeom prst="rect">
            <a:avLst/>
          </a:prstGeom>
          <a:noFill/>
        </p:spPr>
        <p:txBody>
          <a:bodyPr wrap="square" lIns="0" tIns="0" rIns="0" bIns="0" anchor="t">
            <a:noAutofit/>
          </a:bodyPr>
          <a:lstStyle/>
          <a:p>
            <a:pPr marL="0" indent="0" algn="ctr">
              <a:spcAft>
                <a:spcPts val="0"/>
              </a:spcAft>
              <a:buNone/>
            </a:pPr>
            <a:r>
              <a:rPr lang="en-US" sz="1500" b="0" dirty="0">
                <a:solidFill>
                  <a:srgbClr val="94A3B8"/>
                </a:solidFill>
                <a:latin typeface="Roboto"/>
              </a:rPr>
              <a:t>How objects stored in memory</a:t>
            </a:r>
          </a:p>
        </p:txBody>
      </p:sp>
      <p:sp>
        <p:nvSpPr>
          <p:cNvPr id="15" name="pc0"/>
          <p:cNvSpPr/>
          <p:nvPr/>
        </p:nvSpPr>
        <p:spPr>
          <a:xfrm>
            <a:off x="472000" y="3620000"/>
            <a:ext cx="2600000" cy="820000"/>
          </a:xfrm>
          <a:prstGeom prst="roundRect">
            <a:avLst>
              <a:gd name="adj" fmla="val 10000"/>
            </a:avLst>
          </a:prstGeom>
          <a:solidFill>
            <a:srgbClr val="1E293B"/>
          </a:solidFill>
          <a:ln w="9525">
            <a:solidFill>
              <a:srgbClr val="334155"/>
            </a:solidFill>
          </a:ln>
        </p:spPr>
        <p:txBody>
          <a:bodyPr/>
          <a:lstStyle/>
          <a:p>
            <a:endParaRPr/>
          </a:p>
        </p:txBody>
      </p:sp>
      <p:sp>
        <p:nvSpPr>
          <p:cNvPr id="16" name="pi0"/>
          <p:cNvSpPr/>
          <p:nvPr/>
        </p:nvSpPr>
        <p:spPr>
          <a:xfrm>
            <a:off x="642000" y="3880000"/>
            <a:ext cx="300000" cy="300000"/>
          </a:xfrm>
          <a:prstGeom prst="ellipse">
            <a:avLst/>
          </a:prstGeom>
          <a:solidFill>
            <a:srgbClr val="2563EB"/>
          </a:solidFill>
          <a:ln>
            <a:noFill/>
          </a:ln>
        </p:spPr>
        <p:txBody>
          <a:bodyPr/>
          <a:lstStyle/>
          <a:p>
            <a:endParaRPr/>
          </a:p>
        </p:txBody>
      </p:sp>
      <p:sp>
        <p:nvSpPr>
          <p:cNvPr id="17" name="pg0"/>
          <p:cNvSpPr txBox="1"/>
          <p:nvPr/>
        </p:nvSpPr>
        <p:spPr>
          <a:xfrm>
            <a:off x="642000" y="388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18" name="pl0"/>
          <p:cNvSpPr txBox="1"/>
          <p:nvPr/>
        </p:nvSpPr>
        <p:spPr>
          <a:xfrm>
            <a:off x="1062000" y="3620000"/>
            <a:ext cx="1920000" cy="820000"/>
          </a:xfrm>
          <a:prstGeom prst="rect">
            <a:avLst/>
          </a:prstGeom>
          <a:noFill/>
        </p:spPr>
        <p:txBody>
          <a:bodyPr wrap="square" lIns="0" tIns="0" rIns="0" bIns="0" anchor="ctr">
            <a:noAutofit/>
          </a:bodyPr>
          <a:lstStyle/>
          <a:p>
            <a:pPr marL="0" indent="0">
              <a:spcAft>
                <a:spcPts val="200"/>
              </a:spcAft>
              <a:buNone/>
            </a:pPr>
            <a:r>
              <a:rPr lang="en-US" sz="1150" b="1">
                <a:solidFill>
                  <a:srgbClr val="FFFFFF"/>
                </a:solidFill>
                <a:latin typeface="Consolas"/>
              </a:rPr>
              <a:t>How our system interacts with memory</a:t>
            </a:r>
          </a:p>
        </p:txBody>
      </p:sp>
      <p:sp>
        <p:nvSpPr>
          <p:cNvPr id="19" name="pc1"/>
          <p:cNvSpPr/>
          <p:nvPr/>
        </p:nvSpPr>
        <p:spPr>
          <a:xfrm>
            <a:off x="3272000" y="3620000"/>
            <a:ext cx="2600000" cy="820000"/>
          </a:xfrm>
          <a:prstGeom prst="roundRect">
            <a:avLst>
              <a:gd name="adj" fmla="val 10000"/>
            </a:avLst>
          </a:prstGeom>
          <a:solidFill>
            <a:srgbClr val="1E293B"/>
          </a:solidFill>
          <a:ln w="9525">
            <a:solidFill>
              <a:srgbClr val="334155"/>
            </a:solidFill>
          </a:ln>
        </p:spPr>
        <p:txBody>
          <a:bodyPr/>
          <a:lstStyle/>
          <a:p>
            <a:endParaRPr/>
          </a:p>
        </p:txBody>
      </p:sp>
      <p:sp>
        <p:nvSpPr>
          <p:cNvPr id="20" name="pi1"/>
          <p:cNvSpPr/>
          <p:nvPr/>
        </p:nvSpPr>
        <p:spPr>
          <a:xfrm>
            <a:off x="3442000" y="3880000"/>
            <a:ext cx="300000" cy="300000"/>
          </a:xfrm>
          <a:prstGeom prst="ellipse">
            <a:avLst/>
          </a:prstGeom>
          <a:solidFill>
            <a:srgbClr val="F59E0B"/>
          </a:solidFill>
          <a:ln>
            <a:noFill/>
          </a:ln>
        </p:spPr>
        <p:txBody>
          <a:bodyPr/>
          <a:lstStyle/>
          <a:p>
            <a:endParaRPr/>
          </a:p>
        </p:txBody>
      </p:sp>
      <p:sp>
        <p:nvSpPr>
          <p:cNvPr id="21" name="pg1"/>
          <p:cNvSpPr txBox="1"/>
          <p:nvPr/>
        </p:nvSpPr>
        <p:spPr>
          <a:xfrm>
            <a:off x="3442000" y="388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2" name="pl1"/>
          <p:cNvSpPr txBox="1"/>
          <p:nvPr/>
        </p:nvSpPr>
        <p:spPr>
          <a:xfrm>
            <a:off x="3862000" y="3620000"/>
            <a:ext cx="1920000" cy="820000"/>
          </a:xfrm>
          <a:prstGeom prst="rect">
            <a:avLst/>
          </a:prstGeom>
          <a:noFill/>
        </p:spPr>
        <p:txBody>
          <a:bodyPr wrap="square" lIns="0" tIns="0" rIns="0" bIns="0" anchor="ctr">
            <a:noAutofit/>
          </a:bodyPr>
          <a:lstStyle/>
          <a:p>
            <a:pPr marL="0" indent="0">
              <a:spcAft>
                <a:spcPts val="200"/>
              </a:spcAft>
              <a:buNone/>
            </a:pPr>
            <a:r>
              <a:rPr lang="en-US" sz="1150" b="1" dirty="0">
                <a:solidFill>
                  <a:srgbClr val="FFFFFF"/>
                </a:solidFill>
                <a:latin typeface="Consolas"/>
              </a:rPr>
              <a:t>Direct Addressing</a:t>
            </a:r>
          </a:p>
        </p:txBody>
      </p:sp>
      <p:sp>
        <p:nvSpPr>
          <p:cNvPr id="23" name="pc2"/>
          <p:cNvSpPr/>
          <p:nvPr/>
        </p:nvSpPr>
        <p:spPr>
          <a:xfrm>
            <a:off x="6072000" y="3620000"/>
            <a:ext cx="2600000" cy="820000"/>
          </a:xfrm>
          <a:prstGeom prst="roundRect">
            <a:avLst>
              <a:gd name="adj" fmla="val 10000"/>
            </a:avLst>
          </a:prstGeom>
          <a:solidFill>
            <a:srgbClr val="1E293B"/>
          </a:solidFill>
          <a:ln w="9525">
            <a:solidFill>
              <a:srgbClr val="334155"/>
            </a:solidFill>
          </a:ln>
        </p:spPr>
        <p:txBody>
          <a:bodyPr/>
          <a:lstStyle/>
          <a:p>
            <a:endParaRPr/>
          </a:p>
        </p:txBody>
      </p:sp>
      <p:sp>
        <p:nvSpPr>
          <p:cNvPr id="24" name="pi2"/>
          <p:cNvSpPr/>
          <p:nvPr/>
        </p:nvSpPr>
        <p:spPr>
          <a:xfrm>
            <a:off x="6242000" y="3880000"/>
            <a:ext cx="300000" cy="300000"/>
          </a:xfrm>
          <a:prstGeom prst="ellipse">
            <a:avLst/>
          </a:prstGeom>
          <a:solidFill>
            <a:srgbClr val="22C55E"/>
          </a:solidFill>
          <a:ln>
            <a:noFill/>
          </a:ln>
        </p:spPr>
        <p:txBody>
          <a:bodyPr/>
          <a:lstStyle/>
          <a:p>
            <a:endParaRPr/>
          </a:p>
        </p:txBody>
      </p:sp>
      <p:sp>
        <p:nvSpPr>
          <p:cNvPr id="25" name="pg2"/>
          <p:cNvSpPr txBox="1"/>
          <p:nvPr/>
        </p:nvSpPr>
        <p:spPr>
          <a:xfrm>
            <a:off x="6242000" y="388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6" name="pl2"/>
          <p:cNvSpPr txBox="1"/>
          <p:nvPr/>
        </p:nvSpPr>
        <p:spPr>
          <a:xfrm>
            <a:off x="6662000" y="3620000"/>
            <a:ext cx="1920000" cy="820000"/>
          </a:xfrm>
          <a:prstGeom prst="rect">
            <a:avLst/>
          </a:prstGeom>
          <a:noFill/>
        </p:spPr>
        <p:txBody>
          <a:bodyPr wrap="square" lIns="0" tIns="0" rIns="0" bIns="0" anchor="ctr">
            <a:noAutofit/>
          </a:bodyPr>
          <a:lstStyle/>
          <a:p>
            <a:pPr marL="0" indent="0">
              <a:spcAft>
                <a:spcPts val="200"/>
              </a:spcAft>
              <a:buNone/>
            </a:pPr>
            <a:r>
              <a:rPr lang="en-US" sz="1150" b="1" dirty="0">
                <a:solidFill>
                  <a:srgbClr val="FFFFFF"/>
                </a:solidFill>
                <a:latin typeface="Consolas"/>
              </a:rPr>
              <a:t>Indirect Accessing</a:t>
            </a:r>
            <a:endParaRPr lang="en-US" sz="1150" b="1">
              <a:solidFill>
                <a:srgbClr val="FFFFFF"/>
              </a:solidFill>
              <a:latin typeface="Consolas"/>
            </a:endParaRPr>
          </a:p>
        </p:txBody>
      </p:sp>
      <p:sp>
        <p:nvSpPr>
          <p:cNvPr id="27" name="bar0"/>
          <p:cNvSpPr/>
          <p:nvPr/>
        </p:nvSpPr>
        <p:spPr>
          <a:xfrm>
            <a:off x="0" y="5039500"/>
            <a:ext cx="305000" cy="104000"/>
          </a:xfrm>
          <a:prstGeom prst="rect">
            <a:avLst/>
          </a:prstGeom>
          <a:solidFill>
            <a:srgbClr val="EF4444"/>
          </a:solidFill>
          <a:ln>
            <a:noFill/>
          </a:ln>
        </p:spPr>
        <p:txBody>
          <a:bodyPr/>
          <a:lstStyle/>
          <a:p>
            <a:endParaRPr/>
          </a:p>
        </p:txBody>
      </p:sp>
      <p:sp>
        <p:nvSpPr>
          <p:cNvPr id="28" name="bar1"/>
          <p:cNvSpPr/>
          <p:nvPr/>
        </p:nvSpPr>
        <p:spPr>
          <a:xfrm>
            <a:off x="305000" y="5039500"/>
            <a:ext cx="305000" cy="104000"/>
          </a:xfrm>
          <a:prstGeom prst="rect">
            <a:avLst/>
          </a:prstGeom>
          <a:solidFill>
            <a:srgbClr val="F59E0B"/>
          </a:solidFill>
          <a:ln>
            <a:noFill/>
          </a:ln>
        </p:spPr>
        <p:txBody>
          <a:bodyPr/>
          <a:lstStyle/>
          <a:p>
            <a:endParaRPr/>
          </a:p>
        </p:txBody>
      </p:sp>
      <p:sp>
        <p:nvSpPr>
          <p:cNvPr id="29" name="bar2"/>
          <p:cNvSpPr/>
          <p:nvPr/>
        </p:nvSpPr>
        <p:spPr>
          <a:xfrm>
            <a:off x="610000" y="5039500"/>
            <a:ext cx="305000" cy="104000"/>
          </a:xfrm>
          <a:prstGeom prst="rect">
            <a:avLst/>
          </a:prstGeom>
          <a:solidFill>
            <a:srgbClr val="22C55E"/>
          </a:solidFill>
          <a:ln>
            <a:noFill/>
          </a:ln>
        </p:spPr>
        <p:txBody>
          <a:bodyPr/>
          <a:lstStyle/>
          <a:p>
            <a:endParaRPr/>
          </a:p>
        </p:txBody>
      </p:sp>
      <p:sp>
        <p:nvSpPr>
          <p:cNvPr id="30" name="bar3"/>
          <p:cNvSpPr/>
          <p:nvPr/>
        </p:nvSpPr>
        <p:spPr>
          <a:xfrm>
            <a:off x="915000" y="5039500"/>
            <a:ext cx="8229000" cy="104000"/>
          </a:xfrm>
          <a:prstGeom prst="rect">
            <a:avLst/>
          </a:prstGeom>
          <a:solidFill>
            <a:srgbClr val="1E40AF"/>
          </a:solidFill>
          <a:ln>
            <a:noFill/>
          </a:ln>
        </p:spPr>
        <p:txBody>
          <a:bodyPr/>
          <a:lstStyle/>
          <a:p>
            <a:endParaRPr/>
          </a:p>
        </p:txBody>
      </p:sp>
    </p:spTree>
    <p:extLst>
      <p:ext uri="{BB962C8B-B14F-4D97-AF65-F5344CB8AC3E}">
        <p14:creationId xmlns:p14="http://schemas.microsoft.com/office/powerpoint/2010/main" val="3925916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ackground"/>
          <p:cNvSpPr/>
          <p:nvPr/>
        </p:nvSpPr>
        <p:spPr>
          <a:xfrm>
            <a:off x="0" y="0"/>
            <a:ext cx="9144000" cy="5143500"/>
          </a:xfrm>
          <a:prstGeom prst="rect">
            <a:avLst/>
          </a:prstGeom>
          <a:solidFill>
            <a:srgbClr val="0F172A"/>
          </a:solidFill>
          <a:ln>
            <a:noFill/>
          </a:ln>
        </p:spPr>
        <p:txBody>
          <a:bodyPr/>
          <a:lstStyle/>
          <a:p>
            <a:endParaRPr/>
          </a:p>
        </p:txBody>
      </p:sp>
      <p:sp>
        <p:nvSpPr>
          <p:cNvPr id="101" name="Title"/>
          <p:cNvSpPr txBox="1"/>
          <p:nvPr/>
        </p:nvSpPr>
        <p:spPr>
          <a:xfrm>
            <a:off x="311700" y="150000"/>
            <a:ext cx="6000000" cy="560000"/>
          </a:xfrm>
          <a:prstGeom prst="rect">
            <a:avLst/>
          </a:prstGeom>
          <a:noFill/>
          <a:ln>
            <a:noFill/>
          </a:ln>
        </p:spPr>
        <p:txBody>
          <a:bodyPr wrap="square" lIns="0" tIns="0" rIns="0" bIns="0" anchor="t">
            <a:noAutofit/>
          </a:bodyPr>
          <a:lstStyle/>
          <a:p>
            <a:pPr algn="l">
              <a:buNone/>
            </a:pPr>
            <a:r>
              <a:rPr lang="en-US" sz="2600" b="1">
                <a:solidFill>
                  <a:srgbClr val="FFFFFF"/>
                </a:solidFill>
                <a:latin typeface="Roboto"/>
                <a:cs typeface="Roboto"/>
              </a:rPr>
              <a:t>Memory</a:t>
            </a:r>
          </a:p>
        </p:txBody>
      </p:sp>
      <p:sp>
        <p:nvSpPr>
          <p:cNvPr id="102" name="Subtitle"/>
          <p:cNvSpPr txBox="1"/>
          <p:nvPr/>
        </p:nvSpPr>
        <p:spPr>
          <a:xfrm>
            <a:off x="313000" y="690000"/>
            <a:ext cx="8500000" cy="300000"/>
          </a:xfrm>
          <a:prstGeom prst="rect">
            <a:avLst/>
          </a:prstGeom>
          <a:noFill/>
          <a:ln>
            <a:noFill/>
          </a:ln>
        </p:spPr>
        <p:txBody>
          <a:bodyPr wrap="square" lIns="0" tIns="0" rIns="0" bIns="0" anchor="t">
            <a:noAutofit/>
          </a:bodyPr>
          <a:lstStyle/>
          <a:p>
            <a:pPr algn="l">
              <a:buNone/>
            </a:pPr>
            <a:r>
              <a:rPr lang="en-US" sz="1050">
                <a:solidFill>
                  <a:srgbClr val="94A3B8"/>
                </a:solidFill>
                <a:latin typeface="Roboto"/>
                <a:cs typeface="Roboto"/>
              </a:rPr>
              <a:t>How a primitive value and an object reference are laid out in memory</a:t>
            </a:r>
          </a:p>
        </p:txBody>
      </p:sp>
      <p:sp>
        <p:nvSpPr>
          <p:cNvPr id="103" name="EditorCard"/>
          <p:cNvSpPr/>
          <p:nvPr/>
        </p:nvSpPr>
        <p:spPr>
          <a:xfrm>
            <a:off x="311700" y="1120000"/>
            <a:ext cx="3720000" cy="2560000"/>
          </a:xfrm>
          <a:prstGeom prst="roundRect">
            <a:avLst>
              <a:gd name="adj" fmla="val 4000"/>
            </a:avLst>
          </a:prstGeom>
          <a:solidFill>
            <a:srgbClr val="1E293B"/>
          </a:solidFill>
          <a:ln w="12700">
            <a:solidFill>
              <a:srgbClr val="334155"/>
            </a:solidFill>
          </a:ln>
        </p:spPr>
        <p:txBody>
          <a:bodyPr/>
          <a:lstStyle/>
          <a:p>
            <a:endParaRPr/>
          </a:p>
        </p:txBody>
      </p:sp>
      <p:sp>
        <p:nvSpPr>
          <p:cNvPr id="104" name="EditorSep"/>
          <p:cNvSpPr/>
          <p:nvPr/>
        </p:nvSpPr>
        <p:spPr>
          <a:xfrm>
            <a:off x="311700" y="1430000"/>
            <a:ext cx="3720000" cy="12700"/>
          </a:xfrm>
          <a:prstGeom prst="rect">
            <a:avLst/>
          </a:prstGeom>
          <a:solidFill>
            <a:srgbClr val="334155"/>
          </a:solidFill>
          <a:ln>
            <a:noFill/>
          </a:ln>
        </p:spPr>
        <p:txBody>
          <a:bodyPr/>
          <a:lstStyle/>
          <a:p>
            <a:endParaRPr/>
          </a:p>
        </p:txBody>
      </p:sp>
      <p:sp>
        <p:nvSpPr>
          <p:cNvPr id="105" name="shp105"/>
          <p:cNvSpPr/>
          <p:nvPr/>
        </p:nvSpPr>
        <p:spPr>
          <a:xfrm>
            <a:off x="430000" y="1230000"/>
            <a:ext cx="105000" cy="105000"/>
          </a:xfrm>
          <a:prstGeom prst="ellipse">
            <a:avLst/>
          </a:prstGeom>
          <a:solidFill>
            <a:srgbClr val="EF4444"/>
          </a:solidFill>
          <a:ln>
            <a:noFill/>
          </a:ln>
        </p:spPr>
        <p:txBody>
          <a:bodyPr/>
          <a:lstStyle/>
          <a:p>
            <a:endParaRPr/>
          </a:p>
        </p:txBody>
      </p:sp>
      <p:sp>
        <p:nvSpPr>
          <p:cNvPr id="106" name="shp106"/>
          <p:cNvSpPr/>
          <p:nvPr/>
        </p:nvSpPr>
        <p:spPr>
          <a:xfrm>
            <a:off x="600000" y="1230000"/>
            <a:ext cx="105000" cy="105000"/>
          </a:xfrm>
          <a:prstGeom prst="ellipse">
            <a:avLst/>
          </a:prstGeom>
          <a:solidFill>
            <a:srgbClr val="F59E0B"/>
          </a:solidFill>
          <a:ln>
            <a:noFill/>
          </a:ln>
        </p:spPr>
        <p:txBody>
          <a:bodyPr/>
          <a:lstStyle/>
          <a:p>
            <a:endParaRPr/>
          </a:p>
        </p:txBody>
      </p:sp>
      <p:sp>
        <p:nvSpPr>
          <p:cNvPr id="107" name="shp107"/>
          <p:cNvSpPr/>
          <p:nvPr/>
        </p:nvSpPr>
        <p:spPr>
          <a:xfrm>
            <a:off x="770000" y="1230000"/>
            <a:ext cx="105000" cy="105000"/>
          </a:xfrm>
          <a:prstGeom prst="ellipse">
            <a:avLst/>
          </a:prstGeom>
          <a:solidFill>
            <a:srgbClr val="22C55E"/>
          </a:solidFill>
          <a:ln>
            <a:noFill/>
          </a:ln>
        </p:spPr>
        <p:txBody>
          <a:bodyPr/>
          <a:lstStyle/>
          <a:p>
            <a:endParaRPr/>
          </a:p>
        </p:txBody>
      </p:sp>
      <p:sp>
        <p:nvSpPr>
          <p:cNvPr id="108" name="FileName"/>
          <p:cNvSpPr txBox="1"/>
          <p:nvPr/>
        </p:nvSpPr>
        <p:spPr>
          <a:xfrm>
            <a:off x="960000" y="1205000"/>
            <a:ext cx="1800000" cy="180000"/>
          </a:xfrm>
          <a:prstGeom prst="rect">
            <a:avLst/>
          </a:prstGeom>
          <a:noFill/>
          <a:ln>
            <a:noFill/>
          </a:ln>
        </p:spPr>
        <p:txBody>
          <a:bodyPr wrap="square" lIns="0" tIns="0" rIns="0" bIns="0" anchor="ctr">
            <a:noAutofit/>
          </a:bodyPr>
          <a:lstStyle/>
          <a:p>
            <a:pPr algn="l">
              <a:buNone/>
            </a:pPr>
            <a:r>
              <a:rPr lang="en-US" sz="900">
                <a:solidFill>
                  <a:srgbClr val="94A3B8"/>
                </a:solidFill>
                <a:latin typeface="Consolas"/>
                <a:cs typeface="Consolas"/>
              </a:rPr>
              <a:t>Memory.java</a:t>
            </a:r>
          </a:p>
        </p:txBody>
      </p:sp>
      <p:sp>
        <p:nvSpPr>
          <p:cNvPr id="109" name="LineNums"/>
          <p:cNvSpPr txBox="1"/>
          <p:nvPr/>
        </p:nvSpPr>
        <p:spPr>
          <a:xfrm>
            <a:off x="360000" y="1560000"/>
            <a:ext cx="250000" cy="2000000"/>
          </a:xfrm>
          <a:prstGeom prst="rect">
            <a:avLst/>
          </a:prstGeom>
          <a:noFill/>
          <a:ln>
            <a:noFill/>
          </a:ln>
        </p:spPr>
        <p:txBody>
          <a:bodyPr wrap="square" lIns="0" tIns="0" rIns="0" bIns="0" anchor="t">
            <a:noAutofit/>
          </a:bodyPr>
          <a:lstStyle/>
          <a:p>
            <a:pPr algn="r">
              <a:lnSpc>
                <a:spcPct val="100000"/>
              </a:lnSpc>
              <a:buNone/>
            </a:pPr>
            <a:r>
              <a:rPr lang="en-US" sz="1100">
                <a:solidFill>
                  <a:srgbClr val="475569"/>
                </a:solidFill>
                <a:latin typeface="Consolas"/>
                <a:cs typeface="Consolas"/>
              </a:rPr>
              <a:t>1</a:t>
            </a:r>
          </a:p>
          <a:p>
            <a:pPr algn="r">
              <a:lnSpc>
                <a:spcPct val="100000"/>
              </a:lnSpc>
              <a:buNone/>
            </a:pPr>
            <a:r>
              <a:rPr lang="en-US" sz="1100">
                <a:solidFill>
                  <a:srgbClr val="475569"/>
                </a:solidFill>
                <a:latin typeface="Consolas"/>
                <a:cs typeface="Consolas"/>
              </a:rPr>
              <a:t>2</a:t>
            </a:r>
          </a:p>
          <a:p>
            <a:pPr algn="r">
              <a:lnSpc>
                <a:spcPct val="100000"/>
              </a:lnSpc>
              <a:buNone/>
            </a:pPr>
            <a:r>
              <a:rPr lang="en-US" sz="1100">
                <a:solidFill>
                  <a:srgbClr val="475569"/>
                </a:solidFill>
                <a:latin typeface="Consolas"/>
                <a:cs typeface="Consolas"/>
              </a:rPr>
              <a:t>3</a:t>
            </a:r>
          </a:p>
          <a:p>
            <a:pPr algn="r">
              <a:lnSpc>
                <a:spcPct val="100000"/>
              </a:lnSpc>
              <a:buNone/>
            </a:pPr>
            <a:r>
              <a:rPr lang="en-US" sz="1100">
                <a:solidFill>
                  <a:srgbClr val="475569"/>
                </a:solidFill>
                <a:latin typeface="Consolas"/>
                <a:cs typeface="Consolas"/>
              </a:rPr>
              <a:t>4</a:t>
            </a:r>
          </a:p>
          <a:p>
            <a:pPr algn="r">
              <a:lnSpc>
                <a:spcPct val="100000"/>
              </a:lnSpc>
              <a:buNone/>
            </a:pPr>
            <a:r>
              <a:rPr lang="en-US" sz="1100">
                <a:solidFill>
                  <a:srgbClr val="475569"/>
                </a:solidFill>
                <a:latin typeface="Consolas"/>
                <a:cs typeface="Consolas"/>
              </a:rPr>
              <a:t>5</a:t>
            </a:r>
          </a:p>
          <a:p>
            <a:pPr algn="r">
              <a:lnSpc>
                <a:spcPct val="100000"/>
              </a:lnSpc>
              <a:buNone/>
            </a:pPr>
            <a:r>
              <a:rPr lang="en-US" sz="1100">
                <a:solidFill>
                  <a:srgbClr val="475569"/>
                </a:solidFill>
                <a:latin typeface="Consolas"/>
                <a:cs typeface="Consolas"/>
              </a:rPr>
              <a:t>6</a:t>
            </a:r>
          </a:p>
        </p:txBody>
      </p:sp>
      <p:sp>
        <p:nvSpPr>
          <p:cNvPr id="110" name="Code"/>
          <p:cNvSpPr txBox="1"/>
          <p:nvPr/>
        </p:nvSpPr>
        <p:spPr>
          <a:xfrm>
            <a:off x="660000" y="1560000"/>
            <a:ext cx="3300000" cy="2000000"/>
          </a:xfrm>
          <a:prstGeom prst="rect">
            <a:avLst/>
          </a:prstGeom>
          <a:noFill/>
          <a:ln>
            <a:noFill/>
          </a:ln>
        </p:spPr>
        <p:txBody>
          <a:bodyPr wrap="square" lIns="0" tIns="0" rIns="0" bIns="0" anchor="t">
            <a:noAutofit/>
          </a:bodyPr>
          <a:lstStyle/>
          <a:p>
            <a:pPr algn="l">
              <a:lnSpc>
                <a:spcPct val="100000"/>
              </a:lnSpc>
              <a:buNone/>
            </a:pPr>
            <a:r>
              <a:rPr lang="en-US" sz="1100">
                <a:solidFill>
                  <a:srgbClr val="C678DD"/>
                </a:solidFill>
                <a:latin typeface="Consolas"/>
                <a:cs typeface="Consolas"/>
              </a:rPr>
              <a:t>class </a:t>
            </a:r>
            <a:r>
              <a:rPr lang="en-US" sz="1100">
                <a:solidFill>
                  <a:srgbClr val="E5C07B"/>
                </a:solidFill>
                <a:latin typeface="Consolas"/>
                <a:cs typeface="Consolas"/>
              </a:rPr>
              <a:t>Memory </a:t>
            </a:r>
            <a:r>
              <a:rPr lang="en-US" sz="1100">
                <a:solidFill>
                  <a:srgbClr val="ABB2BF"/>
                </a:solidFill>
                <a:latin typeface="Consolas"/>
                <a:cs typeface="Consolas"/>
              </a:rPr>
              <a:t>{</a:t>
            </a:r>
          </a:p>
          <a:p>
            <a:pPr algn="l">
              <a:lnSpc>
                <a:spcPct val="100000"/>
              </a:lnSpc>
              <a:buNone/>
            </a:pPr>
            <a:r>
              <a:rPr lang="en-US" sz="1100">
                <a:solidFill>
                  <a:srgbClr val="C678DD"/>
                </a:solidFill>
                <a:latin typeface="Consolas"/>
                <a:cs typeface="Consolas"/>
              </a:rPr>
              <a:t>    int </a:t>
            </a:r>
            <a:r>
              <a:rPr lang="en-US" sz="1100">
                <a:solidFill>
                  <a:srgbClr val="ABB2BF"/>
                </a:solidFill>
                <a:latin typeface="Consolas"/>
                <a:cs typeface="Consolas"/>
              </a:rPr>
              <a:t>x = </a:t>
            </a:r>
            <a:r>
              <a:rPr lang="en-US" sz="1100">
                <a:solidFill>
                  <a:srgbClr val="D19A66"/>
                </a:solidFill>
                <a:latin typeface="Consolas"/>
                <a:cs typeface="Consolas"/>
              </a:rPr>
              <a:t>5</a:t>
            </a:r>
            <a:r>
              <a:rPr lang="en-US" sz="1100">
                <a:solidFill>
                  <a:srgbClr val="ABB2BF"/>
                </a:solidFill>
                <a:latin typeface="Consolas"/>
                <a:cs typeface="Consolas"/>
              </a:rPr>
              <a:t>;</a:t>
            </a:r>
          </a:p>
          <a:p>
            <a:pPr algn="l">
              <a:lnSpc>
                <a:spcPct val="100000"/>
              </a:lnSpc>
              <a:buNone/>
            </a:pPr>
            <a:r>
              <a:rPr lang="en-US" sz="1100">
                <a:solidFill>
                  <a:srgbClr val="ABB2BF"/>
                </a:solidFill>
                <a:latin typeface="Consolas"/>
                <a:cs typeface="Consolas"/>
              </a:rPr>
              <a:t> </a:t>
            </a:r>
          </a:p>
          <a:p>
            <a:pPr algn="l">
              <a:lnSpc>
                <a:spcPct val="100000"/>
              </a:lnSpc>
              <a:buNone/>
            </a:pPr>
            <a:r>
              <a:rPr lang="en-US" sz="1100">
                <a:solidFill>
                  <a:srgbClr val="E5C07B"/>
                </a:solidFill>
                <a:latin typeface="Consolas"/>
                <a:cs typeface="Consolas"/>
              </a:rPr>
              <a:t>    Dog </a:t>
            </a:r>
            <a:r>
              <a:rPr lang="en-US" sz="1100">
                <a:solidFill>
                  <a:srgbClr val="ABB2BF"/>
                </a:solidFill>
                <a:latin typeface="Consolas"/>
                <a:cs typeface="Consolas"/>
              </a:rPr>
              <a:t>rex =</a:t>
            </a:r>
          </a:p>
          <a:p>
            <a:pPr algn="l">
              <a:lnSpc>
                <a:spcPct val="100000"/>
              </a:lnSpc>
              <a:buNone/>
            </a:pPr>
            <a:r>
              <a:rPr lang="en-US" sz="1100">
                <a:solidFill>
                  <a:srgbClr val="C678DD"/>
                </a:solidFill>
                <a:latin typeface="Consolas"/>
                <a:cs typeface="Consolas"/>
              </a:rPr>
              <a:t>        new </a:t>
            </a:r>
            <a:r>
              <a:rPr lang="en-US" sz="1100">
                <a:solidFill>
                  <a:srgbClr val="E5C07B"/>
                </a:solidFill>
                <a:latin typeface="Consolas"/>
                <a:cs typeface="Consolas"/>
              </a:rPr>
              <a:t>Dog</a:t>
            </a:r>
            <a:r>
              <a:rPr lang="en-US" sz="1100">
                <a:solidFill>
                  <a:srgbClr val="ABB2BF"/>
                </a:solidFill>
                <a:latin typeface="Consolas"/>
                <a:cs typeface="Consolas"/>
              </a:rPr>
              <a:t>(</a:t>
            </a:r>
            <a:r>
              <a:rPr lang="en-US" sz="1100">
                <a:solidFill>
                  <a:srgbClr val="98C379"/>
                </a:solidFill>
                <a:latin typeface="Consolas"/>
                <a:cs typeface="Consolas"/>
              </a:rPr>
              <a:t>"Rex"</a:t>
            </a:r>
            <a:r>
              <a:rPr lang="en-US" sz="1100">
                <a:solidFill>
                  <a:srgbClr val="ABB2BF"/>
                </a:solidFill>
                <a:latin typeface="Consolas"/>
                <a:cs typeface="Consolas"/>
              </a:rPr>
              <a:t>);</a:t>
            </a:r>
          </a:p>
          <a:p>
            <a:pPr algn="l">
              <a:lnSpc>
                <a:spcPct val="100000"/>
              </a:lnSpc>
              <a:buNone/>
            </a:pPr>
            <a:r>
              <a:rPr lang="en-US" sz="1100">
                <a:solidFill>
                  <a:srgbClr val="ABB2BF"/>
                </a:solidFill>
                <a:latin typeface="Consolas"/>
                <a:cs typeface="Consolas"/>
              </a:rPr>
              <a:t>}</a:t>
            </a:r>
          </a:p>
        </p:txBody>
      </p:sp>
      <p:sp>
        <p:nvSpPr>
          <p:cNvPr id="111" name="ArrowX"/>
          <p:cNvSpPr/>
          <p:nvPr/>
        </p:nvSpPr>
        <p:spPr>
          <a:xfrm>
            <a:off x="4085000" y="1585000"/>
            <a:ext cx="270000" cy="110000"/>
          </a:xfrm>
          <a:prstGeom prst="rightArrow">
            <a:avLst/>
          </a:prstGeom>
          <a:solidFill>
            <a:srgbClr val="64748B"/>
          </a:solidFill>
          <a:ln>
            <a:noFill/>
          </a:ln>
        </p:spPr>
        <p:txBody>
          <a:bodyPr/>
          <a:lstStyle/>
          <a:p>
            <a:endParaRPr/>
          </a:p>
        </p:txBody>
      </p:sp>
      <p:sp>
        <p:nvSpPr>
          <p:cNvPr id="112" name="ArrowRex"/>
          <p:cNvSpPr/>
          <p:nvPr/>
        </p:nvSpPr>
        <p:spPr>
          <a:xfrm>
            <a:off x="4085000" y="2110000"/>
            <a:ext cx="270000" cy="110000"/>
          </a:xfrm>
          <a:prstGeom prst="rightArrow">
            <a:avLst/>
          </a:prstGeom>
          <a:solidFill>
            <a:srgbClr val="64748B"/>
          </a:solidFill>
          <a:ln>
            <a:noFill/>
          </a:ln>
        </p:spPr>
        <p:txBody>
          <a:bodyPr/>
          <a:lstStyle/>
          <a:p>
            <a:endParaRPr/>
          </a:p>
        </p:txBody>
      </p:sp>
      <p:sp>
        <p:nvSpPr>
          <p:cNvPr id="113" name="MemBox"/>
          <p:cNvSpPr/>
          <p:nvPr/>
        </p:nvSpPr>
        <p:spPr>
          <a:xfrm>
            <a:off x="4400000" y="1120000"/>
            <a:ext cx="2560000" cy="2560000"/>
          </a:xfrm>
          <a:prstGeom prst="roundRect">
            <a:avLst>
              <a:gd name="adj" fmla="val 3000"/>
            </a:avLst>
          </a:prstGeom>
          <a:solidFill>
            <a:srgbClr val="141D2E"/>
          </a:solidFill>
          <a:ln w="12700">
            <a:solidFill>
              <a:srgbClr val="334155"/>
            </a:solidFill>
          </a:ln>
        </p:spPr>
        <p:txBody>
          <a:bodyPr/>
          <a:lstStyle/>
          <a:p>
            <a:endParaRPr/>
          </a:p>
        </p:txBody>
      </p:sp>
      <p:sp>
        <p:nvSpPr>
          <p:cNvPr id="114" name="MemHeader"/>
          <p:cNvSpPr txBox="1"/>
          <p:nvPr/>
        </p:nvSpPr>
        <p:spPr>
          <a:xfrm>
            <a:off x="4470000" y="1180000"/>
            <a:ext cx="2420000" cy="200000"/>
          </a:xfrm>
          <a:prstGeom prst="rect">
            <a:avLst/>
          </a:prstGeom>
          <a:noFill/>
          <a:ln>
            <a:noFill/>
          </a:ln>
        </p:spPr>
        <p:txBody>
          <a:bodyPr wrap="square" lIns="0" tIns="0" rIns="0" bIns="0" anchor="t">
            <a:noAutofit/>
          </a:bodyPr>
          <a:lstStyle/>
          <a:p>
            <a:pPr algn="l">
              <a:buNone/>
            </a:pPr>
            <a:r>
              <a:rPr lang="en-US" sz="800" b="1" spc="150">
                <a:solidFill>
                  <a:srgbClr val="64748B"/>
                </a:solidFill>
                <a:latin typeface="Roboto"/>
                <a:cs typeface="Roboto"/>
              </a:rPr>
              <a:t>CONTIGUOUS MEMORY</a:t>
            </a:r>
          </a:p>
        </p:txBody>
      </p:sp>
      <p:sp>
        <p:nvSpPr>
          <p:cNvPr id="115" name="MemHeaderR"/>
          <p:cNvSpPr txBox="1"/>
          <p:nvPr/>
        </p:nvSpPr>
        <p:spPr>
          <a:xfrm>
            <a:off x="4470000" y="1180000"/>
            <a:ext cx="2420000" cy="200000"/>
          </a:xfrm>
          <a:prstGeom prst="rect">
            <a:avLst/>
          </a:prstGeom>
          <a:noFill/>
          <a:ln>
            <a:noFill/>
          </a:ln>
        </p:spPr>
        <p:txBody>
          <a:bodyPr wrap="square" lIns="0" tIns="0" rIns="0" bIns="0" anchor="t">
            <a:noAutofit/>
          </a:bodyPr>
          <a:lstStyle/>
          <a:p>
            <a:pPr algn="r">
              <a:buNone/>
            </a:pPr>
            <a:r>
              <a:rPr lang="en-US" sz="750">
                <a:solidFill>
                  <a:srgbClr val="475569"/>
                </a:solidFill>
                <a:latin typeface="Consolas"/>
                <a:cs typeface="Consolas"/>
              </a:rPr>
              <a:t>addr ↓</a:t>
            </a:r>
          </a:p>
        </p:txBody>
      </p:sp>
      <p:sp>
        <p:nvSpPr>
          <p:cNvPr id="116" name="accentA"/>
          <p:cNvSpPr/>
          <p:nvPr/>
        </p:nvSpPr>
        <p:spPr>
          <a:xfrm>
            <a:off x="4470000" y="1470000"/>
            <a:ext cx="60000" cy="300000"/>
          </a:xfrm>
          <a:prstGeom prst="rect">
            <a:avLst/>
          </a:prstGeom>
          <a:solidFill>
            <a:srgbClr val="3B82F6"/>
          </a:solidFill>
          <a:ln>
            <a:noFill/>
          </a:ln>
        </p:spPr>
        <p:txBody>
          <a:bodyPr/>
          <a:lstStyle/>
          <a:p>
            <a:endParaRPr/>
          </a:p>
        </p:txBody>
      </p:sp>
      <p:sp>
        <p:nvSpPr>
          <p:cNvPr id="117" name="addrA"/>
          <p:cNvSpPr txBox="1"/>
          <p:nvPr/>
        </p:nvSpPr>
        <p:spPr>
          <a:xfrm>
            <a:off x="4560000" y="1500000"/>
            <a:ext cx="560000" cy="250000"/>
          </a:xfrm>
          <a:prstGeom prst="rect">
            <a:avLst/>
          </a:prstGeom>
          <a:noFill/>
          <a:ln>
            <a:noFill/>
          </a:ln>
        </p:spPr>
        <p:txBody>
          <a:bodyPr wrap="square" lIns="0" tIns="0" rIns="0" bIns="0" anchor="ctr">
            <a:noAutofit/>
          </a:bodyPr>
          <a:lstStyle/>
          <a:p>
            <a:pPr algn="l">
              <a:buNone/>
            </a:pPr>
            <a:r>
              <a:rPr lang="en-US" sz="850">
                <a:solidFill>
                  <a:srgbClr val="64748B"/>
                </a:solidFill>
                <a:latin typeface="Consolas"/>
                <a:cs typeface="Consolas"/>
              </a:rPr>
              <a:t>0x3A10</a:t>
            </a:r>
          </a:p>
        </p:txBody>
      </p:sp>
      <p:sp>
        <p:nvSpPr>
          <p:cNvPr id="118" name="cellA"/>
          <p:cNvSpPr/>
          <p:nvPr/>
        </p:nvSpPr>
        <p:spPr>
          <a:xfrm>
            <a:off x="5150000" y="1470000"/>
            <a:ext cx="1740000" cy="300000"/>
          </a:xfrm>
          <a:prstGeom prst="roundRect">
            <a:avLst>
              <a:gd name="adj" fmla="val 12000"/>
            </a:avLst>
          </a:prstGeom>
          <a:solidFill>
            <a:srgbClr val="17233F"/>
          </a:solidFill>
          <a:ln w="9525">
            <a:solidFill>
              <a:srgbClr val="1E3A5F"/>
            </a:solidFill>
          </a:ln>
        </p:spPr>
        <p:txBody>
          <a:bodyPr/>
          <a:lstStyle/>
          <a:p>
            <a:endParaRPr/>
          </a:p>
        </p:txBody>
      </p:sp>
      <p:sp>
        <p:nvSpPr>
          <p:cNvPr id="119" name="cellAtxt"/>
          <p:cNvSpPr txBox="1"/>
          <p:nvPr/>
        </p:nvSpPr>
        <p:spPr>
          <a:xfrm>
            <a:off x="5250000" y="1470000"/>
            <a:ext cx="1560000" cy="300000"/>
          </a:xfrm>
          <a:prstGeom prst="rect">
            <a:avLst/>
          </a:prstGeom>
          <a:noFill/>
          <a:ln>
            <a:noFill/>
          </a:ln>
        </p:spPr>
        <p:txBody>
          <a:bodyPr wrap="square" lIns="0" tIns="0" rIns="0" bIns="0" anchor="ctr">
            <a:noAutofit/>
          </a:bodyPr>
          <a:lstStyle/>
          <a:p>
            <a:pPr algn="l">
              <a:buNone/>
            </a:pPr>
            <a:r>
              <a:rPr lang="en-US" sz="1000">
                <a:solidFill>
                  <a:srgbClr val="ABB2BF"/>
                </a:solidFill>
                <a:latin typeface="Consolas"/>
                <a:cs typeface="Consolas"/>
              </a:rPr>
              <a:t>x = </a:t>
            </a:r>
            <a:r>
              <a:rPr lang="en-US" sz="1000" b="1">
                <a:solidFill>
                  <a:srgbClr val="60A5FA"/>
                </a:solidFill>
                <a:latin typeface="Consolas"/>
                <a:cs typeface="Consolas"/>
              </a:rPr>
              <a:t>5</a:t>
            </a:r>
          </a:p>
        </p:txBody>
      </p:sp>
      <p:sp>
        <p:nvSpPr>
          <p:cNvPr id="120" name="ell1"/>
          <p:cNvSpPr txBox="1"/>
          <p:nvPr/>
        </p:nvSpPr>
        <p:spPr>
          <a:xfrm>
            <a:off x="5150000" y="1790000"/>
            <a:ext cx="1740000" cy="170000"/>
          </a:xfrm>
          <a:prstGeom prst="rect">
            <a:avLst/>
          </a:prstGeom>
          <a:noFill/>
          <a:ln>
            <a:noFill/>
          </a:ln>
        </p:spPr>
        <p:txBody>
          <a:bodyPr wrap="square" lIns="0" tIns="0" rIns="0" bIns="0" anchor="t">
            <a:noAutofit/>
          </a:bodyPr>
          <a:lstStyle/>
          <a:p>
            <a:pPr algn="ctr">
              <a:buNone/>
            </a:pPr>
            <a:r>
              <a:rPr lang="en-US" sz="1000">
                <a:solidFill>
                  <a:srgbClr val="475569"/>
                </a:solidFill>
                <a:latin typeface="Consolas"/>
                <a:cs typeface="Consolas"/>
              </a:rPr>
              <a:t>⋮</a:t>
            </a:r>
          </a:p>
        </p:txBody>
      </p:sp>
      <p:sp>
        <p:nvSpPr>
          <p:cNvPr id="121" name="accentB"/>
          <p:cNvSpPr/>
          <p:nvPr/>
        </p:nvSpPr>
        <p:spPr>
          <a:xfrm>
            <a:off x="4470000" y="2000000"/>
            <a:ext cx="60000" cy="300000"/>
          </a:xfrm>
          <a:prstGeom prst="rect">
            <a:avLst/>
          </a:prstGeom>
          <a:solidFill>
            <a:srgbClr val="A855F7"/>
          </a:solidFill>
          <a:ln>
            <a:noFill/>
          </a:ln>
        </p:spPr>
        <p:txBody>
          <a:bodyPr/>
          <a:lstStyle/>
          <a:p>
            <a:endParaRPr/>
          </a:p>
        </p:txBody>
      </p:sp>
      <p:sp>
        <p:nvSpPr>
          <p:cNvPr id="122" name="addrB"/>
          <p:cNvSpPr txBox="1"/>
          <p:nvPr/>
        </p:nvSpPr>
        <p:spPr>
          <a:xfrm>
            <a:off x="4560000" y="2030000"/>
            <a:ext cx="560000" cy="250000"/>
          </a:xfrm>
          <a:prstGeom prst="rect">
            <a:avLst/>
          </a:prstGeom>
          <a:noFill/>
          <a:ln>
            <a:noFill/>
          </a:ln>
        </p:spPr>
        <p:txBody>
          <a:bodyPr wrap="square" lIns="0" tIns="0" rIns="0" bIns="0" anchor="ctr">
            <a:noAutofit/>
          </a:bodyPr>
          <a:lstStyle/>
          <a:p>
            <a:pPr algn="l">
              <a:buNone/>
            </a:pPr>
            <a:r>
              <a:rPr lang="en-US" sz="850">
                <a:solidFill>
                  <a:srgbClr val="64748B"/>
                </a:solidFill>
                <a:latin typeface="Consolas"/>
                <a:cs typeface="Consolas"/>
              </a:rPr>
              <a:t>0x2C44</a:t>
            </a:r>
          </a:p>
        </p:txBody>
      </p:sp>
      <p:sp>
        <p:nvSpPr>
          <p:cNvPr id="123" name="cellB"/>
          <p:cNvSpPr/>
          <p:nvPr/>
        </p:nvSpPr>
        <p:spPr>
          <a:xfrm>
            <a:off x="5150000" y="2000000"/>
            <a:ext cx="1740000" cy="300000"/>
          </a:xfrm>
          <a:prstGeom prst="roundRect">
            <a:avLst>
              <a:gd name="adj" fmla="val 12000"/>
            </a:avLst>
          </a:prstGeom>
          <a:solidFill>
            <a:srgbClr val="211A3B"/>
          </a:solidFill>
          <a:ln w="9525">
            <a:solidFill>
              <a:srgbClr val="3B2A5F"/>
            </a:solidFill>
          </a:ln>
        </p:spPr>
        <p:txBody>
          <a:bodyPr/>
          <a:lstStyle/>
          <a:p>
            <a:endParaRPr/>
          </a:p>
        </p:txBody>
      </p:sp>
      <p:sp>
        <p:nvSpPr>
          <p:cNvPr id="124" name="cellBtxt"/>
          <p:cNvSpPr txBox="1"/>
          <p:nvPr/>
        </p:nvSpPr>
        <p:spPr>
          <a:xfrm>
            <a:off x="5250000" y="2000000"/>
            <a:ext cx="1560000" cy="300000"/>
          </a:xfrm>
          <a:prstGeom prst="rect">
            <a:avLst/>
          </a:prstGeom>
          <a:noFill/>
          <a:ln>
            <a:noFill/>
          </a:ln>
        </p:spPr>
        <p:txBody>
          <a:bodyPr wrap="square" lIns="0" tIns="0" rIns="0" bIns="0" anchor="ctr">
            <a:noAutofit/>
          </a:bodyPr>
          <a:lstStyle/>
          <a:p>
            <a:pPr algn="l">
              <a:buNone/>
            </a:pPr>
            <a:r>
              <a:rPr lang="en-US" sz="1000">
                <a:solidFill>
                  <a:srgbClr val="ABB2BF"/>
                </a:solidFill>
                <a:latin typeface="Consolas"/>
                <a:cs typeface="Consolas"/>
              </a:rPr>
              <a:t>rex = </a:t>
            </a:r>
            <a:r>
              <a:rPr lang="en-US" sz="1000" b="1">
                <a:solidFill>
                  <a:srgbClr val="C084FC"/>
                </a:solidFill>
                <a:latin typeface="Consolas"/>
                <a:cs typeface="Consolas"/>
              </a:rPr>
              <a:t>0x4F2A</a:t>
            </a:r>
          </a:p>
        </p:txBody>
      </p:sp>
      <p:sp>
        <p:nvSpPr>
          <p:cNvPr id="125" name="ell2"/>
          <p:cNvSpPr txBox="1"/>
          <p:nvPr/>
        </p:nvSpPr>
        <p:spPr>
          <a:xfrm>
            <a:off x="5150000" y="2320000"/>
            <a:ext cx="1740000" cy="170000"/>
          </a:xfrm>
          <a:prstGeom prst="rect">
            <a:avLst/>
          </a:prstGeom>
          <a:noFill/>
          <a:ln>
            <a:noFill/>
          </a:ln>
        </p:spPr>
        <p:txBody>
          <a:bodyPr wrap="square" lIns="0" tIns="0" rIns="0" bIns="0" anchor="t">
            <a:noAutofit/>
          </a:bodyPr>
          <a:lstStyle/>
          <a:p>
            <a:pPr algn="ctr">
              <a:buNone/>
            </a:pPr>
            <a:r>
              <a:rPr lang="en-US" sz="1000">
                <a:solidFill>
                  <a:srgbClr val="475569"/>
                </a:solidFill>
                <a:latin typeface="Consolas"/>
                <a:cs typeface="Consolas"/>
              </a:rPr>
              <a:t>⋮</a:t>
            </a:r>
          </a:p>
        </p:txBody>
      </p:sp>
      <p:sp>
        <p:nvSpPr>
          <p:cNvPr id="126" name="ptrArrow"/>
          <p:cNvSpPr/>
          <p:nvPr/>
        </p:nvSpPr>
        <p:spPr>
          <a:xfrm>
            <a:off x="5940000" y="2330000"/>
            <a:ext cx="170000" cy="190000"/>
          </a:xfrm>
          <a:prstGeom prst="downArrow">
            <a:avLst/>
          </a:prstGeom>
          <a:solidFill>
            <a:srgbClr val="A855F7"/>
          </a:solidFill>
          <a:ln>
            <a:noFill/>
          </a:ln>
        </p:spPr>
        <p:txBody>
          <a:bodyPr/>
          <a:lstStyle/>
          <a:p>
            <a:endParaRPr/>
          </a:p>
        </p:txBody>
      </p:sp>
      <p:sp>
        <p:nvSpPr>
          <p:cNvPr id="127" name="accentDog"/>
          <p:cNvSpPr/>
          <p:nvPr/>
        </p:nvSpPr>
        <p:spPr>
          <a:xfrm>
            <a:off x="4470000" y="2540000"/>
            <a:ext cx="60000" cy="1050000"/>
          </a:xfrm>
          <a:prstGeom prst="rect">
            <a:avLst/>
          </a:prstGeom>
          <a:solidFill>
            <a:srgbClr val="2DD4BF"/>
          </a:solidFill>
          <a:ln>
            <a:noFill/>
          </a:ln>
        </p:spPr>
        <p:txBody>
          <a:bodyPr/>
          <a:lstStyle/>
          <a:p>
            <a:endParaRPr/>
          </a:p>
        </p:txBody>
      </p:sp>
      <p:sp>
        <p:nvSpPr>
          <p:cNvPr id="128" name="DogBox"/>
          <p:cNvSpPr/>
          <p:nvPr/>
        </p:nvSpPr>
        <p:spPr>
          <a:xfrm>
            <a:off x="5010000" y="2540000"/>
            <a:ext cx="1900000" cy="1050000"/>
          </a:xfrm>
          <a:prstGeom prst="roundRect">
            <a:avLst>
              <a:gd name="adj" fmla="val 6000"/>
            </a:avLst>
          </a:prstGeom>
          <a:solidFill>
            <a:srgbClr val="102E2A"/>
          </a:solidFill>
          <a:ln w="12700">
            <a:solidFill>
              <a:srgbClr val="2DD4BF"/>
            </a:solidFill>
          </a:ln>
        </p:spPr>
        <p:txBody>
          <a:bodyPr/>
          <a:lstStyle/>
          <a:p>
            <a:endParaRPr/>
          </a:p>
        </p:txBody>
      </p:sp>
      <p:sp>
        <p:nvSpPr>
          <p:cNvPr id="129" name="addrDog0"/>
          <p:cNvSpPr txBox="1"/>
          <p:nvPr/>
        </p:nvSpPr>
        <p:spPr>
          <a:xfrm>
            <a:off x="4560000" y="2600000"/>
            <a:ext cx="560000" cy="240000"/>
          </a:xfrm>
          <a:prstGeom prst="rect">
            <a:avLst/>
          </a:prstGeom>
          <a:noFill/>
          <a:ln>
            <a:noFill/>
          </a:ln>
        </p:spPr>
        <p:txBody>
          <a:bodyPr wrap="square" lIns="0" tIns="0" rIns="0" bIns="0" anchor="ctr">
            <a:noAutofit/>
          </a:bodyPr>
          <a:lstStyle/>
          <a:p>
            <a:pPr algn="l">
              <a:buNone/>
            </a:pPr>
            <a:r>
              <a:rPr lang="en-US" sz="800">
                <a:solidFill>
                  <a:srgbClr val="64748B"/>
                </a:solidFill>
                <a:latin typeface="Consolas"/>
                <a:cs typeface="Consolas"/>
              </a:rPr>
              <a:t>0x4F2A</a:t>
            </a:r>
          </a:p>
        </p:txBody>
      </p:sp>
      <p:sp>
        <p:nvSpPr>
          <p:cNvPr id="130" name="dogHdr"/>
          <p:cNvSpPr txBox="1"/>
          <p:nvPr/>
        </p:nvSpPr>
        <p:spPr>
          <a:xfrm>
            <a:off x="5110000" y="2585000"/>
            <a:ext cx="1720000" cy="240000"/>
          </a:xfrm>
          <a:prstGeom prst="rect">
            <a:avLst/>
          </a:prstGeom>
          <a:noFill/>
          <a:ln>
            <a:noFill/>
          </a:ln>
        </p:spPr>
        <p:txBody>
          <a:bodyPr wrap="square" lIns="0" tIns="0" rIns="0" bIns="0" anchor="ctr">
            <a:noAutofit/>
          </a:bodyPr>
          <a:lstStyle/>
          <a:p>
            <a:pPr algn="l">
              <a:buNone/>
            </a:pPr>
            <a:r>
              <a:rPr lang="en-US" sz="950" b="1">
                <a:solidFill>
                  <a:srgbClr val="5EEAD4"/>
                </a:solidFill>
                <a:latin typeface="Consolas"/>
                <a:cs typeface="Consolas"/>
              </a:rPr>
              <a:t>Dog </a:t>
            </a:r>
            <a:r>
              <a:rPr lang="en-US" sz="950">
                <a:solidFill>
                  <a:srgbClr val="ABB2BF"/>
                </a:solidFill>
                <a:latin typeface="Consolas"/>
                <a:cs typeface="Consolas"/>
              </a:rPr>
              <a:t>{</a:t>
            </a:r>
          </a:p>
        </p:txBody>
      </p:sp>
      <p:sp>
        <p:nvSpPr>
          <p:cNvPr id="131" name="addrDog1"/>
          <p:cNvSpPr txBox="1"/>
          <p:nvPr/>
        </p:nvSpPr>
        <p:spPr>
          <a:xfrm>
            <a:off x="4560000" y="2900000"/>
            <a:ext cx="560000" cy="240000"/>
          </a:xfrm>
          <a:prstGeom prst="rect">
            <a:avLst/>
          </a:prstGeom>
          <a:noFill/>
          <a:ln>
            <a:noFill/>
          </a:ln>
        </p:spPr>
        <p:txBody>
          <a:bodyPr wrap="square" lIns="0" tIns="0" rIns="0" bIns="0" anchor="ctr">
            <a:noAutofit/>
          </a:bodyPr>
          <a:lstStyle/>
          <a:p>
            <a:pPr algn="l">
              <a:buNone/>
            </a:pPr>
            <a:r>
              <a:rPr lang="en-US" sz="800">
                <a:solidFill>
                  <a:srgbClr val="64748B"/>
                </a:solidFill>
                <a:latin typeface="Consolas"/>
                <a:cs typeface="Consolas"/>
              </a:rPr>
              <a:t>0x4F2E</a:t>
            </a:r>
          </a:p>
        </p:txBody>
      </p:sp>
      <p:sp>
        <p:nvSpPr>
          <p:cNvPr id="132" name="dogF1"/>
          <p:cNvSpPr txBox="1"/>
          <p:nvPr/>
        </p:nvSpPr>
        <p:spPr>
          <a:xfrm>
            <a:off x="5230000" y="2885000"/>
            <a:ext cx="1600000" cy="240000"/>
          </a:xfrm>
          <a:prstGeom prst="rect">
            <a:avLst/>
          </a:prstGeom>
          <a:noFill/>
          <a:ln>
            <a:noFill/>
          </a:ln>
        </p:spPr>
        <p:txBody>
          <a:bodyPr wrap="square" lIns="0" tIns="0" rIns="0" bIns="0" anchor="ctr">
            <a:noAutofit/>
          </a:bodyPr>
          <a:lstStyle/>
          <a:p>
            <a:pPr algn="l">
              <a:buNone/>
            </a:pPr>
            <a:r>
              <a:rPr lang="en-US" sz="900">
                <a:solidFill>
                  <a:srgbClr val="ABB2BF"/>
                </a:solidFill>
                <a:latin typeface="Consolas"/>
                <a:cs typeface="Consolas"/>
              </a:rPr>
              <a:t>name = </a:t>
            </a:r>
            <a:r>
              <a:rPr lang="en-US" sz="900">
                <a:solidFill>
                  <a:srgbClr val="98C379"/>
                </a:solidFill>
                <a:latin typeface="Consolas"/>
                <a:cs typeface="Consolas"/>
              </a:rPr>
              <a:t>"Rex"</a:t>
            </a:r>
          </a:p>
        </p:txBody>
      </p:sp>
      <p:sp>
        <p:nvSpPr>
          <p:cNvPr id="133" name="addrDog2"/>
          <p:cNvSpPr txBox="1"/>
          <p:nvPr/>
        </p:nvSpPr>
        <p:spPr>
          <a:xfrm>
            <a:off x="4560000" y="3200000"/>
            <a:ext cx="560000" cy="240000"/>
          </a:xfrm>
          <a:prstGeom prst="rect">
            <a:avLst/>
          </a:prstGeom>
          <a:noFill/>
          <a:ln>
            <a:noFill/>
          </a:ln>
        </p:spPr>
        <p:txBody>
          <a:bodyPr wrap="square" lIns="0" tIns="0" rIns="0" bIns="0" anchor="ctr">
            <a:noAutofit/>
          </a:bodyPr>
          <a:lstStyle/>
          <a:p>
            <a:pPr algn="l">
              <a:buNone/>
            </a:pPr>
            <a:r>
              <a:rPr lang="en-US" sz="800">
                <a:solidFill>
                  <a:srgbClr val="64748B"/>
                </a:solidFill>
                <a:latin typeface="Consolas"/>
                <a:cs typeface="Consolas"/>
              </a:rPr>
              <a:t>0x4F32</a:t>
            </a:r>
          </a:p>
        </p:txBody>
      </p:sp>
      <p:sp>
        <p:nvSpPr>
          <p:cNvPr id="134" name="dogF2"/>
          <p:cNvSpPr txBox="1"/>
          <p:nvPr/>
        </p:nvSpPr>
        <p:spPr>
          <a:xfrm>
            <a:off x="5230000" y="3185000"/>
            <a:ext cx="1600000" cy="240000"/>
          </a:xfrm>
          <a:prstGeom prst="rect">
            <a:avLst/>
          </a:prstGeom>
          <a:noFill/>
          <a:ln>
            <a:noFill/>
          </a:ln>
        </p:spPr>
        <p:txBody>
          <a:bodyPr wrap="square" lIns="0" tIns="0" rIns="0" bIns="0" anchor="ctr">
            <a:noAutofit/>
          </a:bodyPr>
          <a:lstStyle/>
          <a:p>
            <a:pPr algn="l">
              <a:buNone/>
            </a:pPr>
            <a:r>
              <a:rPr lang="en-US" sz="900">
                <a:solidFill>
                  <a:srgbClr val="ABB2BF"/>
                </a:solidFill>
                <a:latin typeface="Consolas"/>
                <a:cs typeface="Consolas"/>
              </a:rPr>
              <a:t>age  = </a:t>
            </a:r>
            <a:r>
              <a:rPr lang="en-US" sz="900">
                <a:solidFill>
                  <a:srgbClr val="D19A66"/>
                </a:solidFill>
                <a:latin typeface="Consolas"/>
                <a:cs typeface="Consolas"/>
              </a:rPr>
              <a:t>0</a:t>
            </a:r>
          </a:p>
        </p:txBody>
      </p:sp>
      <p:sp>
        <p:nvSpPr>
          <p:cNvPr id="135" name="cap"/>
          <p:cNvSpPr txBox="1"/>
          <p:nvPr/>
        </p:nvSpPr>
        <p:spPr>
          <a:xfrm>
            <a:off x="7080000" y="1465000"/>
            <a:ext cx="1740000" cy="900000"/>
          </a:xfrm>
          <a:prstGeom prst="rect">
            <a:avLst/>
          </a:prstGeom>
          <a:noFill/>
          <a:ln>
            <a:noFill/>
          </a:ln>
        </p:spPr>
        <p:txBody>
          <a:bodyPr wrap="square" lIns="0" tIns="0" rIns="0" bIns="0" anchor="t">
            <a:noAutofit/>
          </a:bodyPr>
          <a:lstStyle/>
          <a:p>
            <a:pPr algn="l">
              <a:lnSpc>
                <a:spcPct val="105000"/>
              </a:lnSpc>
              <a:buNone/>
            </a:pPr>
            <a:r>
              <a:rPr lang="en-US" sz="950" b="1">
                <a:solidFill>
                  <a:srgbClr val="60A5FA"/>
                </a:solidFill>
                <a:latin typeface="Roboto"/>
                <a:cs typeface="Roboto"/>
              </a:rPr>
              <a:t>Primitive</a:t>
            </a:r>
          </a:p>
          <a:p>
            <a:pPr algn="l">
              <a:lnSpc>
                <a:spcPct val="105000"/>
              </a:lnSpc>
              <a:buNone/>
            </a:pPr>
            <a:r>
              <a:rPr lang="en-US" sz="850">
                <a:solidFill>
                  <a:srgbClr val="94A3B8"/>
                </a:solidFill>
                <a:latin typeface="Roboto"/>
                <a:cs typeface="Roboto"/>
              </a:rPr>
              <a:t>The value lives directly in x’s memory word.</a:t>
            </a:r>
          </a:p>
        </p:txBody>
      </p:sp>
      <p:sp>
        <p:nvSpPr>
          <p:cNvPr id="136" name="cap"/>
          <p:cNvSpPr txBox="1"/>
          <p:nvPr/>
        </p:nvSpPr>
        <p:spPr>
          <a:xfrm>
            <a:off x="7080000" y="1995000"/>
            <a:ext cx="1740000" cy="900000"/>
          </a:xfrm>
          <a:prstGeom prst="rect">
            <a:avLst/>
          </a:prstGeom>
          <a:noFill/>
          <a:ln>
            <a:noFill/>
          </a:ln>
        </p:spPr>
        <p:txBody>
          <a:bodyPr wrap="square" lIns="0" tIns="0" rIns="0" bIns="0" anchor="t">
            <a:noAutofit/>
          </a:bodyPr>
          <a:lstStyle/>
          <a:p>
            <a:pPr algn="l">
              <a:lnSpc>
                <a:spcPct val="105000"/>
              </a:lnSpc>
              <a:buNone/>
            </a:pPr>
            <a:r>
              <a:rPr lang="en-US" sz="950" b="1">
                <a:solidFill>
                  <a:srgbClr val="C084FC"/>
                </a:solidFill>
                <a:latin typeface="Roboto"/>
                <a:cs typeface="Roboto"/>
              </a:rPr>
              <a:t>Reference</a:t>
            </a:r>
          </a:p>
          <a:p>
            <a:pPr algn="l">
              <a:lnSpc>
                <a:spcPct val="105000"/>
              </a:lnSpc>
              <a:buNone/>
            </a:pPr>
            <a:r>
              <a:rPr lang="en-US" sz="850">
                <a:solidFill>
                  <a:srgbClr val="94A3B8"/>
                </a:solidFill>
                <a:latin typeface="Roboto"/>
                <a:cs typeface="Roboto"/>
              </a:rPr>
              <a:t>rex holds an address — a pointer, not the object itself.</a:t>
            </a:r>
          </a:p>
        </p:txBody>
      </p:sp>
      <p:sp>
        <p:nvSpPr>
          <p:cNvPr id="137" name="cap"/>
          <p:cNvSpPr txBox="1"/>
          <p:nvPr/>
        </p:nvSpPr>
        <p:spPr>
          <a:xfrm>
            <a:off x="7080000" y="2590000"/>
            <a:ext cx="1740000" cy="900000"/>
          </a:xfrm>
          <a:prstGeom prst="rect">
            <a:avLst/>
          </a:prstGeom>
          <a:noFill/>
          <a:ln>
            <a:noFill/>
          </a:ln>
        </p:spPr>
        <p:txBody>
          <a:bodyPr wrap="square" lIns="0" tIns="0" rIns="0" bIns="0" anchor="t">
            <a:noAutofit/>
          </a:bodyPr>
          <a:lstStyle/>
          <a:p>
            <a:pPr algn="l">
              <a:lnSpc>
                <a:spcPct val="105000"/>
              </a:lnSpc>
              <a:buNone/>
            </a:pPr>
            <a:r>
              <a:rPr lang="en-US" sz="950" b="1">
                <a:solidFill>
                  <a:srgbClr val="5EEAD4"/>
                </a:solidFill>
                <a:latin typeface="Roboto"/>
                <a:cs typeface="Roboto"/>
              </a:rPr>
              <a:t>Heap object</a:t>
            </a:r>
          </a:p>
          <a:p>
            <a:pPr algn="l">
              <a:lnSpc>
                <a:spcPct val="105000"/>
              </a:lnSpc>
              <a:buNone/>
            </a:pPr>
            <a:r>
              <a:rPr lang="en-US" sz="850">
                <a:solidFill>
                  <a:srgbClr val="94A3B8"/>
                </a:solidFill>
                <a:latin typeface="Roboto"/>
                <a:cs typeface="Roboto"/>
              </a:rPr>
              <a:t>The Dog’s fields occupy contiguous words at 0x4F2A.</a:t>
            </a:r>
          </a:p>
        </p:txBody>
      </p:sp>
      <p:sp>
        <p:nvSpPr>
          <p:cNvPr id="138" name="fsq1"/>
          <p:cNvSpPr/>
          <p:nvPr/>
        </p:nvSpPr>
        <p:spPr>
          <a:xfrm>
            <a:off x="311700" y="4880000"/>
            <a:ext cx="120000" cy="120000"/>
          </a:xfrm>
          <a:prstGeom prst="rect">
            <a:avLst/>
          </a:prstGeom>
          <a:solidFill>
            <a:srgbClr val="24CBE5"/>
          </a:solidFill>
          <a:ln>
            <a:noFill/>
          </a:ln>
        </p:spPr>
        <p:txBody>
          <a:bodyPr/>
          <a:lstStyle/>
          <a:p>
            <a:endParaRPr/>
          </a:p>
        </p:txBody>
      </p:sp>
      <p:sp>
        <p:nvSpPr>
          <p:cNvPr id="139" name="fsq2"/>
          <p:cNvSpPr/>
          <p:nvPr/>
        </p:nvSpPr>
        <p:spPr>
          <a:xfrm>
            <a:off x="471700" y="4880000"/>
            <a:ext cx="120000" cy="120000"/>
          </a:xfrm>
          <a:prstGeom prst="rect">
            <a:avLst/>
          </a:prstGeom>
          <a:solidFill>
            <a:srgbClr val="ED561B"/>
          </a:solidFill>
          <a:ln>
            <a:noFill/>
          </a:ln>
        </p:spPr>
        <p:txBody>
          <a:bodyPr/>
          <a:lstStyle/>
          <a:p>
            <a:endParaRPr/>
          </a:p>
        </p:txBody>
      </p:sp>
      <p:sp>
        <p:nvSpPr>
          <p:cNvPr id="140" name="fsq3"/>
          <p:cNvSpPr/>
          <p:nvPr/>
        </p:nvSpPr>
        <p:spPr>
          <a:xfrm>
            <a:off x="631700" y="4880000"/>
            <a:ext cx="120000" cy="120000"/>
          </a:xfrm>
          <a:prstGeom prst="rect">
            <a:avLst/>
          </a:prstGeom>
          <a:solidFill>
            <a:srgbClr val="50B432"/>
          </a:solidFill>
          <a:ln>
            <a:noFill/>
          </a:ln>
        </p:spPr>
        <p:txBody>
          <a:bodyPr/>
          <a:lstStyle/>
          <a:p>
            <a:endParaRPr/>
          </a:p>
        </p:txBody>
      </p:sp>
      <p:sp>
        <p:nvSpPr>
          <p:cNvPr id="141" name="CourseTag"/>
          <p:cNvSpPr txBox="1"/>
          <p:nvPr/>
        </p:nvSpPr>
        <p:spPr>
          <a:xfrm>
            <a:off x="820000" y="4880000"/>
            <a:ext cx="4200000" cy="200000"/>
          </a:xfrm>
          <a:prstGeom prst="rect">
            <a:avLst/>
          </a:prstGeom>
          <a:noFill/>
          <a:ln>
            <a:noFill/>
          </a:ln>
        </p:spPr>
        <p:txBody>
          <a:bodyPr wrap="square" lIns="0" tIns="0" rIns="0" bIns="0" anchor="ctr">
            <a:noAutofit/>
          </a:bodyPr>
          <a:lstStyle/>
          <a:p>
            <a:pPr algn="l">
              <a:buNone/>
            </a:pPr>
            <a:r>
              <a:rPr lang="en-US" sz="850" b="1" spc="150">
                <a:solidFill>
                  <a:srgbClr val="64748B"/>
                </a:solidFill>
                <a:latin typeface="Roboto"/>
                <a:cs typeface="Roboto"/>
              </a:rPr>
              <a:t>CSC 226   ·   DATA STRUCTURES</a:t>
            </a:r>
          </a:p>
        </p:txBody>
      </p:sp>
      <p:sp>
        <p:nvSpPr>
          <p:cNvPr id="142" name="PageNum"/>
          <p:cNvSpPr txBox="1"/>
          <p:nvPr/>
        </p:nvSpPr>
        <p:spPr>
          <a:xfrm>
            <a:off x="8400000" y="4870000"/>
            <a:ext cx="430000" cy="200000"/>
          </a:xfrm>
          <a:prstGeom prst="rect">
            <a:avLst/>
          </a:prstGeom>
          <a:noFill/>
          <a:ln>
            <a:noFill/>
          </a:ln>
        </p:spPr>
        <p:txBody>
          <a:bodyPr wrap="square" lIns="0" tIns="0" rIns="0" bIns="0" anchor="ctr">
            <a:noAutofit/>
          </a:bodyPr>
          <a:lstStyle/>
          <a:p>
            <a:pPr algn="r">
              <a:buNone/>
            </a:pPr>
            <a:r>
              <a:rPr lang="en-US" sz="1000" b="1">
                <a:solidFill>
                  <a:srgbClr val="475569"/>
                </a:solidFill>
                <a:latin typeface="Roboto"/>
                <a:cs typeface="Roboto"/>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1BDA-4372-4F44-8455-49ECF33915B1}"/>
              </a:ext>
            </a:extLst>
          </p:cNvPr>
          <p:cNvSpPr>
            <a:spLocks noGrp="1"/>
          </p:cNvSpPr>
          <p:nvPr>
            <p:ph type="title"/>
          </p:nvPr>
        </p:nvSpPr>
        <p:spPr>
          <a:xfrm>
            <a:off x="311700" y="410000"/>
            <a:ext cx="8520600" cy="607800"/>
          </a:xfrm>
        </p:spPr>
        <p:txBody>
          <a:bodyPr wrap="square" anchor="ctr">
            <a:normAutofit/>
          </a:bodyPr>
          <a:lstStyle/>
          <a:p>
            <a:pPr>
              <a:lnSpc>
                <a:spcPct val="90000"/>
              </a:lnSpc>
            </a:pPr>
            <a:r>
              <a:rPr lang="en-US"/>
              <a:t>Direct Addressing</a:t>
            </a:r>
          </a:p>
        </p:txBody>
      </p:sp>
      <p:sp>
        <p:nvSpPr>
          <p:cNvPr id="3" name="Text Placeholder 2">
            <a:extLst>
              <a:ext uri="{FF2B5EF4-FFF2-40B4-BE49-F238E27FC236}">
                <a16:creationId xmlns:a16="http://schemas.microsoft.com/office/drawing/2014/main" id="{2BD98807-FE28-C657-D09C-EC0F1F4D64AE}"/>
              </a:ext>
            </a:extLst>
          </p:cNvPr>
          <p:cNvSpPr>
            <a:spLocks noGrp="1"/>
          </p:cNvSpPr>
          <p:nvPr>
            <p:ph type="body" idx="4294967295"/>
          </p:nvPr>
        </p:nvSpPr>
        <p:spPr>
          <a:xfrm>
            <a:off x="311700" y="1208300"/>
            <a:ext cx="4069800" cy="3264408"/>
          </a:xfrm>
        </p:spPr>
        <p:txBody>
          <a:bodyPr anchor="t">
            <a:normAutofit/>
          </a:bodyPr>
          <a:lstStyle/>
          <a:p>
            <a:pPr>
              <a:spcAft>
                <a:spcPts val="600"/>
              </a:spcAft>
              <a:buClr>
                <a:srgbClr val="000000"/>
              </a:buClr>
              <a:buFont typeface="Arial"/>
            </a:pPr>
            <a:r>
              <a:rPr lang="en-US" b="0" i="0" u="none" strike="noStrike" cap="none">
                <a:solidFill>
                  <a:schemeClr val="dk1"/>
                </a:solidFill>
              </a:rPr>
              <a:t>Most common in higher-level languages.</a:t>
            </a:r>
          </a:p>
          <a:p>
            <a:pPr>
              <a:spcAft>
                <a:spcPts val="600"/>
              </a:spcAft>
              <a:buClr>
                <a:srgbClr val="000000"/>
              </a:buClr>
              <a:buFont typeface="Arial"/>
            </a:pPr>
            <a:r>
              <a:rPr lang="en-US" b="0" i="0" u="none" strike="noStrike" cap="none">
                <a:solidFill>
                  <a:schemeClr val="dk1"/>
                </a:solidFill>
              </a:rPr>
              <a:t>Accesses variables by their name.</a:t>
            </a:r>
          </a:p>
          <a:p>
            <a:pPr>
              <a:spcAft>
                <a:spcPts val="600"/>
              </a:spcAft>
              <a:buClr>
                <a:srgbClr val="000000"/>
              </a:buClr>
              <a:buFont typeface="Arial"/>
            </a:pPr>
            <a:r>
              <a:rPr lang="en-US" b="0" i="0" u="none" strike="noStrike" cap="none">
                <a:solidFill>
                  <a:schemeClr val="dk1"/>
                </a:solidFill>
              </a:rPr>
              <a:t>Example: x = 5 or print(name).</a:t>
            </a:r>
          </a:p>
          <a:p>
            <a:pPr>
              <a:spcAft>
                <a:spcPts val="600"/>
              </a:spcAft>
              <a:buClr>
                <a:srgbClr val="000000"/>
              </a:buClr>
              <a:buFont typeface="Arial"/>
            </a:pPr>
            <a:r>
              <a:rPr lang="en-US" b="0" i="0" u="none" strike="noStrike" cap="none">
                <a:solidFill>
                  <a:schemeClr val="dk1"/>
                </a:solidFill>
              </a:rPr>
              <a:t>The compiler or interpreter maps names to memory locations.</a:t>
            </a:r>
          </a:p>
          <a:p>
            <a:pPr>
              <a:spcAft>
                <a:spcPts val="600"/>
              </a:spcAft>
              <a:buClr>
                <a:srgbClr val="000000"/>
              </a:buClr>
              <a:buFont typeface="Arial"/>
            </a:pPr>
            <a:endParaRPr lang="en-US" b="0" i="0" u="none" strike="noStrike" cap="none">
              <a:solidFill>
                <a:schemeClr val="dk1"/>
              </a:solidFill>
            </a:endParaRPr>
          </a:p>
        </p:txBody>
      </p:sp>
      <p:pic>
        <p:nvPicPr>
          <p:cNvPr id="5" name="Picture 4">
            <a:extLst>
              <a:ext uri="{FF2B5EF4-FFF2-40B4-BE49-F238E27FC236}">
                <a16:creationId xmlns:a16="http://schemas.microsoft.com/office/drawing/2014/main" id="{C4E69F20-100F-4732-045F-3BCE436A8821}"/>
              </a:ext>
            </a:extLst>
          </p:cNvPr>
          <p:cNvPicPr>
            <a:picLocks noChangeAspect="1"/>
          </p:cNvPicPr>
          <p:nvPr/>
        </p:nvPicPr>
        <p:blipFill>
          <a:blip r:embed="rId3"/>
          <a:srcRect l="14575" r="37756"/>
          <a:stretch>
            <a:fillRect/>
          </a:stretch>
        </p:blipFill>
        <p:spPr>
          <a:xfrm>
            <a:off x="4762500" y="1208300"/>
            <a:ext cx="4069800" cy="3264408"/>
          </a:xfrm>
          <a:prstGeom prst="rect">
            <a:avLst/>
          </a:prstGeom>
          <a:noFill/>
          <a:ln>
            <a:noFill/>
          </a:ln>
        </p:spPr>
      </p:pic>
    </p:spTree>
    <p:extLst>
      <p:ext uri="{BB962C8B-B14F-4D97-AF65-F5344CB8AC3E}">
        <p14:creationId xmlns:p14="http://schemas.microsoft.com/office/powerpoint/2010/main" val="3416142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E10DD-E058-15A8-DED6-9ECDD0FC2EDF}"/>
              </a:ext>
            </a:extLst>
          </p:cNvPr>
          <p:cNvSpPr>
            <a:spLocks noGrp="1"/>
          </p:cNvSpPr>
          <p:nvPr>
            <p:ph type="title"/>
          </p:nvPr>
        </p:nvSpPr>
        <p:spPr>
          <a:xfrm>
            <a:off x="311700" y="410000"/>
            <a:ext cx="8520600" cy="607800"/>
          </a:xfrm>
        </p:spPr>
        <p:txBody>
          <a:bodyPr wrap="square" anchor="ctr">
            <a:normAutofit/>
          </a:bodyPr>
          <a:lstStyle/>
          <a:p>
            <a:pPr>
              <a:lnSpc>
                <a:spcPct val="90000"/>
              </a:lnSpc>
            </a:pPr>
            <a:r>
              <a:rPr lang="en-US"/>
              <a:t>Indirect Accessing</a:t>
            </a:r>
          </a:p>
        </p:txBody>
      </p:sp>
      <p:sp>
        <p:nvSpPr>
          <p:cNvPr id="3" name="Text Placeholder 2">
            <a:extLst>
              <a:ext uri="{FF2B5EF4-FFF2-40B4-BE49-F238E27FC236}">
                <a16:creationId xmlns:a16="http://schemas.microsoft.com/office/drawing/2014/main" id="{D0EE3B3D-2D6E-83BF-692B-743D32839463}"/>
              </a:ext>
            </a:extLst>
          </p:cNvPr>
          <p:cNvSpPr>
            <a:spLocks noGrp="1"/>
          </p:cNvSpPr>
          <p:nvPr>
            <p:ph type="body" idx="4294967295"/>
          </p:nvPr>
        </p:nvSpPr>
        <p:spPr>
          <a:xfrm>
            <a:off x="311700" y="1208300"/>
            <a:ext cx="4069800" cy="3264408"/>
          </a:xfrm>
        </p:spPr>
        <p:txBody>
          <a:bodyPr anchor="t">
            <a:normAutofit/>
          </a:bodyPr>
          <a:lstStyle/>
          <a:p>
            <a:pPr>
              <a:lnSpc>
                <a:spcPct val="105000"/>
              </a:lnSpc>
              <a:spcAft>
                <a:spcPts val="600"/>
              </a:spcAft>
              <a:buClr>
                <a:srgbClr val="000000"/>
              </a:buClr>
              <a:buFont typeface="Arial"/>
            </a:pPr>
            <a:r>
              <a:rPr lang="en-US" sz="1500" b="0" i="0" u="none" strike="noStrike" cap="none">
                <a:solidFill>
                  <a:schemeClr val="dk1"/>
                </a:solidFill>
              </a:rPr>
              <a:t>The variable does not hold the actual value but instead holds the address of the location where the value is stored.</a:t>
            </a:r>
          </a:p>
          <a:p>
            <a:pPr>
              <a:lnSpc>
                <a:spcPct val="105000"/>
              </a:lnSpc>
              <a:spcAft>
                <a:spcPts val="600"/>
              </a:spcAft>
              <a:buClr>
                <a:srgbClr val="000000"/>
              </a:buClr>
              <a:buFont typeface="Arial"/>
            </a:pPr>
            <a:r>
              <a:rPr lang="en-US" sz="1500" b="0" i="0" u="none" strike="noStrike" cap="none">
                <a:solidFill>
                  <a:schemeClr val="dk1"/>
                </a:solidFill>
              </a:rPr>
              <a:t>This adds a level of indirection</a:t>
            </a:r>
          </a:p>
          <a:p>
            <a:pPr lvl="1">
              <a:lnSpc>
                <a:spcPct val="105000"/>
              </a:lnSpc>
              <a:spcAft>
                <a:spcPts val="600"/>
              </a:spcAft>
              <a:buClr>
                <a:srgbClr val="000000"/>
              </a:buClr>
              <a:buFont typeface="Arial"/>
            </a:pPr>
            <a:r>
              <a:rPr lang="en-US" sz="1500" b="0" i="0" u="none" strike="noStrike" cap="none">
                <a:solidFill>
                  <a:schemeClr val="dk1"/>
                </a:solidFill>
              </a:rPr>
              <a:t>the program must first look up the address, then retrieve the value from that location.</a:t>
            </a:r>
          </a:p>
          <a:p>
            <a:pPr>
              <a:lnSpc>
                <a:spcPct val="105000"/>
              </a:lnSpc>
              <a:spcAft>
                <a:spcPts val="600"/>
              </a:spcAft>
              <a:buClr>
                <a:srgbClr val="000000"/>
              </a:buClr>
              <a:buFont typeface="Arial"/>
            </a:pPr>
            <a:r>
              <a:rPr lang="en-US" sz="1500" b="0" i="0" u="none" strike="noStrike" cap="none">
                <a:solidFill>
                  <a:schemeClr val="dk1"/>
                </a:solidFill>
              </a:rPr>
              <a:t>Common in pointers (e.g., in C/C++) and references</a:t>
            </a:r>
          </a:p>
          <a:p>
            <a:pPr lvl="1">
              <a:lnSpc>
                <a:spcPct val="105000"/>
              </a:lnSpc>
              <a:spcAft>
                <a:spcPts val="600"/>
              </a:spcAft>
              <a:buClr>
                <a:srgbClr val="000000"/>
              </a:buClr>
              <a:buSzPts val="1800"/>
              <a:buFont typeface="Arial"/>
            </a:pPr>
            <a:r>
              <a:rPr lang="en-US" sz="1500" b="0" i="0" u="none" strike="noStrike" cap="none">
                <a:solidFill>
                  <a:schemeClr val="dk1"/>
                </a:solidFill>
              </a:rPr>
              <a:t>Java objects</a:t>
            </a:r>
          </a:p>
          <a:p>
            <a:pPr>
              <a:lnSpc>
                <a:spcPct val="105000"/>
              </a:lnSpc>
              <a:spcAft>
                <a:spcPts val="600"/>
              </a:spcAft>
              <a:buClr>
                <a:srgbClr val="000000"/>
              </a:buClr>
              <a:buFont typeface="Arial"/>
            </a:pPr>
            <a:endParaRPr lang="en-US" sz="1500" b="0" i="0" u="none" strike="noStrike" cap="none">
              <a:solidFill>
                <a:schemeClr val="dk1"/>
              </a:solidFill>
            </a:endParaRPr>
          </a:p>
        </p:txBody>
      </p:sp>
      <p:pic>
        <p:nvPicPr>
          <p:cNvPr id="5" name="Picture 4">
            <a:extLst>
              <a:ext uri="{FF2B5EF4-FFF2-40B4-BE49-F238E27FC236}">
                <a16:creationId xmlns:a16="http://schemas.microsoft.com/office/drawing/2014/main" id="{2E42BE32-18B3-49E9-2591-32F4E121F39D}"/>
              </a:ext>
            </a:extLst>
          </p:cNvPr>
          <p:cNvPicPr>
            <a:picLocks noChangeAspect="1"/>
          </p:cNvPicPr>
          <p:nvPr/>
        </p:nvPicPr>
        <p:blipFill>
          <a:blip r:embed="rId2"/>
          <a:srcRect r="7237" b="1"/>
          <a:stretch>
            <a:fillRect/>
          </a:stretch>
        </p:blipFill>
        <p:spPr>
          <a:xfrm>
            <a:off x="4762500" y="1208300"/>
            <a:ext cx="4069800" cy="3264408"/>
          </a:xfrm>
          <a:prstGeom prst="rect">
            <a:avLst/>
          </a:prstGeom>
          <a:noFill/>
          <a:ln>
            <a:noFill/>
          </a:ln>
        </p:spPr>
      </p:pic>
    </p:spTree>
    <p:extLst>
      <p:ext uri="{BB962C8B-B14F-4D97-AF65-F5344CB8AC3E}">
        <p14:creationId xmlns:p14="http://schemas.microsoft.com/office/powerpoint/2010/main" val="853138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E5CA9-1E70-7D30-2788-6EDDDD4BE547}"/>
              </a:ext>
            </a:extLst>
          </p:cNvPr>
          <p:cNvSpPr>
            <a:spLocks noGrp="1"/>
          </p:cNvSpPr>
          <p:nvPr>
            <p:ph type="title"/>
          </p:nvPr>
        </p:nvSpPr>
        <p:spPr/>
        <p:txBody>
          <a:bodyPr>
            <a:normAutofit fontScale="90000"/>
          </a:bodyPr>
          <a:lstStyle/>
          <a:p>
            <a:r>
              <a:rPr lang="en-US"/>
              <a:t>Why do we bother with indirect accessing?</a:t>
            </a:r>
          </a:p>
        </p:txBody>
      </p:sp>
      <p:sp>
        <p:nvSpPr>
          <p:cNvPr id="3" name="Text Placeholder 2">
            <a:extLst>
              <a:ext uri="{FF2B5EF4-FFF2-40B4-BE49-F238E27FC236}">
                <a16:creationId xmlns:a16="http://schemas.microsoft.com/office/drawing/2014/main" id="{9B85BCD8-E5B8-EAF8-93F0-D0A16A569466}"/>
              </a:ext>
            </a:extLst>
          </p:cNvPr>
          <p:cNvSpPr>
            <a:spLocks noGrp="1"/>
          </p:cNvSpPr>
          <p:nvPr>
            <p:ph type="body" idx="1"/>
          </p:nvPr>
        </p:nvSpPr>
        <p:spPr/>
        <p:txBody>
          <a:bodyPr>
            <a:normAutofit fontScale="92500" lnSpcReduction="20000"/>
          </a:bodyPr>
          <a:lstStyle/>
          <a:p>
            <a:r>
              <a:rPr lang="en-US"/>
              <a:t>Objects in java and other languages can be </a:t>
            </a:r>
            <a:r>
              <a:rPr lang="en-US" b="1"/>
              <a:t>complex</a:t>
            </a:r>
            <a:endParaRPr lang="en-US"/>
          </a:p>
          <a:p>
            <a:pPr lvl="1"/>
            <a:r>
              <a:rPr lang="en-US"/>
              <a:t>We often use simple examples, but think of a class with many fields and methods</a:t>
            </a:r>
          </a:p>
          <a:p>
            <a:r>
              <a:rPr lang="en-US"/>
              <a:t>If we stored the whole object </a:t>
            </a:r>
            <a:r>
              <a:rPr lang="en-US" b="1"/>
              <a:t>directly</a:t>
            </a:r>
            <a:r>
              <a:rPr lang="en-US"/>
              <a:t> in variables</a:t>
            </a:r>
          </a:p>
          <a:p>
            <a:pPr lvl="1"/>
            <a:r>
              <a:rPr lang="en-US"/>
              <a:t>We'd need to move large chunks of memory when passing objects to methods</a:t>
            </a:r>
          </a:p>
          <a:p>
            <a:pPr lvl="1"/>
            <a:r>
              <a:rPr lang="en-US"/>
              <a:t>Even simple operations would become slow and inefficient</a:t>
            </a:r>
          </a:p>
          <a:p>
            <a:pPr lvl="2"/>
            <a:r>
              <a:rPr lang="en-US"/>
              <a:t>This would compound over time</a:t>
            </a:r>
          </a:p>
          <a:p>
            <a:r>
              <a:rPr lang="en-US"/>
              <a:t>When we pass values by reference</a:t>
            </a:r>
          </a:p>
          <a:p>
            <a:pPr lvl="1"/>
            <a:r>
              <a:rPr lang="en-US"/>
              <a:t>Instead of copying the whole object, we just pass a memory address</a:t>
            </a:r>
          </a:p>
          <a:p>
            <a:pPr lvl="1"/>
            <a:r>
              <a:rPr lang="en-US"/>
              <a:t>Reduces memory usage and avoids unnecessary duplication</a:t>
            </a:r>
          </a:p>
          <a:p>
            <a:r>
              <a:rPr lang="en-US"/>
              <a:t>Enables Advanced Features</a:t>
            </a:r>
          </a:p>
          <a:p>
            <a:pPr lvl="1"/>
            <a:r>
              <a:rPr lang="en-US"/>
              <a:t>Polymorphism</a:t>
            </a:r>
          </a:p>
          <a:p>
            <a:pPr lvl="2"/>
            <a:r>
              <a:rPr lang="en-US"/>
              <a:t>The method receives a reference to the </a:t>
            </a:r>
            <a:r>
              <a:rPr lang="en-US" b="1"/>
              <a:t>actual object</a:t>
            </a:r>
            <a:r>
              <a:rPr lang="en-US"/>
              <a:t>, Java can determine the </a:t>
            </a:r>
            <a:r>
              <a:rPr lang="en-US" b="1"/>
              <a:t>real type</a:t>
            </a:r>
            <a:r>
              <a:rPr lang="en-US"/>
              <a:t> of the object at runtime.</a:t>
            </a:r>
          </a:p>
          <a:p>
            <a:pPr lvl="1"/>
            <a:r>
              <a:rPr lang="en-US"/>
              <a:t>Shared access (multiple variables pointing to the same object)</a:t>
            </a:r>
          </a:p>
        </p:txBody>
      </p:sp>
    </p:spTree>
    <p:extLst>
      <p:ext uri="{BB962C8B-B14F-4D97-AF65-F5344CB8AC3E}">
        <p14:creationId xmlns:p14="http://schemas.microsoft.com/office/powerpoint/2010/main" val="2391026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CE1EE-6DFD-851F-9983-498F6DC2022B}"/>
              </a:ext>
            </a:extLst>
          </p:cNvPr>
          <p:cNvSpPr>
            <a:spLocks noGrp="1"/>
          </p:cNvSpPr>
          <p:nvPr>
            <p:ph type="title"/>
          </p:nvPr>
        </p:nvSpPr>
        <p:spPr/>
        <p:txBody>
          <a:bodyPr>
            <a:normAutofit fontScale="90000"/>
          </a:bodyPr>
          <a:lstStyle/>
          <a:p>
            <a:r>
              <a:rPr lang="en-US"/>
              <a:t>References</a:t>
            </a:r>
          </a:p>
        </p:txBody>
      </p:sp>
      <p:sp>
        <p:nvSpPr>
          <p:cNvPr id="3" name="Text Placeholder 2">
            <a:extLst>
              <a:ext uri="{FF2B5EF4-FFF2-40B4-BE49-F238E27FC236}">
                <a16:creationId xmlns:a16="http://schemas.microsoft.com/office/drawing/2014/main" id="{500A2616-44B9-93F0-7C56-C3ACB177B6A2}"/>
              </a:ext>
            </a:extLst>
          </p:cNvPr>
          <p:cNvSpPr>
            <a:spLocks noGrp="1"/>
          </p:cNvSpPr>
          <p:nvPr>
            <p:ph type="body" idx="1"/>
          </p:nvPr>
        </p:nvSpPr>
        <p:spPr/>
        <p:txBody>
          <a:bodyPr/>
          <a:lstStyle/>
          <a:p>
            <a:r>
              <a:rPr lang="en-US"/>
              <a:t>Variables of an </a:t>
            </a:r>
            <a:r>
              <a:rPr lang="en-US" b="1"/>
              <a:t>object class</a:t>
            </a:r>
            <a:r>
              <a:rPr lang="en-US"/>
              <a:t> hold references to objects</a:t>
            </a:r>
          </a:p>
          <a:p>
            <a:pPr lvl="1"/>
            <a:r>
              <a:rPr lang="en-US"/>
              <a:t>This is an example of indirect addressing</a:t>
            </a:r>
          </a:p>
          <a:p>
            <a:pPr lvl="1"/>
            <a:endParaRPr lang="en-US"/>
          </a:p>
          <a:p>
            <a:r>
              <a:rPr lang="en-US"/>
              <a:t>Let’s walk through two </a:t>
            </a:r>
            <a:r>
              <a:rPr lang="en-US" i="1"/>
              <a:t>like</a:t>
            </a:r>
            <a:r>
              <a:rPr lang="en-US"/>
              <a:t> statements</a:t>
            </a:r>
          </a:p>
          <a:p>
            <a:pPr lvl="1"/>
            <a:r>
              <a:rPr lang="fr-FR"/>
              <a:t>Circle </a:t>
            </a:r>
            <a:r>
              <a:rPr lang="fr-FR" err="1"/>
              <a:t>circleA</a:t>
            </a:r>
            <a:r>
              <a:rPr lang="fr-FR"/>
              <a:t>;</a:t>
            </a:r>
          </a:p>
          <a:p>
            <a:pPr lvl="1"/>
            <a:r>
              <a:rPr lang="fr-FR"/>
              <a:t>Circle </a:t>
            </a:r>
            <a:r>
              <a:rPr lang="fr-FR" err="1"/>
              <a:t>circleB</a:t>
            </a:r>
            <a:r>
              <a:rPr lang="fr-FR"/>
              <a:t> = new Circle(8);</a:t>
            </a:r>
          </a:p>
          <a:p>
            <a:r>
              <a:rPr lang="fr-FR" b="1" err="1"/>
              <a:t>Aliases</a:t>
            </a:r>
            <a:endParaRPr lang="fr-FR" b="1"/>
          </a:p>
          <a:p>
            <a:pPr lvl="1"/>
            <a:r>
              <a:rPr lang="fr-FR" err="1"/>
              <a:t>When</a:t>
            </a:r>
            <a:r>
              <a:rPr lang="fr-FR"/>
              <a:t> </a:t>
            </a:r>
            <a:r>
              <a:rPr lang="fr-FR" err="1"/>
              <a:t>we</a:t>
            </a:r>
            <a:r>
              <a:rPr lang="fr-FR"/>
              <a:t> have </a:t>
            </a:r>
            <a:r>
              <a:rPr lang="fr-FR" err="1"/>
              <a:t>two</a:t>
            </a:r>
            <a:r>
              <a:rPr lang="fr-FR"/>
              <a:t> </a:t>
            </a:r>
            <a:r>
              <a:rPr lang="fr-FR" err="1"/>
              <a:t>names</a:t>
            </a:r>
            <a:r>
              <a:rPr lang="fr-FR"/>
              <a:t> for the </a:t>
            </a:r>
            <a:r>
              <a:rPr lang="fr-FR" err="1"/>
              <a:t>same</a:t>
            </a:r>
            <a:r>
              <a:rPr lang="fr-FR"/>
              <a:t> </a:t>
            </a:r>
            <a:r>
              <a:rPr lang="fr-FR" err="1"/>
              <a:t>object</a:t>
            </a:r>
            <a:endParaRPr lang="fr-FR"/>
          </a:p>
        </p:txBody>
      </p:sp>
      <p:pic>
        <p:nvPicPr>
          <p:cNvPr id="5" name="Picture 4">
            <a:extLst>
              <a:ext uri="{FF2B5EF4-FFF2-40B4-BE49-F238E27FC236}">
                <a16:creationId xmlns:a16="http://schemas.microsoft.com/office/drawing/2014/main" id="{B0298221-D7F7-1E80-FC98-B440873A3818}"/>
              </a:ext>
            </a:extLst>
          </p:cNvPr>
          <p:cNvPicPr>
            <a:picLocks noChangeAspect="1"/>
          </p:cNvPicPr>
          <p:nvPr/>
        </p:nvPicPr>
        <p:blipFill>
          <a:blip r:embed="rId3"/>
          <a:stretch>
            <a:fillRect/>
          </a:stretch>
        </p:blipFill>
        <p:spPr>
          <a:xfrm>
            <a:off x="6529978" y="384854"/>
            <a:ext cx="2448267" cy="981212"/>
          </a:xfrm>
          <a:prstGeom prst="rect">
            <a:avLst/>
          </a:prstGeom>
        </p:spPr>
      </p:pic>
      <p:pic>
        <p:nvPicPr>
          <p:cNvPr id="7" name="Picture 6">
            <a:extLst>
              <a:ext uri="{FF2B5EF4-FFF2-40B4-BE49-F238E27FC236}">
                <a16:creationId xmlns:a16="http://schemas.microsoft.com/office/drawing/2014/main" id="{6C80AE60-AAFA-6E59-C6B4-1BE2362F4781}"/>
              </a:ext>
            </a:extLst>
          </p:cNvPr>
          <p:cNvPicPr>
            <a:picLocks noChangeAspect="1"/>
          </p:cNvPicPr>
          <p:nvPr/>
        </p:nvPicPr>
        <p:blipFill>
          <a:blip r:embed="rId4"/>
          <a:stretch>
            <a:fillRect/>
          </a:stretch>
        </p:blipFill>
        <p:spPr>
          <a:xfrm>
            <a:off x="6111737" y="2198840"/>
            <a:ext cx="2866508" cy="1537260"/>
          </a:xfrm>
          <a:prstGeom prst="rect">
            <a:avLst/>
          </a:prstGeom>
        </p:spPr>
      </p:pic>
    </p:spTree>
    <p:extLst>
      <p:ext uri="{BB962C8B-B14F-4D97-AF65-F5344CB8AC3E}">
        <p14:creationId xmlns:p14="http://schemas.microsoft.com/office/powerpoint/2010/main" val="3035698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1ACE-71FD-8050-482E-2EB408C88D05}"/>
              </a:ext>
            </a:extLst>
          </p:cNvPr>
          <p:cNvSpPr>
            <a:spLocks noGrp="1"/>
          </p:cNvSpPr>
          <p:nvPr>
            <p:ph type="title"/>
          </p:nvPr>
        </p:nvSpPr>
        <p:spPr/>
        <p:txBody>
          <a:bodyPr>
            <a:normAutofit fontScale="90000"/>
          </a:bodyPr>
          <a:lstStyle/>
          <a:p>
            <a:r>
              <a:rPr lang="en-US"/>
              <a:t>Comparing Objects</a:t>
            </a:r>
          </a:p>
        </p:txBody>
      </p:sp>
      <p:sp>
        <p:nvSpPr>
          <p:cNvPr id="10" name="Sub"/>
          <p:cNvSpPr txBox="1"/>
          <p:nvPr/>
        </p:nvSpPr>
        <p:spPr>
          <a:xfrm>
            <a:off x="311700" y="1010000"/>
            <a:ext cx="8520600" cy="320000"/>
          </a:xfrm>
          <a:prstGeom prst="rect">
            <a:avLst/>
          </a:prstGeom>
          <a:noFill/>
        </p:spPr>
        <p:txBody>
          <a:bodyPr wrap="square" lIns="0" tIns="0" rIns="0" bIns="0" anchor="t">
            <a:noAutofit/>
          </a:bodyPr>
          <a:lstStyle/>
          <a:p>
            <a:pPr marL="0" indent="0" algn="l">
              <a:buNone/>
            </a:pPr>
            <a:r>
              <a:rPr lang="en-US" sz="1300" b="1">
                <a:solidFill>
                  <a:srgbClr val="2563EB"/>
                </a:solidFill>
                <a:latin typeface="Consolas"/>
              </a:rPr>
              <a:t>==</a:t>
            </a:r>
            <a:r>
              <a:rPr lang="en-US" sz="1300" b="1">
                <a:solidFill>
                  <a:srgbClr val="334155"/>
                </a:solidFill>
                <a:latin typeface="Roboto"/>
              </a:rPr>
              <a:t> compares references (identity).   </a:t>
            </a:r>
            <a:r>
              <a:rPr lang="en-US" sz="1300" b="1">
                <a:solidFill>
                  <a:srgbClr val="7C3AED"/>
                </a:solidFill>
                <a:latin typeface="Consolas"/>
              </a:rPr>
              <a:t>.equals()</a:t>
            </a:r>
            <a:r>
              <a:rPr lang="en-US" sz="1300" b="1">
                <a:solidFill>
                  <a:srgbClr val="334155"/>
                </a:solidFill>
                <a:latin typeface="Roboto"/>
              </a:rPr>
              <a:t> compares values (content).</a:t>
            </a:r>
          </a:p>
        </p:txBody>
      </p:sp>
      <p:sp>
        <p:nvSpPr>
          <p:cNvPr id="20" name="codecard"/>
          <p:cNvSpPr/>
          <p:nvPr/>
        </p:nvSpPr>
        <p:spPr>
          <a:xfrm>
            <a:off x="311700" y="1440000"/>
            <a:ext cx="8520600" cy="1660000"/>
          </a:xfrm>
          <a:prstGeom prst="roundRect">
            <a:avLst>
              <a:gd name="adj" fmla="val 4000"/>
            </a:avLst>
          </a:prstGeom>
          <a:solidFill>
            <a:srgbClr val="1E293B"/>
          </a:solidFill>
          <a:ln w="9525">
            <a:solidFill>
              <a:srgbClr val="334155"/>
            </a:solidFill>
          </a:ln>
          <a:effectLst>
            <a:outerShdw blurRad="90000" dist="38000" dir="5400000" rotWithShape="0">
              <a:srgbClr val="0F172A">
                <a:alpha val="30000"/>
              </a:srgbClr>
            </a:outerShdw>
          </a:effectLst>
        </p:spPr>
        <p:txBody>
          <a:bodyPr/>
          <a:lstStyle/>
          <a:p>
            <a:endParaRPr/>
          </a:p>
        </p:txBody>
      </p:sp>
      <p:sp>
        <p:nvSpPr>
          <p:cNvPr id="21" name="codetext"/>
          <p:cNvSpPr txBox="1"/>
          <p:nvPr/>
        </p:nvSpPr>
        <p:spPr>
          <a:xfrm>
            <a:off x="561700" y="1600000"/>
            <a:ext cx="8020600" cy="1360000"/>
          </a:xfrm>
          <a:prstGeom prst="rect">
            <a:avLst/>
          </a:prstGeom>
          <a:noFill/>
        </p:spPr>
        <p:txBody>
          <a:bodyPr wrap="square" lIns="0" tIns="0" rIns="0" bIns="0" anchor="t">
            <a:noAutofit/>
          </a:bodyPr>
          <a:lstStyle/>
          <a:p>
            <a:pPr marL="0" indent="0">
              <a:lnSpc>
                <a:spcPct val="130000"/>
              </a:lnSpc>
              <a:buNone/>
            </a:pPr>
            <a:r>
              <a:rPr lang="en-US" sz="1100" b="0">
                <a:solidFill>
                  <a:srgbClr val="4EC9B0"/>
                </a:solidFill>
                <a:latin typeface="Consolas"/>
              </a:rPr>
              <a:t>Dog </a:t>
            </a:r>
            <a:r>
              <a:rPr lang="en-US" sz="1100" b="0">
                <a:solidFill>
                  <a:srgbClr val="E2E8F0"/>
                </a:solidFill>
                <a:latin typeface="Consolas"/>
              </a:rPr>
              <a:t>a = </a:t>
            </a:r>
            <a:r>
              <a:rPr lang="en-US" sz="1100" b="0">
                <a:solidFill>
                  <a:srgbClr val="60A5FA"/>
                </a:solidFill>
                <a:latin typeface="Consolas"/>
              </a:rPr>
              <a:t>new </a:t>
            </a:r>
            <a:r>
              <a:rPr lang="en-US" sz="1100" b="0">
                <a:solidFill>
                  <a:srgbClr val="4EC9B0"/>
                </a:solidFill>
                <a:latin typeface="Consolas"/>
              </a:rPr>
              <a:t>Dog</a:t>
            </a:r>
            <a:r>
              <a:rPr lang="en-US" sz="1100" b="0">
                <a:solidFill>
                  <a:srgbClr val="94A3B8"/>
                </a:solidFill>
                <a:latin typeface="Consolas"/>
              </a:rPr>
              <a:t>("Rex", "Labrador");</a:t>
            </a:r>
          </a:p>
          <a:p>
            <a:pPr marL="0" indent="0">
              <a:lnSpc>
                <a:spcPct val="130000"/>
              </a:lnSpc>
              <a:buNone/>
            </a:pPr>
            <a:r>
              <a:rPr lang="en-US" sz="1100" b="0">
                <a:solidFill>
                  <a:srgbClr val="4EC9B0"/>
                </a:solidFill>
                <a:latin typeface="Consolas"/>
              </a:rPr>
              <a:t>Dog </a:t>
            </a:r>
            <a:r>
              <a:rPr lang="en-US" sz="1100" b="0">
                <a:solidFill>
                  <a:srgbClr val="E2E8F0"/>
                </a:solidFill>
                <a:latin typeface="Consolas"/>
              </a:rPr>
              <a:t>b = </a:t>
            </a:r>
            <a:r>
              <a:rPr lang="en-US" sz="1100" b="0">
                <a:solidFill>
                  <a:srgbClr val="60A5FA"/>
                </a:solidFill>
                <a:latin typeface="Consolas"/>
              </a:rPr>
              <a:t>new </a:t>
            </a:r>
            <a:r>
              <a:rPr lang="en-US" sz="1100" b="0">
                <a:solidFill>
                  <a:srgbClr val="4EC9B0"/>
                </a:solidFill>
                <a:latin typeface="Consolas"/>
              </a:rPr>
              <a:t>Dog</a:t>
            </a:r>
            <a:r>
              <a:rPr lang="en-US" sz="1100" b="0">
                <a:solidFill>
                  <a:srgbClr val="94A3B8"/>
                </a:solidFill>
                <a:latin typeface="Consolas"/>
              </a:rPr>
              <a:t>("Rex", "Labrador");  </a:t>
            </a:r>
            <a:r>
              <a:rPr lang="en-US" sz="1100" b="0">
                <a:solidFill>
                  <a:srgbClr val="6A9955"/>
                </a:solidFill>
                <a:latin typeface="Consolas"/>
              </a:rPr>
              <a:t>// same data, new object</a:t>
            </a:r>
          </a:p>
          <a:p>
            <a:pPr marL="0" indent="0">
              <a:lnSpc>
                <a:spcPct val="130000"/>
              </a:lnSpc>
              <a:buNone/>
            </a:pPr>
            <a:r>
              <a:rPr lang="en-US" sz="1100" b="0">
                <a:solidFill>
                  <a:srgbClr val="4EC9B0"/>
                </a:solidFill>
                <a:latin typeface="Consolas"/>
              </a:rPr>
              <a:t>Dog </a:t>
            </a:r>
            <a:r>
              <a:rPr lang="en-US" sz="1100" b="0">
                <a:solidFill>
                  <a:srgbClr val="E2E8F0"/>
                </a:solidFill>
                <a:latin typeface="Consolas"/>
              </a:rPr>
              <a:t>c = a;                          </a:t>
            </a:r>
            <a:r>
              <a:rPr lang="en-US" sz="1100" b="0">
                <a:solidFill>
                  <a:srgbClr val="6A9955"/>
                </a:solidFill>
                <a:latin typeface="Consolas"/>
              </a:rPr>
              <a:t>// c is an alias of a</a:t>
            </a:r>
          </a:p>
          <a:p>
            <a:pPr marL="0" indent="0">
              <a:lnSpc>
                <a:spcPct val="130000"/>
              </a:lnSpc>
              <a:buNone/>
            </a:pPr>
            <a:r>
              <a:rPr lang="en-US" sz="1100" b="0">
                <a:solidFill>
                  <a:srgbClr val="94A3B8"/>
                </a:solidFill>
                <a:latin typeface="Consolas"/>
              </a:rPr>
              <a:t> </a:t>
            </a:r>
          </a:p>
          <a:p>
            <a:pPr marL="0" indent="0">
              <a:lnSpc>
                <a:spcPct val="130000"/>
              </a:lnSpc>
              <a:buNone/>
            </a:pPr>
            <a:r>
              <a:rPr lang="en-US" sz="1100" b="0">
                <a:solidFill>
                  <a:srgbClr val="E2E8F0"/>
                </a:solidFill>
                <a:latin typeface="Consolas"/>
              </a:rPr>
              <a:t>a == b       </a:t>
            </a:r>
            <a:r>
              <a:rPr lang="en-US" sz="1100" b="0">
                <a:solidFill>
                  <a:srgbClr val="94A3B8"/>
                </a:solidFill>
                <a:latin typeface="Consolas"/>
              </a:rPr>
              <a:t>// </a:t>
            </a:r>
            <a:r>
              <a:rPr lang="en-US" sz="1100" b="0">
                <a:solidFill>
                  <a:srgbClr val="F87171"/>
                </a:solidFill>
                <a:latin typeface="Consolas"/>
              </a:rPr>
              <a:t>false </a:t>
            </a:r>
            <a:r>
              <a:rPr lang="en-US" sz="1100" b="0">
                <a:solidFill>
                  <a:srgbClr val="94A3B8"/>
                </a:solidFill>
                <a:latin typeface="Consolas"/>
              </a:rPr>
              <a:t>— different objects in memory</a:t>
            </a:r>
          </a:p>
          <a:p>
            <a:pPr marL="0" indent="0">
              <a:lnSpc>
                <a:spcPct val="130000"/>
              </a:lnSpc>
              <a:buNone/>
            </a:pPr>
            <a:r>
              <a:rPr lang="en-US" sz="1100" b="0">
                <a:solidFill>
                  <a:srgbClr val="E2E8F0"/>
                </a:solidFill>
                <a:latin typeface="Consolas"/>
              </a:rPr>
              <a:t>a == c       </a:t>
            </a:r>
            <a:r>
              <a:rPr lang="en-US" sz="1100" b="0">
                <a:solidFill>
                  <a:srgbClr val="94A3B8"/>
                </a:solidFill>
                <a:latin typeface="Consolas"/>
              </a:rPr>
              <a:t>// </a:t>
            </a:r>
            <a:r>
              <a:rPr lang="en-US" sz="1100" b="0">
                <a:solidFill>
                  <a:srgbClr val="4ADE80"/>
                </a:solidFill>
                <a:latin typeface="Consolas"/>
              </a:rPr>
              <a:t>true  </a:t>
            </a:r>
            <a:r>
              <a:rPr lang="en-US" sz="1100" b="0">
                <a:solidFill>
                  <a:srgbClr val="94A3B8"/>
                </a:solidFill>
                <a:latin typeface="Consolas"/>
              </a:rPr>
              <a:t>— c points to the same object</a:t>
            </a:r>
          </a:p>
          <a:p>
            <a:pPr marL="0" indent="0">
              <a:lnSpc>
                <a:spcPct val="130000"/>
              </a:lnSpc>
              <a:buNone/>
            </a:pPr>
            <a:r>
              <a:rPr lang="en-US" sz="1100" b="0">
                <a:solidFill>
                  <a:srgbClr val="E2E8F0"/>
                </a:solidFill>
                <a:latin typeface="Consolas"/>
              </a:rPr>
              <a:t>a.equals(b)  </a:t>
            </a:r>
            <a:r>
              <a:rPr lang="en-US" sz="1100" b="0">
                <a:solidFill>
                  <a:srgbClr val="94A3B8"/>
                </a:solidFill>
                <a:latin typeface="Consolas"/>
              </a:rPr>
              <a:t>// </a:t>
            </a:r>
            <a:r>
              <a:rPr lang="en-US" sz="1100" b="0">
                <a:solidFill>
                  <a:srgbClr val="F87171"/>
                </a:solidFill>
                <a:latin typeface="Consolas"/>
              </a:rPr>
              <a:t>false </a:t>
            </a:r>
            <a:r>
              <a:rPr lang="en-US" sz="1100" b="0">
                <a:solidFill>
                  <a:srgbClr val="94A3B8"/>
                </a:solidFill>
                <a:latin typeface="Consolas"/>
              </a:rPr>
              <a:t>— default equals() checks identity!</a:t>
            </a:r>
          </a:p>
        </p:txBody>
      </p:sp>
      <p:sp>
        <p:nvSpPr>
          <p:cNvPr id="30" name="cmp30"/>
          <p:cNvSpPr/>
          <p:nvPr/>
        </p:nvSpPr>
        <p:spPr>
          <a:xfrm>
            <a:off x="311700" y="3200000"/>
            <a:ext cx="4160300" cy="10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31" name="bar31"/>
          <p:cNvSpPr/>
          <p:nvPr/>
        </p:nvSpPr>
        <p:spPr>
          <a:xfrm>
            <a:off x="311700" y="3200000"/>
            <a:ext cx="90000" cy="1020000"/>
          </a:xfrm>
          <a:prstGeom prst="roundRect">
            <a:avLst>
              <a:gd name="adj" fmla="val 40000"/>
            </a:avLst>
          </a:prstGeom>
          <a:solidFill>
            <a:srgbClr val="2563EB"/>
          </a:solidFill>
          <a:ln>
            <a:noFill/>
          </a:ln>
        </p:spPr>
        <p:txBody>
          <a:bodyPr/>
          <a:lstStyle/>
          <a:p>
            <a:endParaRPr/>
          </a:p>
        </p:txBody>
      </p:sp>
      <p:sp>
        <p:nvSpPr>
          <p:cNvPr id="32" name="ct32"/>
          <p:cNvSpPr txBox="1"/>
          <p:nvPr/>
        </p:nvSpPr>
        <p:spPr>
          <a:xfrm>
            <a:off x="531700" y="3320000"/>
            <a:ext cx="3760300" cy="800000"/>
          </a:xfrm>
          <a:prstGeom prst="rect">
            <a:avLst/>
          </a:prstGeom>
          <a:noFill/>
        </p:spPr>
        <p:txBody>
          <a:bodyPr wrap="square" lIns="0" tIns="0" rIns="0" bIns="0" anchor="t">
            <a:noAutofit/>
          </a:bodyPr>
          <a:lstStyle/>
          <a:p>
            <a:pPr marL="0" indent="0">
              <a:buNone/>
            </a:pPr>
            <a:r>
              <a:rPr lang="en-US" sz="1400" b="1">
                <a:solidFill>
                  <a:srgbClr val="2563EB"/>
                </a:solidFill>
                <a:latin typeface="Consolas"/>
              </a:rPr>
              <a:t>==</a:t>
            </a:r>
            <a:r>
              <a:rPr lang="en-US" sz="1400" b="1">
                <a:solidFill>
                  <a:srgbClr val="334155"/>
                </a:solidFill>
                <a:latin typeface="Roboto"/>
              </a:rPr>
              <a:t>   Reference equality</a:t>
            </a:r>
          </a:p>
          <a:p>
            <a:pPr marL="0" indent="0">
              <a:spcBef>
                <a:spcPts val="400"/>
              </a:spcBef>
              <a:buNone/>
            </a:pPr>
            <a:r>
              <a:rPr lang="en-US" sz="1000" b="0">
                <a:solidFill>
                  <a:srgbClr val="475569"/>
                </a:solidFill>
                <a:latin typeface="Roboto"/>
              </a:rPr>
              <a:t>True only when both variables point to the exact same object.</a:t>
            </a:r>
          </a:p>
        </p:txBody>
      </p:sp>
      <p:sp>
        <p:nvSpPr>
          <p:cNvPr id="40" name="cmp40"/>
          <p:cNvSpPr/>
          <p:nvPr/>
        </p:nvSpPr>
        <p:spPr>
          <a:xfrm>
            <a:off x="4672000" y="3200000"/>
            <a:ext cx="4160300" cy="10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41" name="bar41"/>
          <p:cNvSpPr/>
          <p:nvPr/>
        </p:nvSpPr>
        <p:spPr>
          <a:xfrm>
            <a:off x="4672000" y="3200000"/>
            <a:ext cx="90000" cy="1020000"/>
          </a:xfrm>
          <a:prstGeom prst="roundRect">
            <a:avLst>
              <a:gd name="adj" fmla="val 40000"/>
            </a:avLst>
          </a:prstGeom>
          <a:solidFill>
            <a:srgbClr val="7C3AED"/>
          </a:solidFill>
          <a:ln>
            <a:noFill/>
          </a:ln>
        </p:spPr>
        <p:txBody>
          <a:bodyPr/>
          <a:lstStyle/>
          <a:p>
            <a:endParaRPr/>
          </a:p>
        </p:txBody>
      </p:sp>
      <p:sp>
        <p:nvSpPr>
          <p:cNvPr id="42" name="ct42"/>
          <p:cNvSpPr txBox="1"/>
          <p:nvPr/>
        </p:nvSpPr>
        <p:spPr>
          <a:xfrm>
            <a:off x="4892000" y="3320000"/>
            <a:ext cx="3760300" cy="800000"/>
          </a:xfrm>
          <a:prstGeom prst="rect">
            <a:avLst/>
          </a:prstGeom>
          <a:noFill/>
        </p:spPr>
        <p:txBody>
          <a:bodyPr wrap="square" lIns="0" tIns="0" rIns="0" bIns="0" anchor="t">
            <a:noAutofit/>
          </a:bodyPr>
          <a:lstStyle/>
          <a:p>
            <a:pPr marL="0" indent="0">
              <a:buNone/>
            </a:pPr>
            <a:r>
              <a:rPr lang="en-US" sz="1400" b="1">
                <a:solidFill>
                  <a:srgbClr val="7C3AED"/>
                </a:solidFill>
                <a:latin typeface="Consolas"/>
              </a:rPr>
              <a:t>.equals()</a:t>
            </a:r>
            <a:r>
              <a:rPr lang="en-US" sz="1400" b="1">
                <a:solidFill>
                  <a:srgbClr val="334155"/>
                </a:solidFill>
                <a:latin typeface="Roboto"/>
              </a:rPr>
              <a:t>   Value equality</a:t>
            </a:r>
          </a:p>
          <a:p>
            <a:pPr marL="0" indent="0">
              <a:spcBef>
                <a:spcPts val="400"/>
              </a:spcBef>
              <a:buNone/>
            </a:pPr>
            <a:r>
              <a:rPr lang="en-US" sz="1000" b="0">
                <a:solidFill>
                  <a:srgbClr val="475569"/>
                </a:solidFill>
                <a:latin typeface="Roboto"/>
              </a:rPr>
              <a:t>Compares content — but only once you override it (see below).</a:t>
            </a:r>
          </a:p>
        </p:txBody>
      </p:sp>
      <p:sp>
        <p:nvSpPr>
          <p:cNvPr id="50" name="pobg"/>
          <p:cNvSpPr/>
          <p:nvPr/>
        </p:nvSpPr>
        <p:spPr>
          <a:xfrm>
            <a:off x="311700" y="4360000"/>
            <a:ext cx="8520600" cy="620000"/>
          </a:xfrm>
          <a:prstGeom prst="roundRect">
            <a:avLst>
              <a:gd name="adj" fmla="val 14000"/>
            </a:avLst>
          </a:prstGeom>
          <a:solidFill>
            <a:srgbClr val="22C55E">
              <a:alpha val="12000"/>
            </a:srgbClr>
          </a:solidFill>
          <a:ln w="9525">
            <a:solidFill>
              <a:srgbClr val="22C55E">
                <a:alpha val="40000"/>
              </a:srgbClr>
            </a:solidFill>
          </a:ln>
        </p:spPr>
        <p:txBody>
          <a:bodyPr/>
          <a:lstStyle/>
          <a:p>
            <a:endParaRPr/>
          </a:p>
        </p:txBody>
      </p:sp>
      <p:sp>
        <p:nvSpPr>
          <p:cNvPr id="51" name="potx"/>
          <p:cNvSpPr txBox="1"/>
          <p:nvPr/>
        </p:nvSpPr>
        <p:spPr>
          <a:xfrm>
            <a:off x="511700" y="4360000"/>
            <a:ext cx="8120600" cy="620000"/>
          </a:xfrm>
          <a:prstGeom prst="rect">
            <a:avLst/>
          </a:prstGeom>
          <a:noFill/>
        </p:spPr>
        <p:txBody>
          <a:bodyPr wrap="square" lIns="0" tIns="0" rIns="0" bIns="0" anchor="ctr">
            <a:noAutofit/>
          </a:bodyPr>
          <a:lstStyle/>
          <a:p>
            <a:pPr marL="0" indent="0" algn="l">
              <a:buNone/>
            </a:pPr>
            <a:r>
              <a:rPr lang="en-US" sz="1050" b="1">
                <a:solidFill>
                  <a:srgbClr val="15803D"/>
                </a:solidFill>
                <a:latin typeface="Roboto"/>
              </a:rPr>
              <a:t>The payoff:  </a:t>
            </a:r>
            <a:r>
              <a:rPr lang="en-US" sz="1050" b="0">
                <a:solidFill>
                  <a:srgbClr val="334155"/>
                </a:solidFill>
                <a:latin typeface="Roboto"/>
              </a:rPr>
              <a:t>override </a:t>
            </a:r>
            <a:r>
              <a:rPr lang="en-US" sz="1050" b="1">
                <a:solidFill>
                  <a:srgbClr val="334155"/>
                </a:solidFill>
                <a:latin typeface="Consolas"/>
              </a:rPr>
              <a:t>equals()</a:t>
            </a:r>
            <a:r>
              <a:rPr lang="en-US" sz="1050" b="0">
                <a:solidFill>
                  <a:srgbClr val="334155"/>
                </a:solidFill>
                <a:latin typeface="Roboto"/>
              </a:rPr>
              <a:t> to compare name and breed, and a.equals(b) becomes </a:t>
            </a:r>
            <a:r>
              <a:rPr lang="en-US" sz="1050" b="1">
                <a:solidFill>
                  <a:srgbClr val="15803D"/>
                </a:solidFill>
                <a:latin typeface="Consolas"/>
              </a:rPr>
              <a:t>true</a:t>
            </a:r>
            <a:r>
              <a:rPr lang="en-US" sz="1050" b="0">
                <a:solidFill>
                  <a:srgbClr val="334155"/>
                </a:solidFill>
                <a:latin typeface="Roboto"/>
              </a:rPr>
              <a:t> — same data now counts as equal.</a:t>
            </a:r>
          </a:p>
        </p:txBody>
      </p:sp>
    </p:spTree>
    <p:extLst>
      <p:ext uri="{BB962C8B-B14F-4D97-AF65-F5344CB8AC3E}">
        <p14:creationId xmlns:p14="http://schemas.microsoft.com/office/powerpoint/2010/main" val="2408002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C0E05-F901-043A-3BDF-594C9B751562}"/>
              </a:ext>
            </a:extLst>
          </p:cNvPr>
          <p:cNvSpPr>
            <a:spLocks noGrp="1"/>
          </p:cNvSpPr>
          <p:nvPr>
            <p:ph type="title"/>
          </p:nvPr>
        </p:nvSpPr>
        <p:spPr/>
        <p:txBody>
          <a:bodyPr/>
          <a:lstStyle/>
          <a:p>
            <a:r>
              <a:rPr lang="en-US"/>
              <a:t>Comparing Algorithms</a:t>
            </a:r>
          </a:p>
        </p:txBody>
      </p:sp>
    </p:spTree>
    <p:extLst>
      <p:ext uri="{BB962C8B-B14F-4D97-AF65-F5344CB8AC3E}">
        <p14:creationId xmlns:p14="http://schemas.microsoft.com/office/powerpoint/2010/main" val="165993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EC52-EF34-EBA8-7796-941AB72CD57E}"/>
              </a:ext>
            </a:extLst>
          </p:cNvPr>
          <p:cNvSpPr>
            <a:spLocks noGrp="1"/>
          </p:cNvSpPr>
          <p:nvPr>
            <p:ph type="title"/>
          </p:nvPr>
        </p:nvSpPr>
        <p:spPr/>
        <p:txBody>
          <a:bodyPr>
            <a:normAutofit fontScale="90000"/>
          </a:bodyPr>
          <a:lstStyle/>
          <a:p>
            <a:r>
              <a:rPr lang="en-US" dirty="0"/>
              <a:t>What is an Algorithm?</a:t>
            </a:r>
          </a:p>
        </p:txBody>
      </p:sp>
      <p:sp>
        <p:nvSpPr>
          <p:cNvPr id="3" name="Text Placeholder 2">
            <a:extLst>
              <a:ext uri="{FF2B5EF4-FFF2-40B4-BE49-F238E27FC236}">
                <a16:creationId xmlns:a16="http://schemas.microsoft.com/office/drawing/2014/main" id="{6165CEC0-290C-3BA1-D9ED-C09E49DC010D}"/>
              </a:ext>
            </a:extLst>
          </p:cNvPr>
          <p:cNvSpPr>
            <a:spLocks noGrp="1"/>
          </p:cNvSpPr>
          <p:nvPr>
            <p:ph type="body" idx="1"/>
          </p:nvPr>
        </p:nvSpPr>
        <p:spPr/>
        <p:txBody>
          <a:bodyPr/>
          <a:lstStyle/>
          <a:p>
            <a:r>
              <a:rPr lang="en-US" dirty="0"/>
              <a:t>Program</a:t>
            </a:r>
          </a:p>
          <a:p>
            <a:pPr lvl="1"/>
            <a:r>
              <a:rPr lang="en-US" dirty="0"/>
              <a:t>A step by step procedure for solving a computational problem</a:t>
            </a:r>
          </a:p>
          <a:p>
            <a:r>
              <a:rPr lang="en-US" dirty="0"/>
              <a:t>Algorithm</a:t>
            </a:r>
          </a:p>
          <a:p>
            <a:pPr lvl="1"/>
            <a:r>
              <a:rPr lang="en-US" dirty="0"/>
              <a:t>A step by step procedure for solving a computational problem</a:t>
            </a:r>
          </a:p>
          <a:p>
            <a:r>
              <a:rPr lang="en-US" dirty="0"/>
              <a:t>What is the difference between an algorithm and a program?</a:t>
            </a:r>
          </a:p>
          <a:p>
            <a:pPr lvl="1"/>
            <a:r>
              <a:rPr lang="en-US" dirty="0"/>
              <a:t>Timing, and purpose</a:t>
            </a:r>
          </a:p>
        </p:txBody>
      </p:sp>
    </p:spTree>
    <p:extLst>
      <p:ext uri="{BB962C8B-B14F-4D97-AF65-F5344CB8AC3E}">
        <p14:creationId xmlns:p14="http://schemas.microsoft.com/office/powerpoint/2010/main" val="284681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8925C-22A3-0A31-84D2-30CFA505D776}"/>
              </a:ext>
            </a:extLst>
          </p:cNvPr>
          <p:cNvSpPr>
            <a:spLocks noGrp="1"/>
          </p:cNvSpPr>
          <p:nvPr>
            <p:ph type="title"/>
          </p:nvPr>
        </p:nvSpPr>
        <p:spPr/>
        <p:txBody>
          <a:bodyPr>
            <a:normAutofit fontScale="90000"/>
          </a:bodyPr>
          <a:lstStyle/>
          <a:p>
            <a:r>
              <a:rPr lang="en-US" dirty="0"/>
              <a:t>Characteristics of an Algorithm</a:t>
            </a:r>
          </a:p>
        </p:txBody>
      </p:sp>
      <p:sp>
        <p:nvSpPr>
          <p:cNvPr id="3" name="Text Placeholder 2">
            <a:extLst>
              <a:ext uri="{FF2B5EF4-FFF2-40B4-BE49-F238E27FC236}">
                <a16:creationId xmlns:a16="http://schemas.microsoft.com/office/drawing/2014/main" id="{B63DD4C3-2AB8-015F-DB1A-59131347D444}"/>
              </a:ext>
            </a:extLst>
          </p:cNvPr>
          <p:cNvSpPr>
            <a:spLocks noGrp="1"/>
          </p:cNvSpPr>
          <p:nvPr>
            <p:ph type="body" idx="1"/>
          </p:nvPr>
        </p:nvSpPr>
        <p:spPr/>
        <p:txBody>
          <a:bodyPr>
            <a:normAutofit lnSpcReduction="10000"/>
          </a:bodyPr>
          <a:lstStyle/>
          <a:p>
            <a:r>
              <a:rPr lang="en-US" dirty="0"/>
              <a:t>Input</a:t>
            </a:r>
          </a:p>
          <a:p>
            <a:pPr lvl="1"/>
            <a:r>
              <a:rPr lang="en-US" dirty="0"/>
              <a:t>0 or more</a:t>
            </a:r>
          </a:p>
          <a:p>
            <a:r>
              <a:rPr lang="en-US" dirty="0"/>
              <a:t>Output</a:t>
            </a:r>
          </a:p>
          <a:p>
            <a:pPr lvl="1"/>
            <a:r>
              <a:rPr lang="en-US" dirty="0"/>
              <a:t>We </a:t>
            </a:r>
            <a:r>
              <a:rPr lang="en-US" i="1" dirty="0"/>
              <a:t>must</a:t>
            </a:r>
            <a:r>
              <a:rPr lang="en-US" dirty="0"/>
              <a:t> generate some result</a:t>
            </a:r>
          </a:p>
          <a:p>
            <a:r>
              <a:rPr lang="en-US" dirty="0"/>
              <a:t>No ambiguity</a:t>
            </a:r>
          </a:p>
          <a:p>
            <a:pPr lvl="1"/>
            <a:r>
              <a:rPr lang="en-US" dirty="0"/>
              <a:t>Every statement and decision should be clear</a:t>
            </a:r>
          </a:p>
          <a:p>
            <a:pPr lvl="2"/>
            <a:r>
              <a:rPr lang="en-US" dirty="0"/>
              <a:t>Both in logic and decision making</a:t>
            </a:r>
          </a:p>
          <a:p>
            <a:r>
              <a:rPr lang="en-US" dirty="0"/>
              <a:t>Finite</a:t>
            </a:r>
          </a:p>
          <a:p>
            <a:pPr lvl="1"/>
            <a:r>
              <a:rPr lang="en-US" dirty="0"/>
              <a:t>We </a:t>
            </a:r>
            <a:r>
              <a:rPr lang="en-US" i="1" dirty="0"/>
              <a:t>must</a:t>
            </a:r>
            <a:r>
              <a:rPr lang="en-US" dirty="0"/>
              <a:t> have a base case or ending condition</a:t>
            </a:r>
          </a:p>
          <a:p>
            <a:pPr lvl="1"/>
            <a:r>
              <a:rPr lang="en-US" dirty="0"/>
              <a:t>Think about recursive functions</a:t>
            </a:r>
          </a:p>
          <a:p>
            <a:r>
              <a:rPr lang="en-US" dirty="0"/>
              <a:t>Effectiveness</a:t>
            </a:r>
          </a:p>
          <a:p>
            <a:pPr lvl="1"/>
            <a:r>
              <a:rPr lang="en-US" dirty="0"/>
              <a:t>We </a:t>
            </a:r>
            <a:r>
              <a:rPr lang="en-US" i="1" dirty="0"/>
              <a:t>must</a:t>
            </a:r>
            <a:r>
              <a:rPr lang="en-US" dirty="0"/>
              <a:t> accomplish our task under </a:t>
            </a:r>
            <a:r>
              <a:rPr lang="en-US" b="1" dirty="0"/>
              <a:t>some</a:t>
            </a:r>
            <a:r>
              <a:rPr lang="en-US" dirty="0"/>
              <a:t> constraints</a:t>
            </a:r>
          </a:p>
        </p:txBody>
      </p:sp>
    </p:spTree>
    <p:extLst>
      <p:ext uri="{BB962C8B-B14F-4D97-AF65-F5344CB8AC3E}">
        <p14:creationId xmlns:p14="http://schemas.microsoft.com/office/powerpoint/2010/main" val="2873075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21DF-C922-B2AD-D810-BD5A9E8665AD}"/>
              </a:ext>
            </a:extLst>
          </p:cNvPr>
          <p:cNvSpPr>
            <a:spLocks noGrp="1"/>
          </p:cNvSpPr>
          <p:nvPr>
            <p:ph type="title"/>
          </p:nvPr>
        </p:nvSpPr>
        <p:spPr/>
        <p:txBody>
          <a:bodyPr>
            <a:normAutofit fontScale="90000"/>
          </a:bodyPr>
          <a:lstStyle/>
          <a:p>
            <a:r>
              <a:rPr lang="en-US"/>
              <a:t>I am thinking of a number</a:t>
            </a:r>
          </a:p>
        </p:txBody>
      </p:sp>
      <p:sp>
        <p:nvSpPr>
          <p:cNvPr id="3" name="Text Placeholder 2">
            <a:extLst>
              <a:ext uri="{FF2B5EF4-FFF2-40B4-BE49-F238E27FC236}">
                <a16:creationId xmlns:a16="http://schemas.microsoft.com/office/drawing/2014/main" id="{DC18BFC1-02FC-86DB-83DE-A7F508C22A25}"/>
              </a:ext>
            </a:extLst>
          </p:cNvPr>
          <p:cNvSpPr>
            <a:spLocks noGrp="1"/>
          </p:cNvSpPr>
          <p:nvPr>
            <p:ph type="body" idx="1"/>
          </p:nvPr>
        </p:nvSpPr>
        <p:spPr/>
        <p:txBody>
          <a:bodyPr/>
          <a:lstStyle/>
          <a:p>
            <a:r>
              <a:rPr lang="en-US" dirty="0"/>
              <a:t>Why is the idea of effectiveness so important in computing?</a:t>
            </a:r>
          </a:p>
          <a:p>
            <a:pPr lvl="1"/>
            <a:r>
              <a:rPr lang="en-US" dirty="0"/>
              <a:t>Guess the number between 1 and 1,000</a:t>
            </a:r>
          </a:p>
          <a:p>
            <a:pPr lvl="1"/>
            <a:r>
              <a:rPr lang="en-US" dirty="0"/>
              <a:t>I will say higher or lower</a:t>
            </a:r>
          </a:p>
          <a:p>
            <a:r>
              <a:rPr lang="en-US" dirty="0"/>
              <a:t>Sequential search </a:t>
            </a:r>
          </a:p>
          <a:p>
            <a:pPr lvl="1"/>
            <a:r>
              <a:rPr lang="en-US" dirty="0"/>
              <a:t>This comes </a:t>
            </a:r>
            <a:r>
              <a:rPr lang="en-US" i="1" dirty="0"/>
              <a:t>easy</a:t>
            </a:r>
            <a:r>
              <a:rPr lang="en-US" dirty="0"/>
              <a:t> to programmers</a:t>
            </a:r>
          </a:p>
          <a:p>
            <a:pPr lvl="2"/>
            <a:r>
              <a:rPr lang="en-US" dirty="0"/>
              <a:t>For loops, while loops, linked list traversals</a:t>
            </a:r>
          </a:p>
          <a:p>
            <a:pPr lvl="1"/>
            <a:r>
              <a:rPr lang="en-US" dirty="0"/>
              <a:t>Sequential operation is how computers operate</a:t>
            </a:r>
          </a:p>
          <a:p>
            <a:r>
              <a:rPr lang="en-US" b="1" dirty="0"/>
              <a:t>It works</a:t>
            </a:r>
          </a:p>
          <a:p>
            <a:pPr lvl="1"/>
            <a:r>
              <a:rPr lang="en-US" dirty="0"/>
              <a:t>but do we see anything wrong with where this might go?</a:t>
            </a:r>
          </a:p>
          <a:p>
            <a:pPr marL="114300" indent="0">
              <a:buNone/>
            </a:pPr>
            <a:endParaRPr lang="en-US" dirty="0"/>
          </a:p>
          <a:p>
            <a:endParaRPr lang="en-US" dirty="0"/>
          </a:p>
          <a:p>
            <a:endParaRPr lang="en-US" dirty="0"/>
          </a:p>
        </p:txBody>
      </p:sp>
    </p:spTree>
    <p:extLst>
      <p:ext uri="{BB962C8B-B14F-4D97-AF65-F5344CB8AC3E}">
        <p14:creationId xmlns:p14="http://schemas.microsoft.com/office/powerpoint/2010/main" val="335167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73D2-01D9-B7E0-6FB8-269158177743}"/>
              </a:ext>
            </a:extLst>
          </p:cNvPr>
          <p:cNvSpPr>
            <a:spLocks noGrp="1"/>
          </p:cNvSpPr>
          <p:nvPr>
            <p:ph type="title"/>
          </p:nvPr>
        </p:nvSpPr>
        <p:spPr/>
        <p:txBody>
          <a:bodyPr>
            <a:normAutofit fontScale="90000"/>
          </a:bodyPr>
          <a:lstStyle/>
          <a:p>
            <a:r>
              <a:rPr lang="en-US" dirty="0"/>
              <a:t>Complexity of Algorithms</a:t>
            </a:r>
          </a:p>
        </p:txBody>
      </p:sp>
      <p:sp>
        <p:nvSpPr>
          <p:cNvPr id="3" name="Text Placeholder 2">
            <a:extLst>
              <a:ext uri="{FF2B5EF4-FFF2-40B4-BE49-F238E27FC236}">
                <a16:creationId xmlns:a16="http://schemas.microsoft.com/office/drawing/2014/main" id="{AA2D8B64-9167-3EC0-A4C6-0D100DA1FBC7}"/>
              </a:ext>
            </a:extLst>
          </p:cNvPr>
          <p:cNvSpPr>
            <a:spLocks noGrp="1"/>
          </p:cNvSpPr>
          <p:nvPr>
            <p:ph type="body" idx="1"/>
          </p:nvPr>
        </p:nvSpPr>
        <p:spPr/>
        <p:txBody>
          <a:bodyPr>
            <a:normAutofit/>
          </a:bodyPr>
          <a:lstStyle/>
          <a:p>
            <a:r>
              <a:rPr lang="en-US" dirty="0"/>
              <a:t>The analysis of algorithms is foundational to computer science</a:t>
            </a:r>
          </a:p>
          <a:p>
            <a:r>
              <a:rPr lang="en-US" dirty="0"/>
              <a:t>We classify efficiency of algorithms in two main ways</a:t>
            </a:r>
          </a:p>
          <a:p>
            <a:pPr lvl="1"/>
            <a:r>
              <a:rPr lang="en-US" dirty="0"/>
              <a:t>Space efficiency</a:t>
            </a:r>
          </a:p>
          <a:p>
            <a:pPr lvl="2"/>
            <a:r>
              <a:rPr lang="en-US" dirty="0"/>
              <a:t>The amount of memory required to execute the algorithm</a:t>
            </a:r>
          </a:p>
          <a:p>
            <a:pPr lvl="1"/>
            <a:r>
              <a:rPr lang="en-US" dirty="0"/>
              <a:t>Time complexity</a:t>
            </a:r>
          </a:p>
          <a:p>
            <a:pPr lvl="2"/>
            <a:r>
              <a:rPr lang="en-US" dirty="0"/>
              <a:t>How fast an algorithm can perform the required actions</a:t>
            </a:r>
          </a:p>
          <a:p>
            <a:pPr lvl="1"/>
            <a:endParaRPr lang="en-US" dirty="0"/>
          </a:p>
        </p:txBody>
      </p:sp>
    </p:spTree>
    <p:extLst>
      <p:ext uri="{BB962C8B-B14F-4D97-AF65-F5344CB8AC3E}">
        <p14:creationId xmlns:p14="http://schemas.microsoft.com/office/powerpoint/2010/main" val="3567936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AB84D-1D8E-6622-58D3-CDF3DDE0E063}"/>
              </a:ext>
            </a:extLst>
          </p:cNvPr>
          <p:cNvSpPr>
            <a:spLocks noGrp="1"/>
          </p:cNvSpPr>
          <p:nvPr>
            <p:ph type="title"/>
          </p:nvPr>
        </p:nvSpPr>
        <p:spPr/>
        <p:txBody>
          <a:bodyPr>
            <a:normAutofit fontScale="90000"/>
          </a:bodyPr>
          <a:lstStyle/>
          <a:p>
            <a:r>
              <a:rPr lang="en-US" dirty="0"/>
              <a:t>Space Efficiency </a:t>
            </a:r>
          </a:p>
        </p:txBody>
      </p:sp>
      <p:sp>
        <p:nvSpPr>
          <p:cNvPr id="3" name="Text Placeholder 2">
            <a:extLst>
              <a:ext uri="{FF2B5EF4-FFF2-40B4-BE49-F238E27FC236}">
                <a16:creationId xmlns:a16="http://schemas.microsoft.com/office/drawing/2014/main" id="{0C66CAA9-411B-7BBA-CC86-6562BDF5852F}"/>
              </a:ext>
            </a:extLst>
          </p:cNvPr>
          <p:cNvSpPr>
            <a:spLocks noGrp="1"/>
          </p:cNvSpPr>
          <p:nvPr>
            <p:ph type="body" idx="1"/>
          </p:nvPr>
        </p:nvSpPr>
        <p:spPr/>
        <p:txBody>
          <a:bodyPr/>
          <a:lstStyle/>
          <a:p>
            <a:r>
              <a:rPr lang="en-US" dirty="0"/>
              <a:t>When do we care about how much </a:t>
            </a:r>
            <a:r>
              <a:rPr lang="en-US" i="1" dirty="0"/>
              <a:t>space</a:t>
            </a:r>
            <a:r>
              <a:rPr lang="en-US" dirty="0"/>
              <a:t> we have available?</a:t>
            </a:r>
          </a:p>
          <a:p>
            <a:r>
              <a:rPr lang="en-US" dirty="0"/>
              <a:t>What are some constrained environments?</a:t>
            </a:r>
          </a:p>
          <a:p>
            <a:endParaRPr lang="en-US" dirty="0"/>
          </a:p>
        </p:txBody>
      </p:sp>
      <p:pic>
        <p:nvPicPr>
          <p:cNvPr id="4" name="Picture 3">
            <a:extLst>
              <a:ext uri="{FF2B5EF4-FFF2-40B4-BE49-F238E27FC236}">
                <a16:creationId xmlns:a16="http://schemas.microsoft.com/office/drawing/2014/main" id="{EB914B34-7BA3-7231-1B93-93ACDAAC9142}"/>
              </a:ext>
            </a:extLst>
          </p:cNvPr>
          <p:cNvPicPr>
            <a:picLocks noChangeAspect="1"/>
          </p:cNvPicPr>
          <p:nvPr/>
        </p:nvPicPr>
        <p:blipFill>
          <a:blip r:embed="rId3"/>
          <a:stretch>
            <a:fillRect/>
          </a:stretch>
        </p:blipFill>
        <p:spPr>
          <a:xfrm>
            <a:off x="5543000" y="1885950"/>
            <a:ext cx="3289300" cy="2438400"/>
          </a:xfrm>
          <a:prstGeom prst="rect">
            <a:avLst/>
          </a:prstGeom>
        </p:spPr>
      </p:pic>
    </p:spTree>
    <p:extLst>
      <p:ext uri="{BB962C8B-B14F-4D97-AF65-F5344CB8AC3E}">
        <p14:creationId xmlns:p14="http://schemas.microsoft.com/office/powerpoint/2010/main" val="225883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98B4-1549-DF2F-9E77-E62D52181926}"/>
              </a:ext>
            </a:extLst>
          </p:cNvPr>
          <p:cNvSpPr>
            <a:spLocks noGrp="1"/>
          </p:cNvSpPr>
          <p:nvPr>
            <p:ph type="title"/>
          </p:nvPr>
        </p:nvSpPr>
        <p:spPr/>
        <p:txBody>
          <a:bodyPr>
            <a:normAutofit fontScale="90000"/>
          </a:bodyPr>
          <a:lstStyle/>
          <a:p>
            <a:r>
              <a:rPr lang="en-US" dirty="0"/>
              <a:t>Time Complexity</a:t>
            </a:r>
          </a:p>
        </p:txBody>
      </p:sp>
      <p:sp>
        <p:nvSpPr>
          <p:cNvPr id="3" name="Text Placeholder 2">
            <a:extLst>
              <a:ext uri="{FF2B5EF4-FFF2-40B4-BE49-F238E27FC236}">
                <a16:creationId xmlns:a16="http://schemas.microsoft.com/office/drawing/2014/main" id="{3EAF48D5-CA6F-DB3F-88D6-CA592937CD8F}"/>
              </a:ext>
            </a:extLst>
          </p:cNvPr>
          <p:cNvSpPr>
            <a:spLocks noGrp="1"/>
          </p:cNvSpPr>
          <p:nvPr>
            <p:ph type="body" idx="1"/>
          </p:nvPr>
        </p:nvSpPr>
        <p:spPr/>
        <p:txBody>
          <a:bodyPr/>
          <a:lstStyle/>
          <a:p>
            <a:r>
              <a:rPr lang="en-US" dirty="0"/>
              <a:t>How do we access how </a:t>
            </a:r>
            <a:r>
              <a:rPr lang="en-US" i="1" dirty="0"/>
              <a:t>fast</a:t>
            </a:r>
            <a:r>
              <a:rPr lang="en-US" dirty="0"/>
              <a:t> a solution is?</a:t>
            </a:r>
          </a:p>
          <a:p>
            <a:endParaRPr lang="en-US" dirty="0"/>
          </a:p>
          <a:p>
            <a:r>
              <a:rPr lang="en-US" dirty="0"/>
              <a:t>Run the same program</a:t>
            </a:r>
          </a:p>
          <a:p>
            <a:pPr lvl="1"/>
            <a:r>
              <a:rPr lang="en-US" dirty="0"/>
              <a:t>Use a stopwatch to calculate the time required</a:t>
            </a:r>
          </a:p>
          <a:p>
            <a:r>
              <a:rPr lang="en-US" dirty="0"/>
              <a:t>What problems may arise?</a:t>
            </a:r>
          </a:p>
          <a:p>
            <a:pPr lvl="1"/>
            <a:r>
              <a:rPr lang="en-US" dirty="0"/>
              <a:t>Varies between implementation</a:t>
            </a:r>
          </a:p>
          <a:p>
            <a:pPr lvl="1"/>
            <a:r>
              <a:rPr lang="en-US" dirty="0"/>
              <a:t>Varies between hardware</a:t>
            </a:r>
          </a:p>
          <a:p>
            <a:pPr lvl="1"/>
            <a:r>
              <a:rPr lang="en-US" dirty="0"/>
              <a:t>Small sample sets are </a:t>
            </a:r>
            <a:r>
              <a:rPr lang="en-US" b="1" dirty="0"/>
              <a:t>not</a:t>
            </a:r>
            <a:r>
              <a:rPr lang="en-US" dirty="0"/>
              <a:t> indicative of performance on large sets of information</a:t>
            </a:r>
          </a:p>
        </p:txBody>
      </p:sp>
    </p:spTree>
    <p:extLst>
      <p:ext uri="{BB962C8B-B14F-4D97-AF65-F5344CB8AC3E}">
        <p14:creationId xmlns:p14="http://schemas.microsoft.com/office/powerpoint/2010/main" val="372146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D784-093D-6F36-1C57-BBAB5613127F}"/>
              </a:ext>
            </a:extLst>
          </p:cNvPr>
          <p:cNvSpPr>
            <a:spLocks noGrp="1"/>
          </p:cNvSpPr>
          <p:nvPr>
            <p:ph type="title"/>
          </p:nvPr>
        </p:nvSpPr>
        <p:spPr/>
        <p:txBody>
          <a:bodyPr>
            <a:normAutofit fontScale="90000"/>
          </a:bodyPr>
          <a:lstStyle/>
          <a:p>
            <a:r>
              <a:rPr lang="en-US" dirty="0"/>
              <a:t>Measuring an Algorithm’s Time Efficiency</a:t>
            </a:r>
          </a:p>
        </p:txBody>
      </p:sp>
      <p:sp>
        <p:nvSpPr>
          <p:cNvPr id="3" name="Text Placeholder 2">
            <a:extLst>
              <a:ext uri="{FF2B5EF4-FFF2-40B4-BE49-F238E27FC236}">
                <a16:creationId xmlns:a16="http://schemas.microsoft.com/office/drawing/2014/main" id="{C1D2106A-63A9-58D0-31AF-5FCE62EC63B7}"/>
              </a:ext>
            </a:extLst>
          </p:cNvPr>
          <p:cNvSpPr>
            <a:spLocks noGrp="1"/>
          </p:cNvSpPr>
          <p:nvPr>
            <p:ph type="body" idx="1"/>
          </p:nvPr>
        </p:nvSpPr>
        <p:spPr/>
        <p:txBody>
          <a:bodyPr/>
          <a:lstStyle/>
          <a:p>
            <a:r>
              <a:rPr lang="en-US" dirty="0"/>
              <a:t>We know execution times very depending on external variables</a:t>
            </a:r>
          </a:p>
          <a:p>
            <a:pPr lvl="1"/>
            <a:r>
              <a:rPr lang="en-US" dirty="0"/>
              <a:t>So how do we access efficiency</a:t>
            </a:r>
          </a:p>
          <a:p>
            <a:r>
              <a:rPr lang="en-US" b="1" dirty="0"/>
              <a:t>Isolation</a:t>
            </a:r>
          </a:p>
          <a:p>
            <a:pPr lvl="1"/>
            <a:r>
              <a:rPr lang="en-US" dirty="0"/>
              <a:t>We take the particular operations that are </a:t>
            </a:r>
            <a:r>
              <a:rPr lang="en-US" b="1" dirty="0"/>
              <a:t>fundamental</a:t>
            </a:r>
            <a:r>
              <a:rPr lang="en-US" dirty="0"/>
              <a:t> to the algorithm and count the number of times this operation takes place</a:t>
            </a:r>
          </a:p>
          <a:p>
            <a:r>
              <a:rPr lang="en-US" dirty="0"/>
              <a:t>Let’s draw out our sequential search algorithm for our number game</a:t>
            </a:r>
          </a:p>
        </p:txBody>
      </p:sp>
    </p:spTree>
    <p:extLst>
      <p:ext uri="{BB962C8B-B14F-4D97-AF65-F5344CB8AC3E}">
        <p14:creationId xmlns:p14="http://schemas.microsoft.com/office/powerpoint/2010/main" val="557212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FA31A-480E-058F-67EF-2D3F1D86D57C}"/>
              </a:ext>
            </a:extLst>
          </p:cNvPr>
          <p:cNvSpPr>
            <a:spLocks noGrp="1"/>
          </p:cNvSpPr>
          <p:nvPr>
            <p:ph type="title"/>
          </p:nvPr>
        </p:nvSpPr>
        <p:spPr/>
        <p:txBody>
          <a:bodyPr>
            <a:normAutofit fontScale="90000"/>
          </a:bodyPr>
          <a:lstStyle/>
          <a:p>
            <a:r>
              <a:rPr lang="en-US" dirty="0"/>
              <a:t>That seemed to work?</a:t>
            </a:r>
          </a:p>
        </p:txBody>
      </p:sp>
      <p:sp>
        <p:nvSpPr>
          <p:cNvPr id="3" name="Text Placeholder 2">
            <a:extLst>
              <a:ext uri="{FF2B5EF4-FFF2-40B4-BE49-F238E27FC236}">
                <a16:creationId xmlns:a16="http://schemas.microsoft.com/office/drawing/2014/main" id="{924C8C1D-52C9-87B4-722A-A40137B30B88}"/>
              </a:ext>
            </a:extLst>
          </p:cNvPr>
          <p:cNvSpPr>
            <a:spLocks noGrp="1"/>
          </p:cNvSpPr>
          <p:nvPr>
            <p:ph type="body" idx="1"/>
          </p:nvPr>
        </p:nvSpPr>
        <p:spPr/>
        <p:txBody>
          <a:bodyPr/>
          <a:lstStyle/>
          <a:p>
            <a:r>
              <a:rPr lang="en-US" dirty="0"/>
              <a:t>Sequential search gets the job done</a:t>
            </a:r>
          </a:p>
          <a:p>
            <a:pPr lvl="1"/>
            <a:r>
              <a:rPr lang="en-US" dirty="0"/>
              <a:t>It works on my machine</a:t>
            </a:r>
          </a:p>
          <a:p>
            <a:r>
              <a:rPr lang="en-US" dirty="0"/>
              <a:t>When we consider local scale, the emphasis on algorithms feels silly</a:t>
            </a:r>
          </a:p>
          <a:p>
            <a:pPr lvl="1"/>
            <a:r>
              <a:rPr lang="en-US" dirty="0"/>
              <a:t>Sorting problem took a fraction of a second to produce an answer</a:t>
            </a:r>
          </a:p>
          <a:p>
            <a:r>
              <a:rPr lang="en-US" dirty="0"/>
              <a:t>Let’s talk about pages on the internet</a:t>
            </a:r>
          </a:p>
          <a:p>
            <a:pPr lvl="1"/>
            <a:r>
              <a:rPr lang="en-US" dirty="0"/>
              <a:t>Google’s search </a:t>
            </a:r>
            <a:r>
              <a:rPr lang="en-US" i="1" dirty="0"/>
              <a:t>algorithm</a:t>
            </a:r>
            <a:r>
              <a:rPr lang="en-US" dirty="0"/>
              <a:t> index’s well over 30 trillion pages</a:t>
            </a:r>
          </a:p>
          <a:p>
            <a:pPr lvl="2"/>
            <a:r>
              <a:rPr lang="en-US" dirty="0"/>
              <a:t>What would happen?</a:t>
            </a:r>
          </a:p>
          <a:p>
            <a:r>
              <a:rPr lang="en-US" b="1" dirty="0"/>
              <a:t>Pick a problem</a:t>
            </a:r>
            <a:endParaRPr lang="en-US" dirty="0"/>
          </a:p>
          <a:p>
            <a:pPr lvl="1"/>
            <a:r>
              <a:rPr lang="en-US" dirty="0"/>
              <a:t>The modern data sets grow so rapidly </a:t>
            </a:r>
          </a:p>
          <a:p>
            <a:pPr lvl="2"/>
            <a:r>
              <a:rPr lang="en-US" dirty="0"/>
              <a:t>Even as computers speed up, we still need to consider efficiency</a:t>
            </a:r>
          </a:p>
        </p:txBody>
      </p:sp>
    </p:spTree>
    <p:extLst>
      <p:ext uri="{BB962C8B-B14F-4D97-AF65-F5344CB8AC3E}">
        <p14:creationId xmlns:p14="http://schemas.microsoft.com/office/powerpoint/2010/main" val="67922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B079-2E8B-AFC4-F31F-78DE0DC8B47C}"/>
              </a:ext>
            </a:extLst>
          </p:cNvPr>
          <p:cNvSpPr>
            <a:spLocks noGrp="1"/>
          </p:cNvSpPr>
          <p:nvPr>
            <p:ph type="title"/>
          </p:nvPr>
        </p:nvSpPr>
        <p:spPr/>
        <p:txBody>
          <a:bodyPr>
            <a:normAutofit fontScale="90000"/>
          </a:bodyPr>
          <a:lstStyle/>
          <a:p>
            <a:r>
              <a:rPr lang="en-US"/>
              <a:t>Complexity Cases</a:t>
            </a:r>
          </a:p>
        </p:txBody>
      </p:sp>
      <p:sp>
        <p:nvSpPr>
          <p:cNvPr id="3" name="Text Placeholder 2">
            <a:extLst>
              <a:ext uri="{FF2B5EF4-FFF2-40B4-BE49-F238E27FC236}">
                <a16:creationId xmlns:a16="http://schemas.microsoft.com/office/drawing/2014/main" id="{DFE0AD19-3DD1-CB09-3148-8F9602F3ABC9}"/>
              </a:ext>
            </a:extLst>
          </p:cNvPr>
          <p:cNvSpPr>
            <a:spLocks noGrp="1"/>
          </p:cNvSpPr>
          <p:nvPr>
            <p:ph type="body" idx="1"/>
          </p:nvPr>
        </p:nvSpPr>
        <p:spPr/>
        <p:txBody>
          <a:bodyPr/>
          <a:lstStyle/>
          <a:p>
            <a:r>
              <a:rPr lang="en-US" dirty="0"/>
              <a:t>Best case complexity</a:t>
            </a:r>
          </a:p>
          <a:p>
            <a:pPr lvl="1"/>
            <a:r>
              <a:rPr lang="en-US" dirty="0"/>
              <a:t>Tells us the complexity when we are very lucky</a:t>
            </a:r>
          </a:p>
          <a:p>
            <a:pPr lvl="1"/>
            <a:r>
              <a:rPr lang="en-US" dirty="0"/>
              <a:t>Represents the fewest number of steps that an algorithm can take</a:t>
            </a:r>
          </a:p>
          <a:p>
            <a:pPr lvl="1"/>
            <a:r>
              <a:rPr lang="en-US" dirty="0"/>
              <a:t>Question: Do we think this is useful as a measurement of complexity?</a:t>
            </a:r>
          </a:p>
          <a:p>
            <a:r>
              <a:rPr lang="en-US" dirty="0"/>
              <a:t>Average case complexity</a:t>
            </a:r>
          </a:p>
          <a:p>
            <a:pPr lvl="1"/>
            <a:r>
              <a:rPr lang="en-US" dirty="0"/>
              <a:t>Represents the average number of steps required, considering all possible inputs</a:t>
            </a:r>
          </a:p>
          <a:p>
            <a:pPr lvl="1"/>
            <a:r>
              <a:rPr lang="en-US" dirty="0"/>
              <a:t>What do we think about this being useful as a measurement of complexity</a:t>
            </a:r>
          </a:p>
          <a:p>
            <a:r>
              <a:rPr lang="en-US" dirty="0"/>
              <a:t>Worst case complexity:</a:t>
            </a:r>
          </a:p>
          <a:p>
            <a:pPr lvl="1"/>
            <a:r>
              <a:rPr lang="en-US" dirty="0"/>
              <a:t>Represents the highest number of steps that an algorithm would require</a:t>
            </a:r>
          </a:p>
          <a:p>
            <a:pPr lvl="1"/>
            <a:r>
              <a:rPr lang="en-US" dirty="0"/>
              <a:t>What do we think about worst case?</a:t>
            </a:r>
          </a:p>
        </p:txBody>
      </p:sp>
    </p:spTree>
    <p:extLst>
      <p:ext uri="{BB962C8B-B14F-4D97-AF65-F5344CB8AC3E}">
        <p14:creationId xmlns:p14="http://schemas.microsoft.com/office/powerpoint/2010/main" val="85513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B9094-0A92-9F51-B235-7ADACE0DA2E8}"/>
              </a:ext>
            </a:extLst>
          </p:cNvPr>
          <p:cNvSpPr>
            <a:spLocks noGrp="1"/>
          </p:cNvSpPr>
          <p:nvPr>
            <p:ph type="title"/>
          </p:nvPr>
        </p:nvSpPr>
        <p:spPr/>
        <p:txBody>
          <a:bodyPr>
            <a:normAutofit fontScale="90000"/>
          </a:bodyPr>
          <a:lstStyle/>
          <a:p>
            <a:r>
              <a:rPr lang="en-US" dirty="0"/>
              <a:t>The BIG picture idea</a:t>
            </a:r>
          </a:p>
        </p:txBody>
      </p:sp>
      <p:sp>
        <p:nvSpPr>
          <p:cNvPr id="3" name="Text Placeholder 2">
            <a:extLst>
              <a:ext uri="{FF2B5EF4-FFF2-40B4-BE49-F238E27FC236}">
                <a16:creationId xmlns:a16="http://schemas.microsoft.com/office/drawing/2014/main" id="{9CC21F7F-4DB3-7A4F-994B-B80FEFAB1304}"/>
              </a:ext>
            </a:extLst>
          </p:cNvPr>
          <p:cNvSpPr>
            <a:spLocks noGrp="1"/>
          </p:cNvSpPr>
          <p:nvPr>
            <p:ph type="body" idx="1"/>
          </p:nvPr>
        </p:nvSpPr>
        <p:spPr/>
        <p:txBody>
          <a:bodyPr/>
          <a:lstStyle/>
          <a:p>
            <a:r>
              <a:rPr lang="en-US" dirty="0"/>
              <a:t>We care about the </a:t>
            </a:r>
            <a:r>
              <a:rPr lang="en-US" b="1" dirty="0"/>
              <a:t>highest order term </a:t>
            </a:r>
            <a:r>
              <a:rPr lang="en-US" dirty="0"/>
              <a:t>in a formula</a:t>
            </a:r>
          </a:p>
          <a:p>
            <a:pPr lvl="1"/>
            <a:r>
              <a:rPr lang="en-US" dirty="0"/>
              <a:t>It dominates performance as input size grows</a:t>
            </a:r>
          </a:p>
          <a:p>
            <a:r>
              <a:rPr lang="en-US" b="1" dirty="0"/>
              <a:t>Separate</a:t>
            </a:r>
            <a:r>
              <a:rPr lang="en-US" dirty="0"/>
              <a:t> out the choice of implementation and algorithm</a:t>
            </a:r>
          </a:p>
          <a:p>
            <a:pPr lvl="1"/>
            <a:r>
              <a:rPr lang="en-US" dirty="0"/>
              <a:t>How hard is the algorithm, not can we shave seconds off compute</a:t>
            </a:r>
          </a:p>
          <a:p>
            <a:pPr lvl="1"/>
            <a:r>
              <a:rPr lang="en-US" dirty="0"/>
              <a:t>Why?</a:t>
            </a:r>
          </a:p>
          <a:p>
            <a:pPr lvl="2"/>
            <a:r>
              <a:rPr lang="en-US" dirty="0"/>
              <a:t>An algorithm that calls for a certain action should </a:t>
            </a:r>
            <a:r>
              <a:rPr lang="en-US" i="1" dirty="0"/>
              <a:t>not</a:t>
            </a:r>
            <a:r>
              <a:rPr lang="en-US" dirty="0"/>
              <a:t> be judged based on implementation details</a:t>
            </a:r>
          </a:p>
          <a:p>
            <a:pPr lvl="3"/>
            <a:r>
              <a:rPr lang="en-US" dirty="0"/>
              <a:t>Iterative vs recursive</a:t>
            </a:r>
          </a:p>
          <a:p>
            <a:pPr lvl="3"/>
            <a:r>
              <a:rPr lang="en-US" dirty="0"/>
              <a:t>Using a While or a For loop</a:t>
            </a:r>
          </a:p>
          <a:p>
            <a:r>
              <a:rPr lang="en-US" b="1" dirty="0"/>
              <a:t>Separate </a:t>
            </a:r>
            <a:r>
              <a:rPr lang="en-US" dirty="0"/>
              <a:t>the hardware limitations that some system might have</a:t>
            </a:r>
          </a:p>
          <a:p>
            <a:r>
              <a:rPr lang="en-US" dirty="0"/>
              <a:t>We express efficiency based on the </a:t>
            </a:r>
            <a:r>
              <a:rPr lang="en-US" b="1" dirty="0"/>
              <a:t>size of input</a:t>
            </a:r>
            <a:endParaRPr lang="en-US" dirty="0"/>
          </a:p>
          <a:p>
            <a:endParaRPr lang="en-US" dirty="0"/>
          </a:p>
        </p:txBody>
      </p:sp>
    </p:spTree>
    <p:extLst>
      <p:ext uri="{BB962C8B-B14F-4D97-AF65-F5344CB8AC3E}">
        <p14:creationId xmlns:p14="http://schemas.microsoft.com/office/powerpoint/2010/main" val="643647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2A1CB-845C-CB12-0DF1-22E798265C35}"/>
              </a:ext>
            </a:extLst>
          </p:cNvPr>
          <p:cNvSpPr>
            <a:spLocks noGrp="1"/>
          </p:cNvSpPr>
          <p:nvPr>
            <p:ph type="title"/>
          </p:nvPr>
        </p:nvSpPr>
        <p:spPr/>
        <p:txBody>
          <a:bodyPr>
            <a:normAutofit fontScale="90000"/>
          </a:bodyPr>
          <a:lstStyle/>
          <a:p>
            <a:r>
              <a:rPr lang="en-US" dirty="0"/>
              <a:t>Let’s guess the number again</a:t>
            </a:r>
          </a:p>
        </p:txBody>
      </p:sp>
      <p:sp>
        <p:nvSpPr>
          <p:cNvPr id="3" name="Text Placeholder 2">
            <a:extLst>
              <a:ext uri="{FF2B5EF4-FFF2-40B4-BE49-F238E27FC236}">
                <a16:creationId xmlns:a16="http://schemas.microsoft.com/office/drawing/2014/main" id="{FB6C15A6-E5F9-4151-9683-971CBBD90B32}"/>
              </a:ext>
            </a:extLst>
          </p:cNvPr>
          <p:cNvSpPr>
            <a:spLocks noGrp="1"/>
          </p:cNvSpPr>
          <p:nvPr>
            <p:ph type="body" idx="1"/>
          </p:nvPr>
        </p:nvSpPr>
        <p:spPr/>
        <p:txBody>
          <a:bodyPr/>
          <a:lstStyle/>
          <a:p>
            <a:r>
              <a:rPr lang="en-US" dirty="0"/>
              <a:t>Let’s think of a number between 1 and </a:t>
            </a:r>
            <a:r>
              <a:rPr lang="en-US" i="1" dirty="0"/>
              <a:t>N</a:t>
            </a:r>
            <a:endParaRPr lang="en-US" dirty="0"/>
          </a:p>
          <a:p>
            <a:r>
              <a:rPr lang="en-US" dirty="0"/>
              <a:t>Sequential searching	</a:t>
            </a:r>
          </a:p>
          <a:p>
            <a:pPr lvl="1"/>
            <a:r>
              <a:rPr lang="en-US" dirty="0"/>
              <a:t>Sequential search algorithm</a:t>
            </a:r>
          </a:p>
          <a:p>
            <a:pPr lvl="2"/>
            <a:r>
              <a:rPr lang="en-US" i="1" dirty="0"/>
              <a:t>1…2…3…4...N</a:t>
            </a:r>
          </a:p>
          <a:p>
            <a:r>
              <a:rPr lang="en-US" dirty="0"/>
              <a:t>This idea of N input is exactly how we evaluate how effective particular solutions may be</a:t>
            </a:r>
          </a:p>
        </p:txBody>
      </p:sp>
    </p:spTree>
    <p:extLst>
      <p:ext uri="{BB962C8B-B14F-4D97-AF65-F5344CB8AC3E}">
        <p14:creationId xmlns:p14="http://schemas.microsoft.com/office/powerpoint/2010/main" val="4000908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13ECD-4DD8-420E-52C8-A9737BF821BE}"/>
              </a:ext>
            </a:extLst>
          </p:cNvPr>
          <p:cNvSpPr>
            <a:spLocks noGrp="1"/>
          </p:cNvSpPr>
          <p:nvPr>
            <p:ph type="title"/>
          </p:nvPr>
        </p:nvSpPr>
        <p:spPr/>
        <p:txBody>
          <a:bodyPr>
            <a:normAutofit fontScale="90000"/>
          </a:bodyPr>
          <a:lstStyle/>
          <a:p>
            <a:r>
              <a:rPr lang="en-US" dirty="0"/>
              <a:t>Order of Growth</a:t>
            </a:r>
          </a:p>
        </p:txBody>
      </p:sp>
      <p:sp>
        <p:nvSpPr>
          <p:cNvPr id="3" name="Text Placeholder 2">
            <a:extLst>
              <a:ext uri="{FF2B5EF4-FFF2-40B4-BE49-F238E27FC236}">
                <a16:creationId xmlns:a16="http://schemas.microsoft.com/office/drawing/2014/main" id="{D8DD2393-63D3-72DC-E5F4-B98F7D7BEB3F}"/>
              </a:ext>
            </a:extLst>
          </p:cNvPr>
          <p:cNvSpPr>
            <a:spLocks noGrp="1"/>
          </p:cNvSpPr>
          <p:nvPr>
            <p:ph type="body" idx="1"/>
          </p:nvPr>
        </p:nvSpPr>
        <p:spPr/>
        <p:txBody>
          <a:bodyPr/>
          <a:lstStyle/>
          <a:p>
            <a:r>
              <a:rPr lang="en-US" dirty="0"/>
              <a:t>We want to express the growth of a programs runtime as input grows</a:t>
            </a:r>
          </a:p>
          <a:p>
            <a:pPr lvl="1"/>
            <a:r>
              <a:rPr lang="en-US" i="1" dirty="0"/>
              <a:t>Not exact, </a:t>
            </a:r>
            <a:r>
              <a:rPr lang="en-US" dirty="0"/>
              <a:t>but an abstract generalization</a:t>
            </a:r>
          </a:p>
          <a:p>
            <a:pPr lvl="1"/>
            <a:r>
              <a:rPr lang="en-US" dirty="0"/>
              <a:t>What is the relationship between increasing the size of the input and the amount of time required to execute some algorithm</a:t>
            </a:r>
          </a:p>
          <a:p>
            <a:r>
              <a:rPr lang="en-US" dirty="0"/>
              <a:t>We are going to put an </a:t>
            </a:r>
            <a:r>
              <a:rPr lang="en-US" i="1" dirty="0"/>
              <a:t>upper bound</a:t>
            </a:r>
            <a:r>
              <a:rPr lang="en-US" dirty="0"/>
              <a:t> on the growth</a:t>
            </a:r>
          </a:p>
          <a:p>
            <a:pPr lvl="1"/>
            <a:r>
              <a:rPr lang="en-US" dirty="0"/>
              <a:t>Don’t worry about precision</a:t>
            </a:r>
          </a:p>
          <a:p>
            <a:pPr lvl="1"/>
            <a:r>
              <a:rPr lang="en-US" dirty="0"/>
              <a:t>Order of, rather than exact</a:t>
            </a:r>
          </a:p>
          <a:p>
            <a:r>
              <a:rPr lang="en-US" dirty="0"/>
              <a:t>Thus, we want to consider:</a:t>
            </a:r>
          </a:p>
          <a:p>
            <a:pPr lvl="1"/>
            <a:r>
              <a:rPr lang="en-US" dirty="0"/>
              <a:t>Look for an upper bound of the growth as a function of the input in the </a:t>
            </a:r>
            <a:r>
              <a:rPr lang="en-US" b="1" dirty="0"/>
              <a:t>worst</a:t>
            </a:r>
            <a:r>
              <a:rPr lang="en-US" dirty="0"/>
              <a:t> case</a:t>
            </a:r>
          </a:p>
        </p:txBody>
      </p:sp>
    </p:spTree>
    <p:extLst>
      <p:ext uri="{BB962C8B-B14F-4D97-AF65-F5344CB8AC3E}">
        <p14:creationId xmlns:p14="http://schemas.microsoft.com/office/powerpoint/2010/main" val="1294968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8188-7D35-2A63-DE1D-09D766D0C3E9}"/>
              </a:ext>
            </a:extLst>
          </p:cNvPr>
          <p:cNvSpPr>
            <a:spLocks noGrp="1"/>
          </p:cNvSpPr>
          <p:nvPr>
            <p:ph type="title"/>
          </p:nvPr>
        </p:nvSpPr>
        <p:spPr/>
        <p:txBody>
          <a:bodyPr>
            <a:normAutofit fontScale="90000"/>
          </a:bodyPr>
          <a:lstStyle/>
          <a:p>
            <a:r>
              <a:rPr lang="en-US"/>
              <a:t>Big O notation</a:t>
            </a:r>
          </a:p>
        </p:txBody>
      </p:sp>
      <p:sp>
        <p:nvSpPr>
          <p:cNvPr id="3" name="Text Placeholder 2">
            <a:extLst>
              <a:ext uri="{FF2B5EF4-FFF2-40B4-BE49-F238E27FC236}">
                <a16:creationId xmlns:a16="http://schemas.microsoft.com/office/drawing/2014/main" id="{E66C3640-F44F-1EFD-7C43-631140722C83}"/>
              </a:ext>
            </a:extLst>
          </p:cNvPr>
          <p:cNvSpPr>
            <a:spLocks noGrp="1"/>
          </p:cNvSpPr>
          <p:nvPr>
            <p:ph type="body" idx="1"/>
          </p:nvPr>
        </p:nvSpPr>
        <p:spPr/>
        <p:txBody>
          <a:bodyPr/>
          <a:lstStyle/>
          <a:p>
            <a:pPr fontAlgn="base"/>
            <a:r>
              <a:rPr lang="en-US"/>
              <a:t>Big O notation is a way to describe the performance or complexity of an algorithm. </a:t>
            </a:r>
          </a:p>
          <a:p>
            <a:pPr fontAlgn="base"/>
            <a:r>
              <a:rPr lang="en-US"/>
              <a:t>It is a measure of how long an algorithm takes to complete, relative to the size of the input.</a:t>
            </a:r>
          </a:p>
          <a:p>
            <a:pPr fontAlgn="base"/>
            <a:r>
              <a:rPr lang="en-US" b="1"/>
              <a:t>Why is Big O important?</a:t>
            </a:r>
          </a:p>
          <a:p>
            <a:pPr lvl="1" fontAlgn="base"/>
            <a:r>
              <a:rPr lang="en-US"/>
              <a:t>Big O notation is important because it helps us understand how an algorithm will perform as the size of the input increases. </a:t>
            </a:r>
          </a:p>
          <a:p>
            <a:pPr lvl="1" fontAlgn="base"/>
            <a:r>
              <a:rPr lang="en-US"/>
              <a:t>This is crucial in software development, as it allows us to:</a:t>
            </a:r>
          </a:p>
          <a:p>
            <a:pPr lvl="2" fontAlgn="base"/>
            <a:r>
              <a:rPr lang="en-US"/>
              <a:t>Predict performance</a:t>
            </a:r>
          </a:p>
          <a:p>
            <a:pPr lvl="2" fontAlgn="base"/>
            <a:r>
              <a:rPr lang="en-US"/>
              <a:t>Compare algorithms</a:t>
            </a:r>
          </a:p>
          <a:p>
            <a:pPr lvl="2" fontAlgn="base"/>
            <a:r>
              <a:rPr lang="en-US"/>
              <a:t>Identify bottlenecks</a:t>
            </a:r>
          </a:p>
          <a:p>
            <a:endParaRPr lang="en-US"/>
          </a:p>
        </p:txBody>
      </p:sp>
    </p:spTree>
    <p:extLst>
      <p:ext uri="{BB962C8B-B14F-4D97-AF65-F5344CB8AC3E}">
        <p14:creationId xmlns:p14="http://schemas.microsoft.com/office/powerpoint/2010/main" val="2798628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93309-CCA7-404A-4965-E49DB226C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1DAA8-A050-63F2-7A6A-B30E5FADB72B}"/>
              </a:ext>
            </a:extLst>
          </p:cNvPr>
          <p:cNvSpPr>
            <a:spLocks noGrp="1"/>
          </p:cNvSpPr>
          <p:nvPr>
            <p:ph type="title"/>
          </p:nvPr>
        </p:nvSpPr>
        <p:spPr/>
        <p:txBody>
          <a:bodyPr>
            <a:normAutofit fontScale="90000"/>
          </a:bodyPr>
          <a:lstStyle/>
          <a:p>
            <a:r>
              <a:rPr lang="en-US" dirty="0"/>
              <a:t>Let’s guess the number again(again)</a:t>
            </a:r>
          </a:p>
        </p:txBody>
      </p:sp>
      <p:sp>
        <p:nvSpPr>
          <p:cNvPr id="3" name="Text Placeholder 2">
            <a:extLst>
              <a:ext uri="{FF2B5EF4-FFF2-40B4-BE49-F238E27FC236}">
                <a16:creationId xmlns:a16="http://schemas.microsoft.com/office/drawing/2014/main" id="{E1A14219-1BB5-8C4D-3646-6E2E59494E50}"/>
              </a:ext>
            </a:extLst>
          </p:cNvPr>
          <p:cNvSpPr>
            <a:spLocks noGrp="1"/>
          </p:cNvSpPr>
          <p:nvPr>
            <p:ph type="body" idx="1"/>
          </p:nvPr>
        </p:nvSpPr>
        <p:spPr/>
        <p:txBody>
          <a:bodyPr/>
          <a:lstStyle/>
          <a:p>
            <a:r>
              <a:rPr lang="en-US" dirty="0"/>
              <a:t>Let’s think of a number between 1 and </a:t>
            </a:r>
            <a:r>
              <a:rPr lang="en-US" i="1" dirty="0"/>
              <a:t>N</a:t>
            </a:r>
            <a:endParaRPr lang="en-US" dirty="0"/>
          </a:p>
          <a:p>
            <a:r>
              <a:rPr lang="en-US" dirty="0"/>
              <a:t>Sequential searching	</a:t>
            </a:r>
          </a:p>
          <a:p>
            <a:pPr lvl="1"/>
            <a:r>
              <a:rPr lang="en-US" dirty="0"/>
              <a:t>Sequential search algorithm</a:t>
            </a:r>
          </a:p>
          <a:p>
            <a:pPr lvl="2"/>
            <a:r>
              <a:rPr lang="en-US" i="1" dirty="0"/>
              <a:t>1…2…3…4...N</a:t>
            </a:r>
          </a:p>
          <a:p>
            <a:r>
              <a:rPr lang="en-US" dirty="0"/>
              <a:t>If we think of our solution</a:t>
            </a:r>
          </a:p>
          <a:p>
            <a:pPr lvl="1"/>
            <a:r>
              <a:rPr lang="en-US" dirty="0"/>
              <a:t>How does it’s behavior change as our N value get’s larger?</a:t>
            </a:r>
          </a:p>
          <a:p>
            <a:pPr lvl="2"/>
            <a:r>
              <a:rPr lang="en-US" dirty="0"/>
              <a:t>Say, N*2</a:t>
            </a:r>
          </a:p>
          <a:p>
            <a:pPr lvl="2"/>
            <a:r>
              <a:rPr lang="en-US" dirty="0"/>
              <a:t>Or how about N*N?</a:t>
            </a:r>
          </a:p>
          <a:p>
            <a:pPr lvl="1"/>
            <a:r>
              <a:rPr lang="en-US" dirty="0"/>
              <a:t>What happens to our number of steps required in the </a:t>
            </a:r>
            <a:r>
              <a:rPr lang="en-US" b="1" dirty="0"/>
              <a:t>worst case?</a:t>
            </a:r>
          </a:p>
        </p:txBody>
      </p:sp>
    </p:spTree>
    <p:extLst>
      <p:ext uri="{BB962C8B-B14F-4D97-AF65-F5344CB8AC3E}">
        <p14:creationId xmlns:p14="http://schemas.microsoft.com/office/powerpoint/2010/main" val="2884381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21BD-ACEA-F730-468D-EF2D533AC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6C766-D4BA-804F-0CC7-B3F2001496CF}"/>
              </a:ext>
            </a:extLst>
          </p:cNvPr>
          <p:cNvSpPr>
            <a:spLocks noGrp="1"/>
          </p:cNvSpPr>
          <p:nvPr>
            <p:ph type="title"/>
          </p:nvPr>
        </p:nvSpPr>
        <p:spPr/>
        <p:txBody>
          <a:bodyPr>
            <a:normAutofit fontScale="90000"/>
          </a:bodyPr>
          <a:lstStyle/>
          <a:p>
            <a:r>
              <a:rPr lang="en-US" dirty="0"/>
              <a:t>Common Orders of Growth</a:t>
            </a:r>
          </a:p>
        </p:txBody>
      </p:sp>
      <p:sp>
        <p:nvSpPr>
          <p:cNvPr id="3" name="Text Placeholder 2">
            <a:extLst>
              <a:ext uri="{FF2B5EF4-FFF2-40B4-BE49-F238E27FC236}">
                <a16:creationId xmlns:a16="http://schemas.microsoft.com/office/drawing/2014/main" id="{02796F48-288B-BCC6-2C56-B919B0BAA92C}"/>
              </a:ext>
            </a:extLst>
          </p:cNvPr>
          <p:cNvSpPr>
            <a:spLocks noGrp="1"/>
          </p:cNvSpPr>
          <p:nvPr>
            <p:ph type="body" idx="1"/>
          </p:nvPr>
        </p:nvSpPr>
        <p:spPr/>
        <p:txBody>
          <a:bodyPr>
            <a:normAutofit fontScale="85000" lnSpcReduction="20000"/>
          </a:bodyPr>
          <a:lstStyle/>
          <a:p>
            <a:r>
              <a:rPr lang="en-US" dirty="0"/>
              <a:t>0(1) – Bounded time</a:t>
            </a:r>
          </a:p>
          <a:p>
            <a:pPr lvl="1"/>
            <a:r>
              <a:rPr lang="en-US" dirty="0"/>
              <a:t>The amount of work is bounded by a constant and is not dependent on the size of the problem</a:t>
            </a:r>
          </a:p>
          <a:p>
            <a:r>
              <a:rPr lang="en-US" dirty="0"/>
              <a:t>0(log</a:t>
            </a:r>
            <a:r>
              <a:rPr lang="en-US" baseline="-25000" dirty="0"/>
              <a:t>2</a:t>
            </a:r>
            <a:r>
              <a:rPr lang="en-US" dirty="0"/>
              <a:t>N) – Logarithmic time</a:t>
            </a:r>
          </a:p>
          <a:p>
            <a:pPr lvl="1"/>
            <a:r>
              <a:rPr lang="en-US" dirty="0"/>
              <a:t>The amount of work depends on the logarithm in base 2, of the size of the problem</a:t>
            </a:r>
          </a:p>
          <a:p>
            <a:pPr lvl="1"/>
            <a:r>
              <a:rPr lang="en-US" dirty="0"/>
              <a:t>These algorithms successively cut the amount of data to be processed in half at each step</a:t>
            </a:r>
          </a:p>
          <a:p>
            <a:r>
              <a:rPr lang="en-US" dirty="0"/>
              <a:t>0(</a:t>
            </a:r>
            <a:r>
              <a:rPr lang="en-US" i="1" dirty="0"/>
              <a:t>N</a:t>
            </a:r>
            <a:r>
              <a:rPr lang="en-US" dirty="0"/>
              <a:t>) – Linear time</a:t>
            </a:r>
          </a:p>
          <a:p>
            <a:pPr lvl="1"/>
            <a:r>
              <a:rPr lang="en-US" dirty="0"/>
              <a:t>The amount of work is some constant times the size of the problem</a:t>
            </a:r>
          </a:p>
          <a:p>
            <a:pPr lvl="2"/>
            <a:r>
              <a:rPr lang="en-US" dirty="0"/>
              <a:t>Algorithms that work through all the data to arrive at a conclusion</a:t>
            </a:r>
          </a:p>
          <a:p>
            <a:r>
              <a:rPr lang="en-US" dirty="0"/>
              <a:t>(N log</a:t>
            </a:r>
            <a:r>
              <a:rPr lang="en-US" baseline="-25000" dirty="0"/>
              <a:t>2</a:t>
            </a:r>
            <a:r>
              <a:rPr lang="en-US" dirty="0"/>
              <a:t>N) - Log-Linear Complexity</a:t>
            </a:r>
          </a:p>
          <a:p>
            <a:pPr lvl="1"/>
            <a:r>
              <a:rPr lang="en-US" dirty="0"/>
              <a:t>The amount of work is some constant times the size of the problem</a:t>
            </a:r>
          </a:p>
          <a:p>
            <a:pPr lvl="2"/>
            <a:r>
              <a:rPr lang="en-US" dirty="0"/>
              <a:t>Algorithms that apply logarithmic algorithms N times</a:t>
            </a:r>
          </a:p>
          <a:p>
            <a:r>
              <a:rPr lang="en-US" dirty="0"/>
              <a:t>0(</a:t>
            </a:r>
            <a:r>
              <a:rPr lang="en-US" i="1" dirty="0"/>
              <a:t>N</a:t>
            </a:r>
            <a:r>
              <a:rPr lang="en-US" i="1" baseline="30000" dirty="0"/>
              <a:t>2</a:t>
            </a:r>
            <a:r>
              <a:rPr lang="en-US" dirty="0"/>
              <a:t>) – Quadratic time</a:t>
            </a:r>
          </a:p>
          <a:p>
            <a:pPr lvl="1"/>
            <a:r>
              <a:rPr lang="en-US" dirty="0"/>
              <a:t>Algorithms typically involve applying a linear algorithm </a:t>
            </a:r>
            <a:r>
              <a:rPr lang="en-US" i="1" dirty="0"/>
              <a:t>N </a:t>
            </a:r>
            <a:r>
              <a:rPr lang="en-US" dirty="0"/>
              <a:t>times</a:t>
            </a:r>
          </a:p>
          <a:p>
            <a:r>
              <a:rPr lang="en-US" dirty="0"/>
              <a:t>O(2</a:t>
            </a:r>
            <a:r>
              <a:rPr lang="en-US" baseline="30000" dirty="0"/>
              <a:t>N</a:t>
            </a:r>
            <a:r>
              <a:rPr lang="en-US" dirty="0"/>
              <a:t>) – Exponential time</a:t>
            </a:r>
          </a:p>
          <a:p>
            <a:pPr lvl="1"/>
            <a:r>
              <a:rPr lang="en-US" dirty="0"/>
              <a:t>Costly, point to point algorithms that must check multiple relationships</a:t>
            </a:r>
          </a:p>
        </p:txBody>
      </p:sp>
    </p:spTree>
    <p:extLst>
      <p:ext uri="{BB962C8B-B14F-4D97-AF65-F5344CB8AC3E}">
        <p14:creationId xmlns:p14="http://schemas.microsoft.com/office/powerpoint/2010/main" val="3914842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1085D-5943-AFE0-2995-3856E0391BAF}"/>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74B4A781-F15E-7986-002C-8649DFBEB875}"/>
              </a:ext>
            </a:extLst>
          </p:cNvPr>
          <p:cNvSpPr>
            <a:spLocks noGrp="1"/>
          </p:cNvSpPr>
          <p:nvPr>
            <p:ph type="body" idx="1"/>
          </p:nvPr>
        </p:nvSpPr>
        <p:spPr>
          <a:xfrm>
            <a:off x="1196779" y="2251903"/>
            <a:ext cx="6791453" cy="1906972"/>
          </a:xfrm>
        </p:spPr>
        <p:txBody>
          <a:bodyPr/>
          <a:lstStyle/>
          <a:p>
            <a:endParaRPr lang="en-US"/>
          </a:p>
        </p:txBody>
      </p:sp>
      <p:pic>
        <p:nvPicPr>
          <p:cNvPr id="1026" name="Picture 2">
            <a:extLst>
              <a:ext uri="{FF2B5EF4-FFF2-40B4-BE49-F238E27FC236}">
                <a16:creationId xmlns:a16="http://schemas.microsoft.com/office/drawing/2014/main" id="{6F51D98D-C4EF-FCF8-6FC6-7FBFE6777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6817" y="633808"/>
            <a:ext cx="6630366" cy="4099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4130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D83C-E64C-A63C-2A7F-2D2ADC23FAF9}"/>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9F66F75F-8532-97CA-EA09-B9875C1BD722}"/>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510BADD9-52AD-3FD4-2693-2C0A800BF563}"/>
              </a:ext>
            </a:extLst>
          </p:cNvPr>
          <p:cNvPicPr>
            <a:picLocks noChangeAspect="1"/>
          </p:cNvPicPr>
          <p:nvPr/>
        </p:nvPicPr>
        <p:blipFill>
          <a:blip r:embed="rId2"/>
          <a:stretch>
            <a:fillRect/>
          </a:stretch>
        </p:blipFill>
        <p:spPr>
          <a:xfrm>
            <a:off x="460600" y="498425"/>
            <a:ext cx="8043864" cy="3764637"/>
          </a:xfrm>
          <a:prstGeom prst="rect">
            <a:avLst/>
          </a:prstGeom>
        </p:spPr>
      </p:pic>
    </p:spTree>
    <p:extLst>
      <p:ext uri="{BB962C8B-B14F-4D97-AF65-F5344CB8AC3E}">
        <p14:creationId xmlns:p14="http://schemas.microsoft.com/office/powerpoint/2010/main" val="31257210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5F7CA-A0B4-61BE-F36C-F05DCED3B156}"/>
              </a:ext>
            </a:extLst>
          </p:cNvPr>
          <p:cNvSpPr>
            <a:spLocks noGrp="1"/>
          </p:cNvSpPr>
          <p:nvPr>
            <p:ph type="title"/>
          </p:nvPr>
        </p:nvSpPr>
        <p:spPr/>
        <p:txBody>
          <a:bodyPr>
            <a:normAutofit fontScale="90000"/>
          </a:bodyPr>
          <a:lstStyle/>
          <a:p>
            <a:r>
              <a:rPr lang="en-US" dirty="0"/>
              <a:t>So how do we evaluate algorithms?</a:t>
            </a:r>
          </a:p>
        </p:txBody>
      </p:sp>
      <p:sp>
        <p:nvSpPr>
          <p:cNvPr id="3" name="Text Placeholder 2">
            <a:extLst>
              <a:ext uri="{FF2B5EF4-FFF2-40B4-BE49-F238E27FC236}">
                <a16:creationId xmlns:a16="http://schemas.microsoft.com/office/drawing/2014/main" id="{E235426A-B92B-37E0-556B-E3E764329C32}"/>
              </a:ext>
            </a:extLst>
          </p:cNvPr>
          <p:cNvSpPr>
            <a:spLocks noGrp="1"/>
          </p:cNvSpPr>
          <p:nvPr>
            <p:ph type="body" idx="1"/>
          </p:nvPr>
        </p:nvSpPr>
        <p:spPr/>
        <p:txBody>
          <a:bodyPr/>
          <a:lstStyle/>
          <a:p>
            <a:r>
              <a:rPr lang="en-US" dirty="0"/>
              <a:t>Evaluate each line of code separately</a:t>
            </a:r>
          </a:p>
          <a:p>
            <a:pPr lvl="1"/>
            <a:r>
              <a:rPr lang="en-US" dirty="0"/>
              <a:t>Focus on the dominant statements</a:t>
            </a:r>
          </a:p>
          <a:p>
            <a:r>
              <a:rPr lang="en-US" b="1" dirty="0"/>
              <a:t>law of Addition</a:t>
            </a:r>
          </a:p>
          <a:p>
            <a:pPr lvl="1"/>
            <a:r>
              <a:rPr lang="en-US" dirty="0"/>
              <a:t>For sequential statements:</a:t>
            </a:r>
          </a:p>
          <a:p>
            <a:pPr lvl="2"/>
            <a:r>
              <a:rPr lang="en-US" dirty="0"/>
              <a:t>We use the combination of the order of growth</a:t>
            </a:r>
          </a:p>
          <a:p>
            <a:r>
              <a:rPr lang="en-US" dirty="0"/>
              <a:t>What order growth was our number guessing sequential algorithm?</a:t>
            </a:r>
          </a:p>
          <a:p>
            <a:pPr lvl="1"/>
            <a:r>
              <a:rPr lang="en-US" dirty="0"/>
              <a:t>O(N)</a:t>
            </a:r>
          </a:p>
          <a:p>
            <a:pPr lvl="2"/>
            <a:r>
              <a:rPr lang="en-US" dirty="0"/>
              <a:t>The number of steps directly corelated to the value of N </a:t>
            </a:r>
          </a:p>
          <a:p>
            <a:r>
              <a:rPr lang="en-US" dirty="0"/>
              <a:t>What about the code snippet above?</a:t>
            </a:r>
          </a:p>
          <a:p>
            <a:pPr lvl="1"/>
            <a:r>
              <a:rPr lang="en-US" dirty="0"/>
              <a:t>O(N) + O(n</a:t>
            </a:r>
            <a:r>
              <a:rPr lang="en-US" baseline="30000" dirty="0"/>
              <a:t>2</a:t>
            </a:r>
            <a:r>
              <a:rPr lang="en-US" dirty="0"/>
              <a:t>) = O(N</a:t>
            </a:r>
            <a:r>
              <a:rPr lang="en-US" baseline="30000" dirty="0"/>
              <a:t>2</a:t>
            </a:r>
            <a:r>
              <a:rPr lang="en-US" dirty="0"/>
              <a:t>)</a:t>
            </a:r>
          </a:p>
          <a:p>
            <a:pPr lvl="2"/>
            <a:endParaRPr lang="en-US" dirty="0"/>
          </a:p>
          <a:p>
            <a:pPr lvl="1"/>
            <a:endParaRPr lang="en-US" dirty="0"/>
          </a:p>
        </p:txBody>
      </p:sp>
      <p:pic>
        <p:nvPicPr>
          <p:cNvPr id="4" name="Picture 3">
            <a:extLst>
              <a:ext uri="{FF2B5EF4-FFF2-40B4-BE49-F238E27FC236}">
                <a16:creationId xmlns:a16="http://schemas.microsoft.com/office/drawing/2014/main" id="{59B4A764-B0AE-D831-DEF3-3D0D465AFEF4}"/>
              </a:ext>
            </a:extLst>
          </p:cNvPr>
          <p:cNvPicPr>
            <a:picLocks noChangeAspect="1"/>
          </p:cNvPicPr>
          <p:nvPr/>
        </p:nvPicPr>
        <p:blipFill>
          <a:blip r:embed="rId3"/>
          <a:stretch>
            <a:fillRect/>
          </a:stretch>
        </p:blipFill>
        <p:spPr>
          <a:xfrm>
            <a:off x="6008364" y="1017800"/>
            <a:ext cx="2823936" cy="1287283"/>
          </a:xfrm>
          <a:prstGeom prst="rect">
            <a:avLst/>
          </a:prstGeom>
        </p:spPr>
      </p:pic>
    </p:spTree>
    <p:extLst>
      <p:ext uri="{BB962C8B-B14F-4D97-AF65-F5344CB8AC3E}">
        <p14:creationId xmlns:p14="http://schemas.microsoft.com/office/powerpoint/2010/main" val="95056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06BB-2ABD-4F1F-35C5-CC1607CAF814}"/>
              </a:ext>
            </a:extLst>
          </p:cNvPr>
          <p:cNvSpPr>
            <a:spLocks noGrp="1"/>
          </p:cNvSpPr>
          <p:nvPr>
            <p:ph type="title"/>
          </p:nvPr>
        </p:nvSpPr>
        <p:spPr/>
        <p:txBody>
          <a:bodyPr>
            <a:normAutofit fontScale="90000"/>
          </a:bodyPr>
          <a:lstStyle/>
          <a:p>
            <a:r>
              <a:rPr lang="en-US" dirty="0"/>
              <a:t>So how do we evaluate algorithms(</a:t>
            </a:r>
            <a:r>
              <a:rPr lang="en-US" dirty="0" err="1"/>
              <a:t>cont</a:t>
            </a:r>
            <a:r>
              <a:rPr lang="en-US" dirty="0"/>
              <a:t>)?</a:t>
            </a:r>
          </a:p>
        </p:txBody>
      </p:sp>
      <p:sp>
        <p:nvSpPr>
          <p:cNvPr id="3" name="Text Placeholder 2">
            <a:extLst>
              <a:ext uri="{FF2B5EF4-FFF2-40B4-BE49-F238E27FC236}">
                <a16:creationId xmlns:a16="http://schemas.microsoft.com/office/drawing/2014/main" id="{FA6D541C-CC9D-4D7B-911E-C8A70CBC25F8}"/>
              </a:ext>
            </a:extLst>
          </p:cNvPr>
          <p:cNvSpPr>
            <a:spLocks noGrp="1"/>
          </p:cNvSpPr>
          <p:nvPr>
            <p:ph type="body" idx="1"/>
          </p:nvPr>
        </p:nvSpPr>
        <p:spPr/>
        <p:txBody>
          <a:bodyPr/>
          <a:lstStyle/>
          <a:p>
            <a:r>
              <a:rPr lang="en-US" b="1" dirty="0"/>
              <a:t>Law of multiplication</a:t>
            </a:r>
            <a:endParaRPr lang="en-US" dirty="0"/>
          </a:p>
          <a:p>
            <a:pPr lvl="1"/>
            <a:r>
              <a:rPr lang="en-US" dirty="0"/>
              <a:t>Applies for  </a:t>
            </a:r>
            <a:r>
              <a:rPr lang="en-US" i="1" dirty="0"/>
              <a:t>Nested</a:t>
            </a:r>
            <a:r>
              <a:rPr lang="en-US" dirty="0"/>
              <a:t> statements</a:t>
            </a:r>
          </a:p>
          <a:p>
            <a:pPr lvl="1"/>
            <a:r>
              <a:rPr lang="en-US" dirty="0"/>
              <a:t>The order of growth is a combination of:</a:t>
            </a:r>
          </a:p>
          <a:p>
            <a:pPr lvl="2"/>
            <a:r>
              <a:rPr lang="en-US" dirty="0"/>
              <a:t>Inner part</a:t>
            </a:r>
          </a:p>
          <a:p>
            <a:pPr lvl="2"/>
            <a:r>
              <a:rPr lang="en-US" dirty="0"/>
              <a:t>Outer part</a:t>
            </a:r>
          </a:p>
          <a:p>
            <a:r>
              <a:rPr lang="en-US" dirty="0"/>
              <a:t>In the example here, what happens for each of these loops, in the worst case</a:t>
            </a:r>
          </a:p>
          <a:p>
            <a:pPr lvl="1"/>
            <a:r>
              <a:rPr lang="en-US" dirty="0"/>
              <a:t>O(N*N)</a:t>
            </a:r>
          </a:p>
          <a:p>
            <a:pPr lvl="2"/>
            <a:r>
              <a:rPr lang="en-US" dirty="0"/>
              <a:t>O(N</a:t>
            </a:r>
            <a:r>
              <a:rPr lang="en-US" baseline="30000" dirty="0"/>
              <a:t>2</a:t>
            </a:r>
            <a:r>
              <a:rPr lang="en-US" dirty="0"/>
              <a:t>)</a:t>
            </a:r>
          </a:p>
        </p:txBody>
      </p:sp>
      <p:pic>
        <p:nvPicPr>
          <p:cNvPr id="4" name="Picture 3">
            <a:extLst>
              <a:ext uri="{FF2B5EF4-FFF2-40B4-BE49-F238E27FC236}">
                <a16:creationId xmlns:a16="http://schemas.microsoft.com/office/drawing/2014/main" id="{4C315074-5B57-A128-7E2A-CCE426155263}"/>
              </a:ext>
            </a:extLst>
          </p:cNvPr>
          <p:cNvPicPr>
            <a:picLocks noChangeAspect="1"/>
          </p:cNvPicPr>
          <p:nvPr/>
        </p:nvPicPr>
        <p:blipFill>
          <a:blip r:embed="rId2"/>
          <a:stretch>
            <a:fillRect/>
          </a:stretch>
        </p:blipFill>
        <p:spPr>
          <a:xfrm>
            <a:off x="5425071" y="1325335"/>
            <a:ext cx="3352800" cy="990600"/>
          </a:xfrm>
          <a:prstGeom prst="rect">
            <a:avLst/>
          </a:prstGeom>
        </p:spPr>
      </p:pic>
    </p:spTree>
    <p:extLst>
      <p:ext uri="{BB962C8B-B14F-4D97-AF65-F5344CB8AC3E}">
        <p14:creationId xmlns:p14="http://schemas.microsoft.com/office/powerpoint/2010/main" val="65030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B1D53-E731-C9E2-2690-1EABCBC60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623DB-6330-6418-F554-B41B2727F6E6}"/>
              </a:ext>
            </a:extLst>
          </p:cNvPr>
          <p:cNvSpPr>
            <a:spLocks noGrp="1"/>
          </p:cNvSpPr>
          <p:nvPr>
            <p:ph type="title"/>
          </p:nvPr>
        </p:nvSpPr>
        <p:spPr/>
        <p:txBody>
          <a:bodyPr>
            <a:normAutofit fontScale="90000"/>
          </a:bodyPr>
          <a:lstStyle/>
          <a:p>
            <a:r>
              <a:rPr lang="en-US" dirty="0"/>
              <a:t>Common Orders of Growth - Recap</a:t>
            </a:r>
          </a:p>
        </p:txBody>
      </p:sp>
      <p:sp>
        <p:nvSpPr>
          <p:cNvPr id="3" name="Text Placeholder 2">
            <a:extLst>
              <a:ext uri="{FF2B5EF4-FFF2-40B4-BE49-F238E27FC236}">
                <a16:creationId xmlns:a16="http://schemas.microsoft.com/office/drawing/2014/main" id="{2C666862-568A-FA42-E1FD-B23F397FBD47}"/>
              </a:ext>
            </a:extLst>
          </p:cNvPr>
          <p:cNvSpPr>
            <a:spLocks noGrp="1"/>
          </p:cNvSpPr>
          <p:nvPr>
            <p:ph type="body" idx="1"/>
          </p:nvPr>
        </p:nvSpPr>
        <p:spPr/>
        <p:txBody>
          <a:bodyPr>
            <a:normAutofit fontScale="85000" lnSpcReduction="20000"/>
          </a:bodyPr>
          <a:lstStyle/>
          <a:p>
            <a:r>
              <a:rPr lang="en-US" dirty="0"/>
              <a:t>0(1) – Bounded time</a:t>
            </a:r>
          </a:p>
          <a:p>
            <a:pPr lvl="1"/>
            <a:r>
              <a:rPr lang="en-US" dirty="0"/>
              <a:t>The amount of work is bounded by a constant and is not dependent on the size of the problem</a:t>
            </a:r>
          </a:p>
          <a:p>
            <a:r>
              <a:rPr lang="en-US" dirty="0"/>
              <a:t>0(log</a:t>
            </a:r>
            <a:r>
              <a:rPr lang="en-US" baseline="-25000" dirty="0"/>
              <a:t>2</a:t>
            </a:r>
            <a:r>
              <a:rPr lang="en-US" dirty="0"/>
              <a:t>N) – Logarithmic time</a:t>
            </a:r>
          </a:p>
          <a:p>
            <a:pPr lvl="1"/>
            <a:r>
              <a:rPr lang="en-US" dirty="0"/>
              <a:t>The amount of work depends on the logarithm in base 2, of the size of the problem</a:t>
            </a:r>
          </a:p>
          <a:p>
            <a:pPr lvl="1"/>
            <a:r>
              <a:rPr lang="en-US" dirty="0"/>
              <a:t>These algorithms successively cut the amount of data to be processed in half at each step</a:t>
            </a:r>
          </a:p>
          <a:p>
            <a:r>
              <a:rPr lang="en-US" dirty="0"/>
              <a:t>0(</a:t>
            </a:r>
            <a:r>
              <a:rPr lang="en-US" i="1" dirty="0"/>
              <a:t>N</a:t>
            </a:r>
            <a:r>
              <a:rPr lang="en-US" dirty="0"/>
              <a:t>) – Linear time</a:t>
            </a:r>
          </a:p>
          <a:p>
            <a:pPr lvl="1"/>
            <a:r>
              <a:rPr lang="en-US" dirty="0"/>
              <a:t>The amount of work is some constant times the size of the problem</a:t>
            </a:r>
          </a:p>
          <a:p>
            <a:pPr lvl="2"/>
            <a:r>
              <a:rPr lang="en-US" dirty="0"/>
              <a:t>Algorithms that work through all the data to arrive at a conclusion</a:t>
            </a:r>
          </a:p>
          <a:p>
            <a:r>
              <a:rPr lang="en-US" dirty="0"/>
              <a:t>(N log</a:t>
            </a:r>
            <a:r>
              <a:rPr lang="en-US" baseline="-25000" dirty="0"/>
              <a:t>2</a:t>
            </a:r>
            <a:r>
              <a:rPr lang="en-US" dirty="0"/>
              <a:t>N) - Log-Linear Complexity</a:t>
            </a:r>
          </a:p>
          <a:p>
            <a:pPr lvl="1"/>
            <a:r>
              <a:rPr lang="en-US" dirty="0"/>
              <a:t>The amount of work is some constant times the size of the problem</a:t>
            </a:r>
          </a:p>
          <a:p>
            <a:pPr lvl="2"/>
            <a:r>
              <a:rPr lang="en-US" dirty="0"/>
              <a:t>Algorithms that apply logarithmic algorithms N times</a:t>
            </a:r>
          </a:p>
          <a:p>
            <a:r>
              <a:rPr lang="en-US" dirty="0"/>
              <a:t>0(</a:t>
            </a:r>
            <a:r>
              <a:rPr lang="en-US" i="1" dirty="0"/>
              <a:t>N</a:t>
            </a:r>
            <a:r>
              <a:rPr lang="en-US" i="1" baseline="30000" dirty="0"/>
              <a:t>2</a:t>
            </a:r>
            <a:r>
              <a:rPr lang="en-US" dirty="0"/>
              <a:t>) – Quadratic time</a:t>
            </a:r>
          </a:p>
          <a:p>
            <a:pPr lvl="1"/>
            <a:r>
              <a:rPr lang="en-US" dirty="0"/>
              <a:t>Algorithms typically involve applying a linear algorithm </a:t>
            </a:r>
            <a:r>
              <a:rPr lang="en-US" i="1" dirty="0"/>
              <a:t>N </a:t>
            </a:r>
            <a:r>
              <a:rPr lang="en-US" dirty="0"/>
              <a:t>times</a:t>
            </a:r>
          </a:p>
          <a:p>
            <a:r>
              <a:rPr lang="en-US" dirty="0"/>
              <a:t>O(2</a:t>
            </a:r>
            <a:r>
              <a:rPr lang="en-US" baseline="30000" dirty="0"/>
              <a:t>N</a:t>
            </a:r>
            <a:r>
              <a:rPr lang="en-US" dirty="0"/>
              <a:t>) – Exponential time</a:t>
            </a:r>
          </a:p>
          <a:p>
            <a:pPr lvl="1"/>
            <a:r>
              <a:rPr lang="en-US" dirty="0"/>
              <a:t>Costly, point to point algorithms that must check multiple relationships</a:t>
            </a:r>
          </a:p>
        </p:txBody>
      </p:sp>
    </p:spTree>
    <p:extLst>
      <p:ext uri="{BB962C8B-B14F-4D97-AF65-F5344CB8AC3E}">
        <p14:creationId xmlns:p14="http://schemas.microsoft.com/office/powerpoint/2010/main" val="786302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C16E-7CBA-6F74-5C59-7F6657BAADE6}"/>
              </a:ext>
            </a:extLst>
          </p:cNvPr>
          <p:cNvSpPr>
            <a:spLocks noGrp="1"/>
          </p:cNvSpPr>
          <p:nvPr>
            <p:ph type="title"/>
          </p:nvPr>
        </p:nvSpPr>
        <p:spPr/>
        <p:txBody>
          <a:bodyPr>
            <a:normAutofit fontScale="90000"/>
          </a:bodyPr>
          <a:lstStyle/>
          <a:p>
            <a:r>
              <a:rPr lang="en-US" dirty="0"/>
              <a:t>Binary Search</a:t>
            </a:r>
          </a:p>
        </p:txBody>
      </p:sp>
      <p:sp>
        <p:nvSpPr>
          <p:cNvPr id="3" name="Text Placeholder 2">
            <a:extLst>
              <a:ext uri="{FF2B5EF4-FFF2-40B4-BE49-F238E27FC236}">
                <a16:creationId xmlns:a16="http://schemas.microsoft.com/office/drawing/2014/main" id="{83BE0BEF-CF88-6172-8027-B73558B2720A}"/>
              </a:ext>
            </a:extLst>
          </p:cNvPr>
          <p:cNvSpPr>
            <a:spLocks noGrp="1"/>
          </p:cNvSpPr>
          <p:nvPr>
            <p:ph type="body" idx="1"/>
          </p:nvPr>
        </p:nvSpPr>
        <p:spPr/>
        <p:txBody>
          <a:bodyPr/>
          <a:lstStyle/>
          <a:p>
            <a:r>
              <a:rPr lang="en-US" b="1" dirty="0"/>
              <a:t>Divide-and-conquer</a:t>
            </a:r>
            <a:r>
              <a:rPr lang="en-US" dirty="0"/>
              <a:t> algorithm</a:t>
            </a:r>
          </a:p>
          <a:p>
            <a:pPr lvl="1"/>
            <a:r>
              <a:rPr lang="en-US" dirty="0"/>
              <a:t>The idea</a:t>
            </a:r>
          </a:p>
          <a:p>
            <a:pPr lvl="2"/>
            <a:r>
              <a:rPr lang="en-US" b="1" dirty="0"/>
              <a:t>Divide</a:t>
            </a:r>
            <a:r>
              <a:rPr lang="en-US" dirty="0"/>
              <a:t> the problem into smaller subproblems</a:t>
            </a:r>
          </a:p>
          <a:p>
            <a:pPr lvl="2"/>
            <a:r>
              <a:rPr lang="en-US" b="1" dirty="0"/>
              <a:t>Conquer</a:t>
            </a:r>
            <a:r>
              <a:rPr lang="en-US" dirty="0"/>
              <a:t> each subproblem</a:t>
            </a:r>
          </a:p>
          <a:p>
            <a:pPr lvl="2"/>
            <a:r>
              <a:rPr lang="en-US" b="1" dirty="0"/>
              <a:t>Combine</a:t>
            </a:r>
            <a:r>
              <a:rPr lang="en-US" dirty="0"/>
              <a:t> (if needed) the solutions</a:t>
            </a:r>
          </a:p>
          <a:p>
            <a:r>
              <a:rPr lang="en-US" dirty="0"/>
              <a:t>If we think about our sorted list of numbers, what do we know?</a:t>
            </a:r>
          </a:p>
          <a:p>
            <a:pPr lvl="1"/>
            <a:r>
              <a:rPr lang="en-US" dirty="0"/>
              <a:t>What does a list being </a:t>
            </a:r>
            <a:r>
              <a:rPr lang="en-US" i="1" dirty="0"/>
              <a:t>sorted</a:t>
            </a:r>
            <a:r>
              <a:rPr lang="en-US" dirty="0"/>
              <a:t> mean in this case?</a:t>
            </a:r>
          </a:p>
          <a:p>
            <a:pPr lvl="2"/>
            <a:r>
              <a:rPr lang="en-US" dirty="0"/>
              <a:t>Numerical values, from base to some upper bound</a:t>
            </a:r>
          </a:p>
          <a:p>
            <a:r>
              <a:rPr lang="en-US" dirty="0"/>
              <a:t>If we think about number comparison</a:t>
            </a:r>
          </a:p>
          <a:p>
            <a:pPr lvl="1"/>
            <a:r>
              <a:rPr lang="en-US" dirty="0"/>
              <a:t>What are some of the possible outcomes we can have when we compare two numbers</a:t>
            </a:r>
          </a:p>
        </p:txBody>
      </p:sp>
    </p:spTree>
    <p:extLst>
      <p:ext uri="{BB962C8B-B14F-4D97-AF65-F5344CB8AC3E}">
        <p14:creationId xmlns:p14="http://schemas.microsoft.com/office/powerpoint/2010/main" val="236918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AE6C-8B50-CA03-02A1-03780676911D}"/>
              </a:ext>
            </a:extLst>
          </p:cNvPr>
          <p:cNvSpPr>
            <a:spLocks noGrp="1"/>
          </p:cNvSpPr>
          <p:nvPr>
            <p:ph type="title"/>
          </p:nvPr>
        </p:nvSpPr>
        <p:spPr/>
        <p:txBody>
          <a:bodyPr>
            <a:normAutofit fontScale="90000"/>
          </a:bodyPr>
          <a:lstStyle/>
          <a:p>
            <a:r>
              <a:rPr lang="en-US" dirty="0"/>
              <a:t>Binary Search – Continued</a:t>
            </a:r>
          </a:p>
        </p:txBody>
      </p:sp>
      <p:sp>
        <p:nvSpPr>
          <p:cNvPr id="3" name="Text Placeholder 2">
            <a:extLst>
              <a:ext uri="{FF2B5EF4-FFF2-40B4-BE49-F238E27FC236}">
                <a16:creationId xmlns:a16="http://schemas.microsoft.com/office/drawing/2014/main" id="{6633DDCA-459F-8077-41C7-0F3B52E44819}"/>
              </a:ext>
            </a:extLst>
          </p:cNvPr>
          <p:cNvSpPr>
            <a:spLocks noGrp="1"/>
          </p:cNvSpPr>
          <p:nvPr>
            <p:ph type="body" idx="1"/>
          </p:nvPr>
        </p:nvSpPr>
        <p:spPr/>
        <p:txBody>
          <a:bodyPr/>
          <a:lstStyle/>
          <a:p>
            <a:r>
              <a:rPr lang="en-US" dirty="0"/>
              <a:t>Pick an index that divides our list in half</a:t>
            </a:r>
          </a:p>
          <a:p>
            <a:pPr lvl="1"/>
            <a:r>
              <a:rPr lang="en-US" dirty="0"/>
              <a:t>Did we find the number!</a:t>
            </a:r>
          </a:p>
          <a:p>
            <a:pPr lvl="2"/>
            <a:r>
              <a:rPr lang="en-US" dirty="0"/>
              <a:t>What complexity case would this be</a:t>
            </a:r>
          </a:p>
          <a:p>
            <a:r>
              <a:rPr lang="en-US" dirty="0"/>
              <a:t>If we did not find the number, ask if our guess is higher or lower than the number we are looking for</a:t>
            </a:r>
          </a:p>
          <a:p>
            <a:r>
              <a:rPr lang="en-US" dirty="0"/>
              <a:t>Depending on the answer, search left or right</a:t>
            </a:r>
          </a:p>
          <a:p>
            <a:pPr lvl="1"/>
            <a:r>
              <a:rPr lang="en-US" dirty="0"/>
              <a:t>Let’s see what this looks like</a:t>
            </a:r>
          </a:p>
          <a:p>
            <a:pPr marL="114300" indent="0">
              <a:buNone/>
            </a:pPr>
            <a:endParaRPr lang="en-US" dirty="0"/>
          </a:p>
        </p:txBody>
      </p:sp>
    </p:spTree>
    <p:extLst>
      <p:ext uri="{BB962C8B-B14F-4D97-AF65-F5344CB8AC3E}">
        <p14:creationId xmlns:p14="http://schemas.microsoft.com/office/powerpoint/2010/main" val="4014152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CFAD-6FE7-335A-9B51-1305ABD3AF66}"/>
              </a:ext>
            </a:extLst>
          </p:cNvPr>
          <p:cNvSpPr>
            <a:spLocks noGrp="1"/>
          </p:cNvSpPr>
          <p:nvPr>
            <p:ph type="title"/>
          </p:nvPr>
        </p:nvSpPr>
        <p:spPr/>
        <p:txBody>
          <a:bodyPr>
            <a:normAutofit fontScale="90000"/>
          </a:bodyPr>
          <a:lstStyle/>
          <a:p>
            <a:r>
              <a:rPr lang="en-US" dirty="0"/>
              <a:t>Let’s guess the number again(again)(again)</a:t>
            </a:r>
          </a:p>
        </p:txBody>
      </p:sp>
      <p:sp>
        <p:nvSpPr>
          <p:cNvPr id="3" name="Text Placeholder 2">
            <a:extLst>
              <a:ext uri="{FF2B5EF4-FFF2-40B4-BE49-F238E27FC236}">
                <a16:creationId xmlns:a16="http://schemas.microsoft.com/office/drawing/2014/main" id="{12510A9C-FE24-5BFA-2C8E-B8544F80DB38}"/>
              </a:ext>
            </a:extLst>
          </p:cNvPr>
          <p:cNvSpPr>
            <a:spLocks noGrp="1"/>
          </p:cNvSpPr>
          <p:nvPr>
            <p:ph type="body" idx="1"/>
          </p:nvPr>
        </p:nvSpPr>
        <p:spPr/>
        <p:txBody>
          <a:bodyPr/>
          <a:lstStyle/>
          <a:p>
            <a:r>
              <a:rPr lang="en-US" dirty="0"/>
              <a:t>Remember: Our goal is to get higher up the </a:t>
            </a:r>
            <a:r>
              <a:rPr lang="en-US" dirty="0" err="1"/>
              <a:t>BigO</a:t>
            </a:r>
            <a:r>
              <a:rPr lang="en-US" dirty="0"/>
              <a:t> notation </a:t>
            </a:r>
            <a:r>
              <a:rPr lang="en-US" i="1" dirty="0"/>
              <a:t>chain</a:t>
            </a:r>
          </a:p>
          <a:p>
            <a:pPr lvl="1"/>
            <a:r>
              <a:rPr lang="en-US" i="1" dirty="0"/>
              <a:t>Our old solution was linear – O(N)</a:t>
            </a:r>
          </a:p>
          <a:p>
            <a:r>
              <a:rPr lang="en-US" dirty="0"/>
              <a:t>We have two options</a:t>
            </a:r>
          </a:p>
          <a:p>
            <a:pPr lvl="1"/>
            <a:r>
              <a:rPr lang="en-US" dirty="0"/>
              <a:t>Bounded Time</a:t>
            </a:r>
          </a:p>
          <a:p>
            <a:pPr lvl="1"/>
            <a:r>
              <a:rPr lang="en-US" dirty="0"/>
              <a:t>Logarithmic Time</a:t>
            </a:r>
          </a:p>
          <a:p>
            <a:r>
              <a:rPr lang="en-US" dirty="0"/>
              <a:t>Binary Search – Logarithmic</a:t>
            </a:r>
          </a:p>
          <a:p>
            <a:pPr lvl="1"/>
            <a:r>
              <a:rPr lang="en-US" dirty="0"/>
              <a:t>Choose some middle range of numbers</a:t>
            </a:r>
          </a:p>
          <a:p>
            <a:pPr lvl="2"/>
            <a:r>
              <a:rPr lang="en-US" dirty="0"/>
              <a:t>Rather than sequential guessing</a:t>
            </a:r>
          </a:p>
          <a:p>
            <a:pPr lvl="1"/>
            <a:r>
              <a:rPr lang="en-US" dirty="0"/>
              <a:t>First guess is </a:t>
            </a:r>
            <a:r>
              <a:rPr lang="en-US" i="1" dirty="0"/>
              <a:t>N/2</a:t>
            </a:r>
            <a:endParaRPr lang="en-US" b="1" i="1" dirty="0"/>
          </a:p>
          <a:p>
            <a:pPr lvl="1"/>
            <a:r>
              <a:rPr lang="en-US" dirty="0"/>
              <a:t>Second guess is ( (N/2) /2)</a:t>
            </a:r>
          </a:p>
        </p:txBody>
      </p:sp>
      <p:pic>
        <p:nvPicPr>
          <p:cNvPr id="5" name="Picture 4">
            <a:extLst>
              <a:ext uri="{FF2B5EF4-FFF2-40B4-BE49-F238E27FC236}">
                <a16:creationId xmlns:a16="http://schemas.microsoft.com/office/drawing/2014/main" id="{B3D8A0FB-EFB1-948D-9F4E-2625F9452F25}"/>
              </a:ext>
            </a:extLst>
          </p:cNvPr>
          <p:cNvPicPr>
            <a:picLocks noChangeAspect="1"/>
          </p:cNvPicPr>
          <p:nvPr/>
        </p:nvPicPr>
        <p:blipFill>
          <a:blip r:embed="rId3"/>
          <a:stretch>
            <a:fillRect/>
          </a:stretch>
        </p:blipFill>
        <p:spPr>
          <a:xfrm>
            <a:off x="5097075" y="1611086"/>
            <a:ext cx="4417039" cy="1200163"/>
          </a:xfrm>
          <a:prstGeom prst="rect">
            <a:avLst/>
          </a:prstGeom>
        </p:spPr>
      </p:pic>
    </p:spTree>
    <p:extLst>
      <p:ext uri="{BB962C8B-B14F-4D97-AF65-F5344CB8AC3E}">
        <p14:creationId xmlns:p14="http://schemas.microsoft.com/office/powerpoint/2010/main" val="207219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3D4B-19C2-3CAC-A518-0CEA4D130D84}"/>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48159D7B-900B-BDDD-3CC3-3700C65DF2E2}"/>
              </a:ext>
            </a:extLst>
          </p:cNvPr>
          <p:cNvSpPr>
            <a:spLocks noGrp="1"/>
          </p:cNvSpPr>
          <p:nvPr>
            <p:ph type="body" idx="1"/>
          </p:nvPr>
        </p:nvSpPr>
        <p:spPr/>
        <p:txBody>
          <a:bodyPr/>
          <a:lstStyle/>
          <a:p>
            <a:r>
              <a:rPr lang="en-US" dirty="0"/>
              <a:t>Program it </a:t>
            </a:r>
            <a:r>
              <a:rPr lang="en-US" dirty="0">
                <a:sym typeface="Wingdings" pitchFamily="2" charset="2"/>
              </a:rPr>
              <a:t></a:t>
            </a:r>
          </a:p>
          <a:p>
            <a:endParaRPr lang="en-US" dirty="0">
              <a:sym typeface="Wingdings" pitchFamily="2" charset="2"/>
            </a:endParaRPr>
          </a:p>
          <a:p>
            <a:endParaRPr lang="en-US" dirty="0"/>
          </a:p>
        </p:txBody>
      </p:sp>
    </p:spTree>
    <p:extLst>
      <p:ext uri="{BB962C8B-B14F-4D97-AF65-F5344CB8AC3E}">
        <p14:creationId xmlns:p14="http://schemas.microsoft.com/office/powerpoint/2010/main" val="1423477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B170-8962-E494-C47D-163920E017F1}"/>
              </a:ext>
            </a:extLst>
          </p:cNvPr>
          <p:cNvSpPr>
            <a:spLocks noGrp="1"/>
          </p:cNvSpPr>
          <p:nvPr>
            <p:ph type="title"/>
          </p:nvPr>
        </p:nvSpPr>
        <p:spPr/>
        <p:txBody>
          <a:bodyPr/>
          <a:lstStyle/>
          <a:p>
            <a:r>
              <a:rPr lang="en-US" dirty="0"/>
              <a:t>Recap</a:t>
            </a:r>
          </a:p>
        </p:txBody>
      </p:sp>
    </p:spTree>
    <p:extLst>
      <p:ext uri="{BB962C8B-B14F-4D97-AF65-F5344CB8AC3E}">
        <p14:creationId xmlns:p14="http://schemas.microsoft.com/office/powerpoint/2010/main" val="1391890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7F11-69F6-0CC3-3F2F-315425F28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3E5BE-077B-CC6D-7851-9636E2B33959}"/>
              </a:ext>
            </a:extLst>
          </p:cNvPr>
          <p:cNvSpPr>
            <a:spLocks noGrp="1"/>
          </p:cNvSpPr>
          <p:nvPr>
            <p:ph type="title"/>
          </p:nvPr>
        </p:nvSpPr>
        <p:spPr/>
        <p:txBody>
          <a:bodyPr>
            <a:normAutofit fontScale="90000"/>
          </a:bodyPr>
          <a:lstStyle/>
          <a:p>
            <a:r>
              <a:rPr lang="en-US" dirty="0"/>
              <a:t>Common Orders of Growth - Recap</a:t>
            </a:r>
          </a:p>
        </p:txBody>
      </p:sp>
      <p:sp>
        <p:nvSpPr>
          <p:cNvPr id="3" name="Text Placeholder 2">
            <a:extLst>
              <a:ext uri="{FF2B5EF4-FFF2-40B4-BE49-F238E27FC236}">
                <a16:creationId xmlns:a16="http://schemas.microsoft.com/office/drawing/2014/main" id="{C7C0FC7B-A827-D128-C608-68C919D258AA}"/>
              </a:ext>
            </a:extLst>
          </p:cNvPr>
          <p:cNvSpPr>
            <a:spLocks noGrp="1"/>
          </p:cNvSpPr>
          <p:nvPr>
            <p:ph type="body" idx="1"/>
          </p:nvPr>
        </p:nvSpPr>
        <p:spPr/>
        <p:txBody>
          <a:bodyPr>
            <a:normAutofit fontScale="85000" lnSpcReduction="20000"/>
          </a:bodyPr>
          <a:lstStyle/>
          <a:p>
            <a:r>
              <a:rPr lang="en-US" dirty="0"/>
              <a:t>0(1) – Bounded time</a:t>
            </a:r>
          </a:p>
          <a:p>
            <a:pPr lvl="1"/>
            <a:r>
              <a:rPr lang="en-US" dirty="0"/>
              <a:t>The amount of work is bounded by a constant and is not dependent on the size of the problem</a:t>
            </a:r>
          </a:p>
          <a:p>
            <a:r>
              <a:rPr lang="en-US" dirty="0"/>
              <a:t>0(log</a:t>
            </a:r>
            <a:r>
              <a:rPr lang="en-US" baseline="-25000" dirty="0"/>
              <a:t>2</a:t>
            </a:r>
            <a:r>
              <a:rPr lang="en-US" dirty="0"/>
              <a:t>N) – Logarithmic time</a:t>
            </a:r>
          </a:p>
          <a:p>
            <a:pPr lvl="1"/>
            <a:r>
              <a:rPr lang="en-US" dirty="0"/>
              <a:t>The amount of work depends on the logarithm in base 2, of the size of the problem</a:t>
            </a:r>
          </a:p>
          <a:p>
            <a:pPr lvl="1"/>
            <a:r>
              <a:rPr lang="en-US" dirty="0"/>
              <a:t>These algorithms successively cut the amount of data to be processed in half at each step</a:t>
            </a:r>
          </a:p>
          <a:p>
            <a:r>
              <a:rPr lang="en-US" dirty="0"/>
              <a:t>0(</a:t>
            </a:r>
            <a:r>
              <a:rPr lang="en-US" i="1" dirty="0"/>
              <a:t>N</a:t>
            </a:r>
            <a:r>
              <a:rPr lang="en-US" dirty="0"/>
              <a:t>) – Linear time</a:t>
            </a:r>
          </a:p>
          <a:p>
            <a:pPr lvl="1"/>
            <a:r>
              <a:rPr lang="en-US" dirty="0"/>
              <a:t>The amount of work is some constant times the size of the problem</a:t>
            </a:r>
          </a:p>
          <a:p>
            <a:pPr lvl="2"/>
            <a:r>
              <a:rPr lang="en-US" dirty="0"/>
              <a:t>Algorithms that work through all the data to arrive at a conclusion</a:t>
            </a:r>
          </a:p>
          <a:p>
            <a:r>
              <a:rPr lang="en-US" dirty="0"/>
              <a:t>(N log</a:t>
            </a:r>
            <a:r>
              <a:rPr lang="en-US" baseline="-25000" dirty="0"/>
              <a:t>2</a:t>
            </a:r>
            <a:r>
              <a:rPr lang="en-US" dirty="0"/>
              <a:t>N) - Log-Linear Complexity</a:t>
            </a:r>
          </a:p>
          <a:p>
            <a:pPr lvl="1"/>
            <a:r>
              <a:rPr lang="en-US" dirty="0"/>
              <a:t>The amount of work is some constant times the size of the problem</a:t>
            </a:r>
          </a:p>
          <a:p>
            <a:pPr lvl="2"/>
            <a:r>
              <a:rPr lang="en-US" dirty="0"/>
              <a:t>Algorithms that apply logarithmic algorithms N times</a:t>
            </a:r>
          </a:p>
          <a:p>
            <a:r>
              <a:rPr lang="en-US" dirty="0"/>
              <a:t>0(</a:t>
            </a:r>
            <a:r>
              <a:rPr lang="en-US" i="1" dirty="0"/>
              <a:t>N</a:t>
            </a:r>
            <a:r>
              <a:rPr lang="en-US" i="1" baseline="30000" dirty="0"/>
              <a:t>2</a:t>
            </a:r>
            <a:r>
              <a:rPr lang="en-US" dirty="0"/>
              <a:t>) – Quadratic time</a:t>
            </a:r>
          </a:p>
          <a:p>
            <a:pPr lvl="1"/>
            <a:r>
              <a:rPr lang="en-US" dirty="0"/>
              <a:t>Algorithms typically involve applying a linear algorithm </a:t>
            </a:r>
            <a:r>
              <a:rPr lang="en-US" i="1" dirty="0"/>
              <a:t>N </a:t>
            </a:r>
            <a:r>
              <a:rPr lang="en-US" dirty="0"/>
              <a:t>times</a:t>
            </a:r>
          </a:p>
          <a:p>
            <a:r>
              <a:rPr lang="en-US" dirty="0"/>
              <a:t>O(2</a:t>
            </a:r>
            <a:r>
              <a:rPr lang="en-US" baseline="30000" dirty="0"/>
              <a:t>N</a:t>
            </a:r>
            <a:r>
              <a:rPr lang="en-US" dirty="0"/>
              <a:t>) – Exponential time</a:t>
            </a:r>
          </a:p>
          <a:p>
            <a:pPr lvl="1"/>
            <a:r>
              <a:rPr lang="en-US" dirty="0"/>
              <a:t>Costly, point to point algorithms that must check multiple relationships</a:t>
            </a:r>
          </a:p>
        </p:txBody>
      </p:sp>
    </p:spTree>
    <p:extLst>
      <p:ext uri="{BB962C8B-B14F-4D97-AF65-F5344CB8AC3E}">
        <p14:creationId xmlns:p14="http://schemas.microsoft.com/office/powerpoint/2010/main" val="3349035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DAA5-D5EA-AA22-23B3-6AB44CAE2C50}"/>
              </a:ext>
            </a:extLst>
          </p:cNvPr>
          <p:cNvSpPr>
            <a:spLocks noGrp="1"/>
          </p:cNvSpPr>
          <p:nvPr>
            <p:ph type="title"/>
          </p:nvPr>
        </p:nvSpPr>
        <p:spPr/>
        <p:txBody>
          <a:bodyPr>
            <a:normAutofit fontScale="90000"/>
          </a:bodyPr>
          <a:lstStyle/>
          <a:p>
            <a:r>
              <a:rPr lang="en-US" dirty="0"/>
              <a:t>Bounded Time – O(1)</a:t>
            </a:r>
          </a:p>
        </p:txBody>
      </p:sp>
      <p:sp>
        <p:nvSpPr>
          <p:cNvPr id="3" name="Text Placeholder 2">
            <a:extLst>
              <a:ext uri="{FF2B5EF4-FFF2-40B4-BE49-F238E27FC236}">
                <a16:creationId xmlns:a16="http://schemas.microsoft.com/office/drawing/2014/main" id="{3AFED981-429A-D0B2-08B9-F75E390FED60}"/>
              </a:ext>
            </a:extLst>
          </p:cNvPr>
          <p:cNvSpPr>
            <a:spLocks noGrp="1"/>
          </p:cNvSpPr>
          <p:nvPr>
            <p:ph type="body" idx="1"/>
          </p:nvPr>
        </p:nvSpPr>
        <p:spPr/>
        <p:txBody>
          <a:bodyPr>
            <a:normAutofit lnSpcReduction="10000"/>
          </a:bodyPr>
          <a:lstStyle/>
          <a:p>
            <a:r>
              <a:rPr lang="en-US" dirty="0"/>
              <a:t>Let’s think about </a:t>
            </a:r>
            <a:r>
              <a:rPr lang="en-US"/>
              <a:t>our guessing problem again</a:t>
            </a:r>
          </a:p>
          <a:p>
            <a:r>
              <a:rPr lang="en-US" dirty="0"/>
              <a:t>Complexity is independent of input</a:t>
            </a:r>
          </a:p>
          <a:p>
            <a:pPr lvl="1"/>
            <a:r>
              <a:rPr lang="en-US" dirty="0"/>
              <a:t>O(1) operations are those who’s runtime does not depend on the size of the input(N)</a:t>
            </a:r>
          </a:p>
          <a:p>
            <a:r>
              <a:rPr lang="en-US" dirty="0"/>
              <a:t>Typically arise as part of larger programs</a:t>
            </a:r>
          </a:p>
          <a:p>
            <a:pPr lvl="1"/>
            <a:r>
              <a:rPr lang="en-US" dirty="0"/>
              <a:t>Not whole algorithms on their own</a:t>
            </a:r>
          </a:p>
          <a:p>
            <a:r>
              <a:rPr lang="en-US" dirty="0"/>
              <a:t>Loops or recursive calls must be bounded independently of N</a:t>
            </a:r>
            <a:endParaRPr lang="en-US" b="1" dirty="0"/>
          </a:p>
          <a:p>
            <a:pPr lvl="2"/>
            <a:r>
              <a:rPr lang="en-US" dirty="0"/>
              <a:t>Loops</a:t>
            </a:r>
          </a:p>
          <a:p>
            <a:pPr lvl="3"/>
            <a:r>
              <a:rPr lang="en-US" dirty="0"/>
              <a:t>The terminating condition must not depend on N</a:t>
            </a:r>
          </a:p>
          <a:p>
            <a:pPr lvl="2"/>
            <a:r>
              <a:rPr lang="en-US" dirty="0"/>
              <a:t>Recursion</a:t>
            </a:r>
          </a:p>
          <a:p>
            <a:pPr lvl="3"/>
            <a:r>
              <a:rPr lang="en-US" dirty="0"/>
              <a:t>The base case must not depend on N</a:t>
            </a:r>
          </a:p>
          <a:p>
            <a:pPr lvl="3"/>
            <a:r>
              <a:rPr lang="en-US" dirty="0"/>
              <a:t>O(1) recursion cases are rare</a:t>
            </a:r>
          </a:p>
          <a:p>
            <a:pPr lvl="4"/>
            <a:r>
              <a:rPr lang="en-US" dirty="0"/>
              <a:t>Why is this?</a:t>
            </a:r>
          </a:p>
        </p:txBody>
      </p:sp>
    </p:spTree>
    <p:extLst>
      <p:ext uri="{BB962C8B-B14F-4D97-AF65-F5344CB8AC3E}">
        <p14:creationId xmlns:p14="http://schemas.microsoft.com/office/powerpoint/2010/main" val="1773494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0347F-E8E7-5817-693E-756740319760}"/>
              </a:ext>
            </a:extLst>
          </p:cNvPr>
          <p:cNvSpPr>
            <a:spLocks noGrp="1"/>
          </p:cNvSpPr>
          <p:nvPr>
            <p:ph type="title"/>
          </p:nvPr>
        </p:nvSpPr>
        <p:spPr/>
        <p:txBody>
          <a:bodyPr>
            <a:normAutofit fontScale="90000"/>
          </a:bodyPr>
          <a:lstStyle/>
          <a:p>
            <a:r>
              <a:rPr lang="en-US" dirty="0"/>
              <a:t>Logarithmic time – 0(log</a:t>
            </a:r>
            <a:r>
              <a:rPr lang="en-US" baseline="-25000" dirty="0"/>
              <a:t>2</a:t>
            </a:r>
            <a:r>
              <a:rPr lang="en-US" dirty="0"/>
              <a:t>N)</a:t>
            </a:r>
          </a:p>
        </p:txBody>
      </p:sp>
      <p:sp>
        <p:nvSpPr>
          <p:cNvPr id="3" name="Text Placeholder 2">
            <a:extLst>
              <a:ext uri="{FF2B5EF4-FFF2-40B4-BE49-F238E27FC236}">
                <a16:creationId xmlns:a16="http://schemas.microsoft.com/office/drawing/2014/main" id="{A3F5DD6F-6535-BCB0-FA18-6FFAD7ED4626}"/>
              </a:ext>
            </a:extLst>
          </p:cNvPr>
          <p:cNvSpPr>
            <a:spLocks noGrp="1"/>
          </p:cNvSpPr>
          <p:nvPr>
            <p:ph type="body" idx="1"/>
          </p:nvPr>
        </p:nvSpPr>
        <p:spPr/>
        <p:txBody>
          <a:bodyPr/>
          <a:lstStyle/>
          <a:p>
            <a:r>
              <a:rPr lang="en-US" dirty="0"/>
              <a:t>Complexity is not independent of input</a:t>
            </a:r>
          </a:p>
          <a:p>
            <a:pPr lvl="1"/>
            <a:r>
              <a:rPr lang="en-US" dirty="0"/>
              <a:t>O(N) operations runtime is directly related to the size of the input</a:t>
            </a:r>
          </a:p>
          <a:p>
            <a:r>
              <a:rPr lang="en-US" dirty="0"/>
              <a:t>Loops are often bound by the value of N</a:t>
            </a:r>
          </a:p>
          <a:p>
            <a:r>
              <a:rPr lang="en-US" dirty="0"/>
              <a:t>Example:</a:t>
            </a:r>
          </a:p>
          <a:p>
            <a:pPr lvl="1"/>
            <a:r>
              <a:rPr lang="en-US" dirty="0"/>
              <a:t>Let’s say we have some unsorted array</a:t>
            </a:r>
          </a:p>
          <a:p>
            <a:pPr lvl="2"/>
            <a:r>
              <a:rPr lang="en-US" dirty="0"/>
              <a:t>How do we find a number?</a:t>
            </a:r>
          </a:p>
          <a:p>
            <a:pPr lvl="1"/>
            <a:r>
              <a:rPr lang="en-US" dirty="0"/>
              <a:t>What if the array is sorted?</a:t>
            </a:r>
          </a:p>
          <a:p>
            <a:pPr lvl="2"/>
            <a:r>
              <a:rPr lang="en-US" dirty="0"/>
              <a:t>Might be able to terminate early, but worst case is still O(N)</a:t>
            </a:r>
          </a:p>
          <a:p>
            <a:pPr lvl="1"/>
            <a:r>
              <a:rPr lang="en-US" dirty="0"/>
              <a:t>With a sorted array, can we do better?</a:t>
            </a:r>
          </a:p>
          <a:p>
            <a:pPr lvl="2"/>
            <a:r>
              <a:rPr lang="en-US" dirty="0"/>
              <a:t>yes</a:t>
            </a:r>
          </a:p>
        </p:txBody>
      </p:sp>
    </p:spTree>
    <p:extLst>
      <p:ext uri="{BB962C8B-B14F-4D97-AF65-F5344CB8AC3E}">
        <p14:creationId xmlns:p14="http://schemas.microsoft.com/office/powerpoint/2010/main" val="61458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80A65-5A3B-71DA-E694-B333C6EEDED0}"/>
              </a:ext>
            </a:extLst>
          </p:cNvPr>
          <p:cNvSpPr>
            <a:spLocks noGrp="1"/>
          </p:cNvSpPr>
          <p:nvPr>
            <p:ph type="title"/>
          </p:nvPr>
        </p:nvSpPr>
        <p:spPr/>
        <p:txBody>
          <a:bodyPr>
            <a:normAutofit fontScale="90000"/>
          </a:bodyPr>
          <a:lstStyle/>
          <a:p>
            <a:r>
              <a:rPr lang="en-US" dirty="0"/>
              <a:t>Binary Search vs Sequential Search</a:t>
            </a:r>
          </a:p>
        </p:txBody>
      </p:sp>
      <p:sp>
        <p:nvSpPr>
          <p:cNvPr id="3" name="Text Placeholder 2">
            <a:extLst>
              <a:ext uri="{FF2B5EF4-FFF2-40B4-BE49-F238E27FC236}">
                <a16:creationId xmlns:a16="http://schemas.microsoft.com/office/drawing/2014/main" id="{BE04BCB2-02FE-115A-73EA-E921DE7AFB3A}"/>
              </a:ext>
            </a:extLst>
          </p:cNvPr>
          <p:cNvSpPr>
            <a:spLocks noGrp="1"/>
          </p:cNvSpPr>
          <p:nvPr>
            <p:ph type="body" idx="1"/>
          </p:nvPr>
        </p:nvSpPr>
        <p:spPr/>
        <p:txBody>
          <a:bodyPr/>
          <a:lstStyle/>
          <a:p>
            <a:r>
              <a:rPr lang="en-US" dirty="0"/>
              <a:t>Binary Search</a:t>
            </a:r>
          </a:p>
          <a:p>
            <a:pPr lvl="1"/>
            <a:r>
              <a:rPr lang="en-US" dirty="0"/>
              <a:t>Requires more computation</a:t>
            </a:r>
          </a:p>
          <a:p>
            <a:pPr lvl="1"/>
            <a:r>
              <a:rPr lang="en-US" dirty="0"/>
              <a:t>More complex</a:t>
            </a:r>
          </a:p>
          <a:p>
            <a:r>
              <a:rPr lang="en-US" dirty="0"/>
              <a:t>Sequential Search</a:t>
            </a:r>
          </a:p>
          <a:p>
            <a:pPr lvl="1"/>
            <a:r>
              <a:rPr lang="en-US" dirty="0"/>
              <a:t>Simpler</a:t>
            </a:r>
          </a:p>
          <a:p>
            <a:pPr lvl="1"/>
            <a:r>
              <a:rPr lang="en-US" dirty="0"/>
              <a:t>requires less computation</a:t>
            </a:r>
          </a:p>
          <a:p>
            <a:r>
              <a:rPr lang="en-US" dirty="0"/>
              <a:t>Remember our goal:</a:t>
            </a:r>
          </a:p>
          <a:p>
            <a:pPr lvl="1"/>
            <a:r>
              <a:rPr lang="en-US" dirty="0"/>
              <a:t>The power of algorithms is in the </a:t>
            </a:r>
            <a:r>
              <a:rPr lang="en-US" b="1" dirty="0"/>
              <a:t>scale</a:t>
            </a:r>
            <a:r>
              <a:rPr lang="en-US" dirty="0"/>
              <a:t> in which we operate</a:t>
            </a:r>
          </a:p>
          <a:p>
            <a:pPr lvl="1"/>
            <a:endParaRPr lang="en-US" dirty="0"/>
          </a:p>
        </p:txBody>
      </p:sp>
      <p:pic>
        <p:nvPicPr>
          <p:cNvPr id="4" name="Picture 3">
            <a:extLst>
              <a:ext uri="{FF2B5EF4-FFF2-40B4-BE49-F238E27FC236}">
                <a16:creationId xmlns:a16="http://schemas.microsoft.com/office/drawing/2014/main" id="{E3C2F107-BEA6-3704-FD7B-5C849D5A1163}"/>
              </a:ext>
            </a:extLst>
          </p:cNvPr>
          <p:cNvPicPr>
            <a:picLocks noChangeAspect="1"/>
          </p:cNvPicPr>
          <p:nvPr/>
        </p:nvPicPr>
        <p:blipFill>
          <a:blip r:embed="rId3"/>
          <a:stretch>
            <a:fillRect/>
          </a:stretch>
        </p:blipFill>
        <p:spPr>
          <a:xfrm>
            <a:off x="4909457" y="913954"/>
            <a:ext cx="3922843" cy="1657796"/>
          </a:xfrm>
          <a:prstGeom prst="rect">
            <a:avLst/>
          </a:prstGeom>
        </p:spPr>
      </p:pic>
    </p:spTree>
    <p:extLst>
      <p:ext uri="{BB962C8B-B14F-4D97-AF65-F5344CB8AC3E}">
        <p14:creationId xmlns:p14="http://schemas.microsoft.com/office/powerpoint/2010/main" val="9829753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F459-E6C8-209F-434A-5FABE480D552}"/>
              </a:ext>
            </a:extLst>
          </p:cNvPr>
          <p:cNvSpPr>
            <a:spLocks noGrp="1"/>
          </p:cNvSpPr>
          <p:nvPr>
            <p:ph type="title"/>
          </p:nvPr>
        </p:nvSpPr>
        <p:spPr/>
        <p:txBody>
          <a:bodyPr>
            <a:normAutofit fontScale="90000"/>
          </a:bodyPr>
          <a:lstStyle/>
          <a:p>
            <a:r>
              <a:rPr lang="en-US" dirty="0"/>
              <a:t>Logarithmic time – 0(</a:t>
            </a:r>
            <a:r>
              <a:rPr lang="en-US" dirty="0" err="1"/>
              <a:t>logN</a:t>
            </a:r>
            <a:r>
              <a:rPr lang="en-US" dirty="0"/>
              <a:t>) – Example 2</a:t>
            </a:r>
          </a:p>
        </p:txBody>
      </p:sp>
      <p:sp>
        <p:nvSpPr>
          <p:cNvPr id="3" name="Text Placeholder 2">
            <a:extLst>
              <a:ext uri="{FF2B5EF4-FFF2-40B4-BE49-F238E27FC236}">
                <a16:creationId xmlns:a16="http://schemas.microsoft.com/office/drawing/2014/main" id="{712FECE7-C6EB-FFDA-A772-B3ED5806FBBF}"/>
              </a:ext>
            </a:extLst>
          </p:cNvPr>
          <p:cNvSpPr>
            <a:spLocks noGrp="1"/>
          </p:cNvSpPr>
          <p:nvPr>
            <p:ph type="body" idx="1"/>
          </p:nvPr>
        </p:nvSpPr>
        <p:spPr/>
        <p:txBody>
          <a:bodyPr/>
          <a:lstStyle/>
          <a:p>
            <a:r>
              <a:rPr lang="en-US" dirty="0"/>
              <a:t>Let’s say we have some number N</a:t>
            </a:r>
          </a:p>
          <a:p>
            <a:r>
              <a:rPr lang="en-US" dirty="0"/>
              <a:t>Out goal is to sum the individual digits of N</a:t>
            </a:r>
          </a:p>
          <a:p>
            <a:pPr lvl="1"/>
            <a:r>
              <a:rPr lang="en-US" dirty="0"/>
              <a:t>1234 = 10</a:t>
            </a:r>
          </a:p>
          <a:p>
            <a:pPr lvl="2"/>
            <a:r>
              <a:rPr lang="en-US" dirty="0"/>
              <a:t>1+2+3+4</a:t>
            </a:r>
          </a:p>
          <a:p>
            <a:r>
              <a:rPr lang="en-US" dirty="0"/>
              <a:t>How do we do it?</a:t>
            </a:r>
          </a:p>
        </p:txBody>
      </p:sp>
    </p:spTree>
    <p:extLst>
      <p:ext uri="{BB962C8B-B14F-4D97-AF65-F5344CB8AC3E}">
        <p14:creationId xmlns:p14="http://schemas.microsoft.com/office/powerpoint/2010/main" val="2051729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89357-7C8A-75E0-D28D-F83BE8E344B8}"/>
              </a:ext>
            </a:extLst>
          </p:cNvPr>
          <p:cNvSpPr>
            <a:spLocks noGrp="1"/>
          </p:cNvSpPr>
          <p:nvPr>
            <p:ph type="title"/>
          </p:nvPr>
        </p:nvSpPr>
        <p:spPr/>
        <p:txBody>
          <a:bodyPr>
            <a:normAutofit fontScale="90000"/>
          </a:bodyPr>
          <a:lstStyle/>
          <a:p>
            <a:r>
              <a:rPr lang="en-US" dirty="0"/>
              <a:t>Linear Time – O(N)</a:t>
            </a:r>
          </a:p>
        </p:txBody>
      </p:sp>
      <p:sp>
        <p:nvSpPr>
          <p:cNvPr id="3" name="Text Placeholder 2">
            <a:extLst>
              <a:ext uri="{FF2B5EF4-FFF2-40B4-BE49-F238E27FC236}">
                <a16:creationId xmlns:a16="http://schemas.microsoft.com/office/drawing/2014/main" id="{F7107F1F-25AE-997D-4739-36012C6CE41B}"/>
              </a:ext>
            </a:extLst>
          </p:cNvPr>
          <p:cNvSpPr>
            <a:spLocks noGrp="1"/>
          </p:cNvSpPr>
          <p:nvPr>
            <p:ph type="body" idx="1"/>
          </p:nvPr>
        </p:nvSpPr>
        <p:spPr/>
        <p:txBody>
          <a:bodyPr/>
          <a:lstStyle/>
          <a:p>
            <a:r>
              <a:rPr lang="en-US" dirty="0"/>
              <a:t>The amount of work is some constant times the size of the problem</a:t>
            </a:r>
          </a:p>
          <a:p>
            <a:pPr lvl="1"/>
            <a:r>
              <a:rPr lang="en-US" dirty="0"/>
              <a:t>Worst case requires us to do all the work</a:t>
            </a:r>
          </a:p>
          <a:p>
            <a:r>
              <a:rPr lang="en-US" dirty="0"/>
              <a:t>Reducing the size of the problem by 1</a:t>
            </a:r>
          </a:p>
          <a:p>
            <a:pPr lvl="1"/>
            <a:r>
              <a:rPr lang="en-US" dirty="0"/>
              <a:t>Indicative of  Linear complexity </a:t>
            </a:r>
          </a:p>
        </p:txBody>
      </p:sp>
      <p:pic>
        <p:nvPicPr>
          <p:cNvPr id="4" name="Picture 3">
            <a:extLst>
              <a:ext uri="{FF2B5EF4-FFF2-40B4-BE49-F238E27FC236}">
                <a16:creationId xmlns:a16="http://schemas.microsoft.com/office/drawing/2014/main" id="{F9DA9452-C682-9BCE-311F-5C2E04F89814}"/>
              </a:ext>
            </a:extLst>
          </p:cNvPr>
          <p:cNvPicPr>
            <a:picLocks noChangeAspect="1"/>
          </p:cNvPicPr>
          <p:nvPr/>
        </p:nvPicPr>
        <p:blipFill>
          <a:blip r:embed="rId3"/>
          <a:stretch>
            <a:fillRect/>
          </a:stretch>
        </p:blipFill>
        <p:spPr>
          <a:xfrm>
            <a:off x="4855029" y="1864045"/>
            <a:ext cx="4288971" cy="2916905"/>
          </a:xfrm>
          <a:prstGeom prst="rect">
            <a:avLst/>
          </a:prstGeom>
        </p:spPr>
      </p:pic>
    </p:spTree>
    <p:extLst>
      <p:ext uri="{BB962C8B-B14F-4D97-AF65-F5344CB8AC3E}">
        <p14:creationId xmlns:p14="http://schemas.microsoft.com/office/powerpoint/2010/main" val="37530183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854C-A307-1FB1-1713-C3FC37FE0B6C}"/>
              </a:ext>
            </a:extLst>
          </p:cNvPr>
          <p:cNvSpPr>
            <a:spLocks noGrp="1"/>
          </p:cNvSpPr>
          <p:nvPr>
            <p:ph type="title"/>
          </p:nvPr>
        </p:nvSpPr>
        <p:spPr/>
        <p:txBody>
          <a:bodyPr>
            <a:normAutofit fontScale="90000"/>
          </a:bodyPr>
          <a:lstStyle/>
          <a:p>
            <a:r>
              <a:rPr lang="en-US" dirty="0"/>
              <a:t>(N log</a:t>
            </a:r>
            <a:r>
              <a:rPr lang="en-US" baseline="-25000" dirty="0"/>
              <a:t>2</a:t>
            </a:r>
            <a:r>
              <a:rPr lang="en-US" dirty="0"/>
              <a:t>N) - Log-Linear Complexity</a:t>
            </a:r>
          </a:p>
        </p:txBody>
      </p:sp>
      <p:sp>
        <p:nvSpPr>
          <p:cNvPr id="3" name="Text Placeholder 2">
            <a:extLst>
              <a:ext uri="{FF2B5EF4-FFF2-40B4-BE49-F238E27FC236}">
                <a16:creationId xmlns:a16="http://schemas.microsoft.com/office/drawing/2014/main" id="{0C90B132-87B3-3D6A-089B-DFA583B563D6}"/>
              </a:ext>
            </a:extLst>
          </p:cNvPr>
          <p:cNvSpPr>
            <a:spLocks noGrp="1"/>
          </p:cNvSpPr>
          <p:nvPr>
            <p:ph type="body" idx="1"/>
          </p:nvPr>
        </p:nvSpPr>
        <p:spPr/>
        <p:txBody>
          <a:bodyPr/>
          <a:lstStyle/>
          <a:p>
            <a:r>
              <a:rPr lang="en-US" dirty="0"/>
              <a:t>Merge sort</a:t>
            </a:r>
          </a:p>
          <a:p>
            <a:r>
              <a:rPr lang="en-US" dirty="0"/>
              <a:t>We will revisit this later</a:t>
            </a:r>
          </a:p>
        </p:txBody>
      </p:sp>
    </p:spTree>
    <p:extLst>
      <p:ext uri="{BB962C8B-B14F-4D97-AF65-F5344CB8AC3E}">
        <p14:creationId xmlns:p14="http://schemas.microsoft.com/office/powerpoint/2010/main" val="2715701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DA169-4089-E651-9E8A-5CCC60C76878}"/>
              </a:ext>
            </a:extLst>
          </p:cNvPr>
          <p:cNvSpPr>
            <a:spLocks noGrp="1"/>
          </p:cNvSpPr>
          <p:nvPr>
            <p:ph type="title"/>
          </p:nvPr>
        </p:nvSpPr>
        <p:spPr/>
        <p:txBody>
          <a:bodyPr>
            <a:normAutofit fontScale="90000"/>
          </a:bodyPr>
          <a:lstStyle/>
          <a:p>
            <a:r>
              <a:rPr lang="en-US" dirty="0"/>
              <a:t>Quadratic time – O(N</a:t>
            </a:r>
            <a:r>
              <a:rPr lang="en-US" baseline="30000" dirty="0"/>
              <a:t>2</a:t>
            </a:r>
            <a:r>
              <a:rPr lang="en-US" dirty="0"/>
              <a:t>)</a:t>
            </a:r>
          </a:p>
        </p:txBody>
      </p:sp>
      <p:sp>
        <p:nvSpPr>
          <p:cNvPr id="3" name="Text Placeholder 2">
            <a:extLst>
              <a:ext uri="{FF2B5EF4-FFF2-40B4-BE49-F238E27FC236}">
                <a16:creationId xmlns:a16="http://schemas.microsoft.com/office/drawing/2014/main" id="{C1C65699-0817-18DD-136F-11777A8D35B6}"/>
              </a:ext>
            </a:extLst>
          </p:cNvPr>
          <p:cNvSpPr>
            <a:spLocks noGrp="1"/>
          </p:cNvSpPr>
          <p:nvPr>
            <p:ph type="body" idx="1"/>
          </p:nvPr>
        </p:nvSpPr>
        <p:spPr/>
        <p:txBody>
          <a:bodyPr/>
          <a:lstStyle/>
          <a:p>
            <a:r>
              <a:rPr lang="en-US" dirty="0"/>
              <a:t>Algorithms of this type typically involve applying a linear algorithm N times</a:t>
            </a:r>
          </a:p>
          <a:p>
            <a:r>
              <a:rPr lang="en-US" dirty="0"/>
              <a:t>We see this typically with </a:t>
            </a:r>
            <a:r>
              <a:rPr lang="en-US" b="1" dirty="0"/>
              <a:t>nested</a:t>
            </a:r>
            <a:r>
              <a:rPr lang="en-US" dirty="0"/>
              <a:t> loops</a:t>
            </a:r>
          </a:p>
          <a:p>
            <a:pPr lvl="1"/>
            <a:r>
              <a:rPr lang="en-US" dirty="0"/>
              <a:t>Remember our example from </a:t>
            </a:r>
            <a:r>
              <a:rPr lang="en-US" dirty="0" err="1"/>
              <a:t>ealier</a:t>
            </a:r>
            <a:r>
              <a:rPr lang="en-US" dirty="0"/>
              <a:t>?</a:t>
            </a:r>
          </a:p>
          <a:p>
            <a:endParaRPr lang="en-US" dirty="0"/>
          </a:p>
        </p:txBody>
      </p:sp>
    </p:spTree>
    <p:extLst>
      <p:ext uri="{BB962C8B-B14F-4D97-AF65-F5344CB8AC3E}">
        <p14:creationId xmlns:p14="http://schemas.microsoft.com/office/powerpoint/2010/main" val="3643784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5C3A2-905B-DDBA-224D-4F35D402D967}"/>
              </a:ext>
            </a:extLst>
          </p:cNvPr>
          <p:cNvSpPr>
            <a:spLocks noGrp="1"/>
          </p:cNvSpPr>
          <p:nvPr>
            <p:ph type="title"/>
          </p:nvPr>
        </p:nvSpPr>
        <p:spPr/>
        <p:txBody>
          <a:bodyPr>
            <a:normAutofit fontScale="90000"/>
          </a:bodyPr>
          <a:lstStyle/>
          <a:p>
            <a:r>
              <a:rPr lang="en-US"/>
              <a:t>Selection Sort</a:t>
            </a:r>
          </a:p>
        </p:txBody>
      </p:sp>
      <p:sp>
        <p:nvSpPr>
          <p:cNvPr id="3" name="Text Placeholder 2">
            <a:extLst>
              <a:ext uri="{FF2B5EF4-FFF2-40B4-BE49-F238E27FC236}">
                <a16:creationId xmlns:a16="http://schemas.microsoft.com/office/drawing/2014/main" id="{25EA2305-C0AF-FBEB-9301-0132F01A286C}"/>
              </a:ext>
            </a:extLst>
          </p:cNvPr>
          <p:cNvSpPr>
            <a:spLocks noGrp="1"/>
          </p:cNvSpPr>
          <p:nvPr>
            <p:ph type="body" idx="1"/>
          </p:nvPr>
        </p:nvSpPr>
        <p:spPr/>
        <p:txBody>
          <a:bodyPr/>
          <a:lstStyle/>
          <a:p>
            <a:r>
              <a:rPr lang="en-US" dirty="0"/>
              <a:t>What if we </a:t>
            </a:r>
            <a:r>
              <a:rPr lang="en-US" b="1" dirty="0"/>
              <a:t>didn’t</a:t>
            </a:r>
            <a:r>
              <a:rPr lang="en-US" dirty="0"/>
              <a:t> have a sorted list?</a:t>
            </a:r>
          </a:p>
          <a:p>
            <a:pPr lvl="1"/>
            <a:r>
              <a:rPr lang="en-US" dirty="0"/>
              <a:t>Would Linear still work?</a:t>
            </a:r>
          </a:p>
          <a:p>
            <a:pPr lvl="1"/>
            <a:r>
              <a:rPr lang="en-US" dirty="0"/>
              <a:t>Would Binary sort still work?</a:t>
            </a:r>
          </a:p>
          <a:p>
            <a:r>
              <a:rPr lang="en-US" dirty="0"/>
              <a:t>Let’s say we have an array of N numbers</a:t>
            </a:r>
          </a:p>
          <a:p>
            <a:pPr lvl="1"/>
            <a:r>
              <a:rPr lang="en-US" dirty="0"/>
              <a:t>Our goal is to sort this into numerical order</a:t>
            </a:r>
          </a:p>
          <a:p>
            <a:pPr lvl="2"/>
            <a:r>
              <a:rPr lang="en-US" dirty="0"/>
              <a:t>0,1,2,3, …N</a:t>
            </a:r>
          </a:p>
          <a:p>
            <a:r>
              <a:rPr lang="en-US" dirty="0"/>
              <a:t>What are our options?</a:t>
            </a:r>
          </a:p>
          <a:p>
            <a:pPr lvl="1"/>
            <a:r>
              <a:rPr lang="en-US" dirty="0"/>
              <a:t>And no, we cannot use built in </a:t>
            </a:r>
            <a:r>
              <a:rPr lang="en-US"/>
              <a:t>operations </a:t>
            </a:r>
            <a:endParaRPr lang="en-US" dirty="0"/>
          </a:p>
        </p:txBody>
      </p:sp>
    </p:spTree>
    <p:extLst>
      <p:ext uri="{BB962C8B-B14F-4D97-AF65-F5344CB8AC3E}">
        <p14:creationId xmlns:p14="http://schemas.microsoft.com/office/powerpoint/2010/main" val="419865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22F0-63FA-6303-C7A1-A5434C732E45}"/>
              </a:ext>
            </a:extLst>
          </p:cNvPr>
          <p:cNvSpPr>
            <a:spLocks noGrp="1"/>
          </p:cNvSpPr>
          <p:nvPr>
            <p:ph type="title"/>
          </p:nvPr>
        </p:nvSpPr>
        <p:spPr/>
        <p:txBody>
          <a:bodyPr>
            <a:normAutofit fontScale="90000"/>
          </a:bodyPr>
          <a:lstStyle/>
          <a:p>
            <a:r>
              <a:rPr lang="en-US" dirty="0"/>
              <a:t>Exponential Complexity </a:t>
            </a:r>
          </a:p>
        </p:txBody>
      </p:sp>
      <p:sp>
        <p:nvSpPr>
          <p:cNvPr id="3" name="Text Placeholder 2">
            <a:extLst>
              <a:ext uri="{FF2B5EF4-FFF2-40B4-BE49-F238E27FC236}">
                <a16:creationId xmlns:a16="http://schemas.microsoft.com/office/drawing/2014/main" id="{82C534B5-6708-9D63-7390-7D93C9C9C915}"/>
              </a:ext>
            </a:extLst>
          </p:cNvPr>
          <p:cNvSpPr>
            <a:spLocks noGrp="1"/>
          </p:cNvSpPr>
          <p:nvPr>
            <p:ph type="body" idx="1"/>
          </p:nvPr>
        </p:nvSpPr>
        <p:spPr/>
        <p:txBody>
          <a:bodyPr/>
          <a:lstStyle/>
          <a:p>
            <a:r>
              <a:rPr lang="en-US" dirty="0"/>
              <a:t>These algorithms are extremely costly and require more time for large problems than any of the polynomial time algorithms</a:t>
            </a:r>
          </a:p>
          <a:p>
            <a:r>
              <a:rPr lang="en-US" dirty="0"/>
              <a:t>We typically see these when dealing with multiple relationship interactions</a:t>
            </a:r>
          </a:p>
          <a:p>
            <a:r>
              <a:rPr lang="en-US" dirty="0"/>
              <a:t>We often see this when there is a recursive function with more than one recursive call in the function</a:t>
            </a:r>
          </a:p>
          <a:p>
            <a:endParaRPr lang="en-US" dirty="0"/>
          </a:p>
        </p:txBody>
      </p:sp>
    </p:spTree>
    <p:extLst>
      <p:ext uri="{BB962C8B-B14F-4D97-AF65-F5344CB8AC3E}">
        <p14:creationId xmlns:p14="http://schemas.microsoft.com/office/powerpoint/2010/main" val="1871902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E47C-E5CC-193D-D56B-7313C311981F}"/>
              </a:ext>
            </a:extLst>
          </p:cNvPr>
          <p:cNvSpPr>
            <a:spLocks noGrp="1"/>
          </p:cNvSpPr>
          <p:nvPr>
            <p:ph type="title"/>
          </p:nvPr>
        </p:nvSpPr>
        <p:spPr/>
        <p:txBody>
          <a:bodyPr>
            <a:normAutofit fontScale="90000"/>
          </a:bodyPr>
          <a:lstStyle/>
          <a:p>
            <a:r>
              <a:rPr lang="en-US" dirty="0"/>
              <a:t>The Power Set</a:t>
            </a:r>
          </a:p>
        </p:txBody>
      </p:sp>
      <p:sp>
        <p:nvSpPr>
          <p:cNvPr id="3" name="Text Placeholder 2">
            <a:extLst>
              <a:ext uri="{FF2B5EF4-FFF2-40B4-BE49-F238E27FC236}">
                <a16:creationId xmlns:a16="http://schemas.microsoft.com/office/drawing/2014/main" id="{8A36E188-2EB1-15F3-87B1-A5211929FD69}"/>
              </a:ext>
            </a:extLst>
          </p:cNvPr>
          <p:cNvSpPr>
            <a:spLocks noGrp="1"/>
          </p:cNvSpPr>
          <p:nvPr>
            <p:ph type="body" idx="1"/>
          </p:nvPr>
        </p:nvSpPr>
        <p:spPr/>
        <p:txBody>
          <a:bodyPr/>
          <a:lstStyle/>
          <a:p>
            <a:r>
              <a:rPr lang="en-US" dirty="0"/>
              <a:t>Let’s assume we have a set of integers</a:t>
            </a:r>
          </a:p>
          <a:p>
            <a:pPr lvl="1"/>
            <a:r>
              <a:rPr lang="en-US" dirty="0"/>
              <a:t>No repeats</a:t>
            </a:r>
          </a:p>
          <a:p>
            <a:pPr lvl="1"/>
            <a:r>
              <a:rPr lang="en-US" dirty="0"/>
              <a:t>1,2,3,…N</a:t>
            </a:r>
          </a:p>
          <a:p>
            <a:r>
              <a:rPr lang="en-US" dirty="0"/>
              <a:t>Our goal is to generate the collection of all possible subsets</a:t>
            </a:r>
          </a:p>
          <a:p>
            <a:r>
              <a:rPr lang="en-US" dirty="0"/>
              <a:t>If our set was: {1,2,3,4}</a:t>
            </a:r>
          </a:p>
          <a:p>
            <a:pPr lvl="1"/>
            <a:r>
              <a:rPr lang="en-US" dirty="0"/>
              <a:t>What are the possible subsets?</a:t>
            </a:r>
          </a:p>
          <a:p>
            <a:pPr lvl="1"/>
            <a:r>
              <a:rPr lang="en-US" dirty="0"/>
              <a:t>Order doesn’t matter</a:t>
            </a:r>
          </a:p>
          <a:p>
            <a:r>
              <a:rPr lang="en-US" dirty="0"/>
              <a:t>{}{1}{2}{3}{4}{1,2}{1,3}{1,4}{2,3}{2,4}{3,4}{1,2,3}{1,2,4}{1,3,4}{2,3,4}{1,2,3,4}</a:t>
            </a:r>
          </a:p>
        </p:txBody>
      </p:sp>
    </p:spTree>
    <p:extLst>
      <p:ext uri="{BB962C8B-B14F-4D97-AF65-F5344CB8AC3E}">
        <p14:creationId xmlns:p14="http://schemas.microsoft.com/office/powerpoint/2010/main" val="236967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A597B-475A-1935-911A-AD8F05DF3B96}"/>
              </a:ext>
            </a:extLst>
          </p:cNvPr>
          <p:cNvSpPr>
            <a:spLocks noGrp="1"/>
          </p:cNvSpPr>
          <p:nvPr>
            <p:ph type="title"/>
          </p:nvPr>
        </p:nvSpPr>
        <p:spPr/>
        <p:txBody>
          <a:bodyPr>
            <a:normAutofit fontScale="90000"/>
          </a:bodyPr>
          <a:lstStyle/>
          <a:p>
            <a:r>
              <a:rPr lang="en-US" dirty="0" err="1"/>
              <a:t>PowerSet</a:t>
            </a:r>
            <a:r>
              <a:rPr lang="en-US" dirty="0"/>
              <a:t>: Example  </a:t>
            </a:r>
          </a:p>
        </p:txBody>
      </p:sp>
      <p:sp>
        <p:nvSpPr>
          <p:cNvPr id="3" name="Text Placeholder 2">
            <a:extLst>
              <a:ext uri="{FF2B5EF4-FFF2-40B4-BE49-F238E27FC236}">
                <a16:creationId xmlns:a16="http://schemas.microsoft.com/office/drawing/2014/main" id="{4902E7AF-2DA0-2773-821B-30484308493A}"/>
              </a:ext>
            </a:extLst>
          </p:cNvPr>
          <p:cNvSpPr>
            <a:spLocks noGrp="1"/>
          </p:cNvSpPr>
          <p:nvPr>
            <p:ph type="body" idx="1"/>
          </p:nvPr>
        </p:nvSpPr>
        <p:spPr/>
        <p:txBody>
          <a:bodyPr>
            <a:normAutofit fontScale="85000" lnSpcReduction="10000"/>
          </a:bodyPr>
          <a:lstStyle/>
          <a:p>
            <a:r>
              <a:rPr lang="en-US" dirty="0"/>
              <a:t>Initial set = {1,2,3,4}</a:t>
            </a:r>
          </a:p>
          <a:p>
            <a:pPr>
              <a:lnSpc>
                <a:spcPct val="114999"/>
              </a:lnSpc>
            </a:pPr>
            <a:r>
              <a:rPr lang="en-US" dirty="0"/>
              <a:t>{}</a:t>
            </a:r>
          </a:p>
          <a:p>
            <a:pPr>
              <a:lnSpc>
                <a:spcPct val="114999"/>
              </a:lnSpc>
            </a:pPr>
            <a:r>
              <a:rPr lang="en-US" dirty="0"/>
              <a:t>{1}</a:t>
            </a:r>
          </a:p>
          <a:p>
            <a:pPr>
              <a:lnSpc>
                <a:spcPct val="114999"/>
              </a:lnSpc>
            </a:pPr>
            <a:r>
              <a:rPr lang="en-US" dirty="0"/>
              <a:t>{2}</a:t>
            </a:r>
          </a:p>
          <a:p>
            <a:pPr>
              <a:lnSpc>
                <a:spcPct val="114999"/>
              </a:lnSpc>
            </a:pPr>
            <a:r>
              <a:rPr lang="en-US" dirty="0"/>
              <a:t>{1,2}</a:t>
            </a:r>
          </a:p>
          <a:p>
            <a:pPr>
              <a:lnSpc>
                <a:spcPct val="114999"/>
              </a:lnSpc>
            </a:pPr>
            <a:r>
              <a:rPr lang="en-US" dirty="0"/>
              <a:t>{3}</a:t>
            </a:r>
          </a:p>
          <a:p>
            <a:pPr>
              <a:lnSpc>
                <a:spcPct val="114999"/>
              </a:lnSpc>
            </a:pPr>
            <a:r>
              <a:rPr lang="en-US" dirty="0"/>
              <a:t>{1,3}</a:t>
            </a:r>
          </a:p>
          <a:p>
            <a:pPr>
              <a:lnSpc>
                <a:spcPct val="114999"/>
              </a:lnSpc>
            </a:pPr>
            <a:r>
              <a:rPr lang="en-US" dirty="0"/>
              <a:t>{2,3}</a:t>
            </a:r>
          </a:p>
          <a:p>
            <a:pPr>
              <a:lnSpc>
                <a:spcPct val="114999"/>
              </a:lnSpc>
            </a:pPr>
            <a:r>
              <a:rPr lang="en-US" dirty="0"/>
              <a:t>{1,2,3}</a:t>
            </a:r>
          </a:p>
          <a:p>
            <a:pPr>
              <a:lnSpc>
                <a:spcPct val="114999"/>
              </a:lnSpc>
            </a:pPr>
            <a:r>
              <a:rPr lang="en-US" dirty="0"/>
              <a:t>{4}</a:t>
            </a:r>
          </a:p>
          <a:p>
            <a:pPr>
              <a:lnSpc>
                <a:spcPct val="114999"/>
              </a:lnSpc>
            </a:pPr>
            <a:r>
              <a:rPr lang="en-US" dirty="0"/>
              <a:t>{1,4}</a:t>
            </a:r>
          </a:p>
          <a:p>
            <a:pPr>
              <a:lnSpc>
                <a:spcPct val="114999"/>
              </a:lnSpc>
            </a:pPr>
            <a:r>
              <a:rPr lang="en-US" dirty="0"/>
              <a:t>{2,4}</a:t>
            </a:r>
          </a:p>
          <a:p>
            <a:pPr>
              <a:lnSpc>
                <a:spcPct val="114999"/>
              </a:lnSpc>
            </a:pPr>
            <a:r>
              <a:rPr lang="en-US" dirty="0"/>
              <a:t>{1,2,4}{3,4}{2,3,4}{1,2,3,4}</a:t>
            </a:r>
          </a:p>
        </p:txBody>
      </p:sp>
    </p:spTree>
    <p:extLst>
      <p:ext uri="{BB962C8B-B14F-4D97-AF65-F5344CB8AC3E}">
        <p14:creationId xmlns:p14="http://schemas.microsoft.com/office/powerpoint/2010/main" val="177897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D00B5-4F4A-221D-862C-A36565C9E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627BE-B497-E90D-DDCE-1665F8ED3C44}"/>
              </a:ext>
            </a:extLst>
          </p:cNvPr>
          <p:cNvSpPr>
            <a:spLocks noGrp="1"/>
          </p:cNvSpPr>
          <p:nvPr>
            <p:ph type="title"/>
          </p:nvPr>
        </p:nvSpPr>
        <p:spPr/>
        <p:txBody>
          <a:bodyPr>
            <a:normAutofit fontScale="90000"/>
          </a:bodyPr>
          <a:lstStyle/>
          <a:p>
            <a:r>
              <a:rPr lang="en-US"/>
              <a:t>Big O notation</a:t>
            </a:r>
          </a:p>
        </p:txBody>
      </p:sp>
      <p:sp>
        <p:nvSpPr>
          <p:cNvPr id="3" name="Text Placeholder 2">
            <a:extLst>
              <a:ext uri="{FF2B5EF4-FFF2-40B4-BE49-F238E27FC236}">
                <a16:creationId xmlns:a16="http://schemas.microsoft.com/office/drawing/2014/main" id="{84C9C3AB-EF6F-4001-9517-F501CFF24F2B}"/>
              </a:ext>
            </a:extLst>
          </p:cNvPr>
          <p:cNvSpPr>
            <a:spLocks noGrp="1"/>
          </p:cNvSpPr>
          <p:nvPr>
            <p:ph type="body" idx="1"/>
          </p:nvPr>
        </p:nvSpPr>
        <p:spPr/>
        <p:txBody>
          <a:bodyPr/>
          <a:lstStyle/>
          <a:p>
            <a:pPr fontAlgn="base"/>
            <a:r>
              <a:rPr lang="en-US"/>
              <a:t>Big O notation is a way to describe the performance or complexity of an algorithm. </a:t>
            </a:r>
          </a:p>
          <a:p>
            <a:pPr fontAlgn="base"/>
            <a:r>
              <a:rPr lang="en-US"/>
              <a:t>It is a measure of how long an algorithm takes to complete, relative to the size of the input.</a:t>
            </a:r>
          </a:p>
          <a:p>
            <a:pPr fontAlgn="base"/>
            <a:r>
              <a:rPr lang="en-US" b="1"/>
              <a:t>Why is Big O important?</a:t>
            </a:r>
          </a:p>
          <a:p>
            <a:pPr lvl="1" fontAlgn="base"/>
            <a:r>
              <a:rPr lang="en-US"/>
              <a:t>Big O notation is important because it helps us understand how an algorithm will perform as the size of the input increases. </a:t>
            </a:r>
          </a:p>
          <a:p>
            <a:pPr lvl="1" fontAlgn="base"/>
            <a:r>
              <a:rPr lang="en-US"/>
              <a:t>This is crucial in software development, as it allows us to:</a:t>
            </a:r>
          </a:p>
          <a:p>
            <a:pPr lvl="2" fontAlgn="base"/>
            <a:r>
              <a:rPr lang="en-US"/>
              <a:t>Predict performance</a:t>
            </a:r>
          </a:p>
          <a:p>
            <a:pPr lvl="2" fontAlgn="base"/>
            <a:r>
              <a:rPr lang="en-US"/>
              <a:t>Compare algorithms</a:t>
            </a:r>
          </a:p>
          <a:p>
            <a:pPr lvl="2" fontAlgn="base"/>
            <a:r>
              <a:rPr lang="en-US"/>
              <a:t>Identify bottlenecks</a:t>
            </a:r>
          </a:p>
          <a:p>
            <a:endParaRPr lang="en-US"/>
          </a:p>
        </p:txBody>
      </p:sp>
    </p:spTree>
    <p:extLst>
      <p:ext uri="{BB962C8B-B14F-4D97-AF65-F5344CB8AC3E}">
        <p14:creationId xmlns:p14="http://schemas.microsoft.com/office/powerpoint/2010/main" val="1596164526"/>
      </p:ext>
    </p:extLst>
  </p:cSld>
  <p:clrMapOvr>
    <a:masterClrMapping/>
  </p:clrMapOvr>
</p:sld>
</file>

<file path=ppt/theme/theme1.xml><?xml version="1.0" encoding="utf-8"?>
<a:theme xmlns:a="http://schemas.openxmlformats.org/drawingml/2006/main" name="Geometric">
  <a:themeElements>
    <a:clrScheme name="Geometric">
      <a:dk1>
        <a:srgbClr val="1E40AF"/>
      </a:dk1>
      <a:lt1>
        <a:srgbClr val="FFFFFF"/>
      </a:lt1>
      <a:dk2>
        <a:srgbClr val="334155"/>
      </a:dk2>
      <a:lt2>
        <a:srgbClr val="64748B"/>
      </a:lt2>
      <a:accent1>
        <a:srgbClr val="1E3A8A"/>
      </a:accent1>
      <a:accent2>
        <a:srgbClr val="2563EB"/>
      </a:accent2>
      <a:accent3>
        <a:srgbClr val="06B6D4"/>
      </a:accent3>
      <a:accent4>
        <a:srgbClr val="3B82F6"/>
      </a:accent4>
      <a:accent5>
        <a:srgbClr val="EC4899"/>
      </a:accent5>
      <a:accent6>
        <a:srgbClr val="38BDF8"/>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2584</TotalTime>
  <Words>7482</Words>
  <Application>Microsoft Office PowerPoint</Application>
  <PresentationFormat>On-screen Show (16:9)</PresentationFormat>
  <Paragraphs>944</Paragraphs>
  <Slides>60</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Consolas</vt:lpstr>
      <vt:lpstr>Roboto</vt:lpstr>
      <vt:lpstr>Calibri</vt:lpstr>
      <vt:lpstr>Wingdings</vt:lpstr>
      <vt:lpstr>Arial</vt:lpstr>
      <vt:lpstr>Geometric</vt:lpstr>
      <vt:lpstr>PowerPoint Presentation</vt:lpstr>
      <vt:lpstr>Why We Need Organization</vt:lpstr>
      <vt:lpstr>Inheritance: Extend and Specialize</vt:lpstr>
      <vt:lpstr>The super Keyword</vt:lpstr>
      <vt:lpstr>Inheritance In Code</vt:lpstr>
      <vt:lpstr>The Inheritance Tree</vt:lpstr>
      <vt:lpstr>Overriding,  Redefine What You Inherit</vt:lpstr>
      <vt:lpstr>Polymorphism</vt:lpstr>
      <vt:lpstr>Polymorphism — One Type, Many Forms</vt:lpstr>
      <vt:lpstr>Setting Up Polymorphism — Defining speak()</vt:lpstr>
      <vt:lpstr>The instanceof Operator</vt:lpstr>
      <vt:lpstr>PowerPoint Presentation</vt:lpstr>
      <vt:lpstr>Packages — What and Why</vt:lpstr>
      <vt:lpstr>Creating and Importing a Package</vt:lpstr>
      <vt:lpstr>PowerPoint Presentation</vt:lpstr>
      <vt:lpstr>PowerPoint Presentation</vt:lpstr>
      <vt:lpstr>Direct Addressing</vt:lpstr>
      <vt:lpstr>Indirect Accessing</vt:lpstr>
      <vt:lpstr>Why do we bother with indirect accessing?</vt:lpstr>
      <vt:lpstr>References</vt:lpstr>
      <vt:lpstr>Comparing Objects</vt:lpstr>
      <vt:lpstr>Comparing Algorithms</vt:lpstr>
      <vt:lpstr>What is an Algorithm?</vt:lpstr>
      <vt:lpstr>Characteristics of an Algorithm</vt:lpstr>
      <vt:lpstr>I am thinking of a number</vt:lpstr>
      <vt:lpstr>Complexity of Algorithms</vt:lpstr>
      <vt:lpstr>Space Efficiency </vt:lpstr>
      <vt:lpstr>Time Complexity</vt:lpstr>
      <vt:lpstr>Measuring an Algorithm’s Time Efficiency</vt:lpstr>
      <vt:lpstr>That seemed to work?</vt:lpstr>
      <vt:lpstr>Complexity Cases</vt:lpstr>
      <vt:lpstr>The BIG picture idea</vt:lpstr>
      <vt:lpstr>Let’s guess the number again</vt:lpstr>
      <vt:lpstr>Order of Growth</vt:lpstr>
      <vt:lpstr>Big O notation</vt:lpstr>
      <vt:lpstr>Let’s guess the number again(again)</vt:lpstr>
      <vt:lpstr>Common Orders of Growth</vt:lpstr>
      <vt:lpstr>PowerPoint Presentation</vt:lpstr>
      <vt:lpstr>PowerPoint Presentation</vt:lpstr>
      <vt:lpstr>So how do we evaluate algorithms?</vt:lpstr>
      <vt:lpstr>So how do we evaluate algorithms(cont)?</vt:lpstr>
      <vt:lpstr>Common Orders of Growth - Recap</vt:lpstr>
      <vt:lpstr>Binary Search</vt:lpstr>
      <vt:lpstr>Binary Search – Continued</vt:lpstr>
      <vt:lpstr>Let’s guess the number again(again)(again)</vt:lpstr>
      <vt:lpstr>Exercise</vt:lpstr>
      <vt:lpstr>Recap</vt:lpstr>
      <vt:lpstr>Common Orders of Growth - Recap</vt:lpstr>
      <vt:lpstr>Bounded Time – O(1)</vt:lpstr>
      <vt:lpstr>Logarithmic time – 0(log2N)</vt:lpstr>
      <vt:lpstr>Binary Search vs Sequential Search</vt:lpstr>
      <vt:lpstr>Logarithmic time – 0(logN) – Example 2</vt:lpstr>
      <vt:lpstr>Linear Time – O(N)</vt:lpstr>
      <vt:lpstr>(N log2N) - Log-Linear Complexity</vt:lpstr>
      <vt:lpstr>Quadratic time – O(N2)</vt:lpstr>
      <vt:lpstr>Selection Sort</vt:lpstr>
      <vt:lpstr>Exponential Complexity </vt:lpstr>
      <vt:lpstr>The Power Set</vt:lpstr>
      <vt:lpstr>PowerSet: Example  </vt:lpstr>
      <vt:lpstr>Big O 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usedsplash usedsplash</dc:creator>
  <cp:lastModifiedBy>Jack Forden</cp:lastModifiedBy>
  <cp:revision>112</cp:revision>
  <dcterms:modified xsi:type="dcterms:W3CDTF">2026-07-11T20:23:23Z</dcterms:modified>
</cp:coreProperties>
</file>